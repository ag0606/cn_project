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7e77b8932fd487f" /><Relationship Type="http://schemas.openxmlformats.org/officeDocument/2006/relationships/extended-properties" Target="/docProps/app.xml" Id="Rb0a4edbf89984188" /><Relationship Type="http://schemas.openxmlformats.org/officeDocument/2006/relationships/officeDocument" Target="/ppt/presentation.xml" Id="R631c545f4d92498e" /></Relationships>
</file>

<file path=ppt/presentation.xml><?xml version="1.0" encoding="utf-8"?>
<p:presentation xmlns:p="http://schemas.openxmlformats.org/presentationml/2006/main">
  <p:sldMasterIdLst>
    <p:sldMasterId xmlns:r="http://schemas.openxmlformats.org/officeDocument/2006/relationships" id="2147483648" r:id="Refd8ff942c76441d"/>
  </p:sldMasterIdLst>
  <p:notesMasterIdLst>
    <p:notesMasterId xmlns:r="http://schemas.openxmlformats.org/officeDocument/2006/relationships" r:id="Rdd15c5098bac44c5"/>
  </p:notesMasterIdLst>
  <p:sldIdLst>
    <p:sldId xmlns:r="http://schemas.openxmlformats.org/officeDocument/2006/relationships" id="256" r:id="R3e65516e5f744ba6"/>
    <p:sldId xmlns:r="http://schemas.openxmlformats.org/officeDocument/2006/relationships" id="257" r:id="R6296bf377ae74bf8"/>
    <p:sldId xmlns:r="http://schemas.openxmlformats.org/officeDocument/2006/relationships" id="258" r:id="R7f99ad5aac604d9e"/>
    <p:sldId xmlns:r="http://schemas.openxmlformats.org/officeDocument/2006/relationships" id="259" r:id="R8eaa3a48f28d4131"/>
    <p:sldId xmlns:r="http://schemas.openxmlformats.org/officeDocument/2006/relationships" id="260" r:id="R179487dd06774eac"/>
    <p:sldId xmlns:r="http://schemas.openxmlformats.org/officeDocument/2006/relationships" id="261" r:id="Raf7359a4950848f5"/>
    <p:sldId xmlns:r="http://schemas.openxmlformats.org/officeDocument/2006/relationships" id="262" r:id="R118640cbed7543ef"/>
    <p:sldId xmlns:r="http://schemas.openxmlformats.org/officeDocument/2006/relationships" id="263" r:id="R48a4ce21a5d4443c"/>
    <p:sldId xmlns:r="http://schemas.openxmlformats.org/officeDocument/2006/relationships" id="264" r:id="R4c6154b256b14292"/>
    <p:sldId xmlns:r="http://schemas.openxmlformats.org/officeDocument/2006/relationships" id="265" r:id="Rc12d27552dab4f38"/>
    <p:sldId xmlns:r="http://schemas.openxmlformats.org/officeDocument/2006/relationships" id="266" r:id="Rd800aa2f49254b60"/>
    <p:sldId xmlns:r="http://schemas.openxmlformats.org/officeDocument/2006/relationships" id="267" r:id="R2fd626e7370448e4"/>
    <p:sldId xmlns:r="http://schemas.openxmlformats.org/officeDocument/2006/relationships" id="268" r:id="R62c8c6cbbe184cbe"/>
    <p:sldId xmlns:r="http://schemas.openxmlformats.org/officeDocument/2006/relationships" id="269" r:id="R6b86eb8d0e05487e"/>
    <p:sldId xmlns:r="http://schemas.openxmlformats.org/officeDocument/2006/relationships" id="270" r:id="R5564df2b467743c4"/>
    <p:sldId xmlns:r="http://schemas.openxmlformats.org/officeDocument/2006/relationships" id="271" r:id="R6c9d10f5cf2245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4447fd025204a1c" /><Relationship Type="http://schemas.openxmlformats.org/officeDocument/2006/relationships/slideMaster" Target="/ppt/slideMasters/slideMaster1.xml" Id="Refd8ff942c76441d" /><Relationship Type="http://schemas.openxmlformats.org/officeDocument/2006/relationships/notesMaster" Target="/ppt/notesMasters/notesMaster1.xml" Id="Rdd15c5098bac44c5" /><Relationship Type="http://schemas.openxmlformats.org/officeDocument/2006/relationships/presProps" Target="/ppt/presProps.xml" Id="R9b7f269f3f8f4a53" /><Relationship Type="http://schemas.openxmlformats.org/officeDocument/2006/relationships/tableStyles" Target="/ppt/tableStyles.xml" Id="R48922b9a90244a4e" /><Relationship Type="http://schemas.openxmlformats.org/officeDocument/2006/relationships/slide" Target="/ppt/slides/slide1.xml" Id="R3e65516e5f744ba6" /><Relationship Type="http://schemas.openxmlformats.org/officeDocument/2006/relationships/slide" Target="/ppt/slides/slide2.xml" Id="R6296bf377ae74bf8" /><Relationship Type="http://schemas.openxmlformats.org/officeDocument/2006/relationships/slide" Target="/ppt/slides/slide3.xml" Id="R7f99ad5aac604d9e" /><Relationship Type="http://schemas.openxmlformats.org/officeDocument/2006/relationships/slide" Target="/ppt/slides/slide4.xml" Id="R8eaa3a48f28d4131" /><Relationship Type="http://schemas.openxmlformats.org/officeDocument/2006/relationships/slide" Target="/ppt/slides/slide5.xml" Id="R179487dd06774eac" /><Relationship Type="http://schemas.openxmlformats.org/officeDocument/2006/relationships/slide" Target="/ppt/slides/slide6.xml" Id="Raf7359a4950848f5" /><Relationship Type="http://schemas.openxmlformats.org/officeDocument/2006/relationships/slide" Target="/ppt/slides/slide7.xml" Id="R118640cbed7543ef" /><Relationship Type="http://schemas.openxmlformats.org/officeDocument/2006/relationships/slide" Target="/ppt/slides/slide8.xml" Id="R48a4ce21a5d4443c" /><Relationship Type="http://schemas.openxmlformats.org/officeDocument/2006/relationships/slide" Target="/ppt/slides/slide9.xml" Id="R4c6154b256b14292" /><Relationship Type="http://schemas.openxmlformats.org/officeDocument/2006/relationships/slide" Target="/ppt/slides/slide10.xml" Id="Rc12d27552dab4f38" /><Relationship Type="http://schemas.openxmlformats.org/officeDocument/2006/relationships/slide" Target="/ppt/slides/slide11.xml" Id="Rd800aa2f49254b60" /><Relationship Type="http://schemas.openxmlformats.org/officeDocument/2006/relationships/slide" Target="/ppt/slides/slide12.xml" Id="R2fd626e7370448e4" /><Relationship Type="http://schemas.openxmlformats.org/officeDocument/2006/relationships/slide" Target="/ppt/slides/slide13.xml" Id="R62c8c6cbbe184cbe" /><Relationship Type="http://schemas.openxmlformats.org/officeDocument/2006/relationships/slide" Target="/ppt/slides/slide14.xml" Id="R6b86eb8d0e05487e" /><Relationship Type="http://schemas.openxmlformats.org/officeDocument/2006/relationships/slide" Target="/ppt/slides/slide15.xml" Id="R5564df2b467743c4" /><Relationship Type="http://schemas.openxmlformats.org/officeDocument/2006/relationships/slide" Target="/ppt/slides/slide16.xml" Id="R6c9d10f5cf2245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02ec40354874d8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59c1f7981b4e60" /><Relationship Type="http://schemas.openxmlformats.org/officeDocument/2006/relationships/notesMaster" Target="/ppt/notesMasters/notesMaster1.xml" Id="R28f4dfc8c5f04e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39d16890c243cd" /><Relationship Type="http://schemas.openxmlformats.org/officeDocument/2006/relationships/notesMaster" Target="/ppt/notesMasters/notesMaster1.xml" Id="Rfe8700d06a034d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0ef282156db542fd" /><Relationship Type="http://schemas.openxmlformats.org/officeDocument/2006/relationships/notesMaster" Target="/ppt/notesMasters/notesMaster1.xml" Id="R7eeeb35321bf4cd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372ecbaf7164c7d" /><Relationship Type="http://schemas.openxmlformats.org/officeDocument/2006/relationships/notesMaster" Target="/ppt/notesMasters/notesMaster1.xml" Id="R04f46efeb267465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0af91e44024cb3" /><Relationship Type="http://schemas.openxmlformats.org/officeDocument/2006/relationships/notesMaster" Target="/ppt/notesMasters/notesMaster1.xml" Id="R44c25e9dbd3c4b6f" /></Relationships>
</file>

<file path=ppt/notesSlides/_rels/notesSlide6.xml.rels>&#65279;<?xml version="1.0" encoding="utf-8"?><Relationships xmlns="http://schemas.openxmlformats.org/package/2006/relationships"><Relationship Type="http://schemas.openxmlformats.org/officeDocument/2006/relationships/slide" Target="/ppt/slides/slide6.xml" Id="R233af4e2ae2a41ce" /><Relationship Type="http://schemas.openxmlformats.org/officeDocument/2006/relationships/notesMaster" Target="/ppt/notesMasters/notesMaster1.xml" Id="Rbda726377dda45d3" /></Relationships>
</file>

<file path=ppt/notesSlides/_rels/notesSlide7.xml.rels>&#65279;<?xml version="1.0" encoding="utf-8"?><Relationships xmlns="http://schemas.openxmlformats.org/package/2006/relationships"><Relationship Type="http://schemas.openxmlformats.org/officeDocument/2006/relationships/slide" Target="/ppt/slides/slide7.xml" Id="Rd0684d1f13574d2a" /><Relationship Type="http://schemas.openxmlformats.org/officeDocument/2006/relationships/notesMaster" Target="/ppt/notesMasters/notesMaster1.xml" Id="Rc62494a99058412b" /></Relationships>
</file>

<file path=ppt/notesSlides/_rels/notesSlide8.xml.rels>&#65279;<?xml version="1.0" encoding="utf-8"?><Relationships xmlns="http://schemas.openxmlformats.org/package/2006/relationships"><Relationship Type="http://schemas.openxmlformats.org/officeDocument/2006/relationships/slide" Target="/ppt/slides/slide8.xml" Id="Rb587887d802a4ab2" /><Relationship Type="http://schemas.openxmlformats.org/officeDocument/2006/relationships/notesMaster" Target="/ppt/notesMasters/notesMaster1.xml" Id="Rb7994aa1861346e9" /></Relationships>
</file>

<file path=ppt/notesSlides/_rels/notesSlide9.xml.rels>&#65279;<?xml version="1.0" encoding="utf-8"?><Relationships xmlns="http://schemas.openxmlformats.org/package/2006/relationships"><Relationship Type="http://schemas.openxmlformats.org/officeDocument/2006/relationships/slide" Target="/ppt/slides/slide9.xml" Id="R043e7f9286894b51" /><Relationship Type="http://schemas.openxmlformats.org/officeDocument/2006/relationships/notesMaster" Target="/ppt/notesMasters/notesMaster1.xml" Id="R38b8920b2f18494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1a3d8e8a0344b8f" /><Relationship Type="http://schemas.openxmlformats.org/officeDocument/2006/relationships/notesMaster" Target="/ppt/notesMasters/notesMaster1.xml" Id="Re22bda11ca264be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0681418b41344b9" /><Relationship Type="http://schemas.openxmlformats.org/officeDocument/2006/relationships/notesMaster" Target="/ppt/notesMasters/notesMaster1.xml" Id="R129b5301b300435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74263524612412b" /><Relationship Type="http://schemas.openxmlformats.org/officeDocument/2006/relationships/notesMaster" Target="/ppt/notesMasters/notesMaster1.xml" Id="R1cbd0bfb25564d8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b425142f3cf45fe" /><Relationship Type="http://schemas.openxmlformats.org/officeDocument/2006/relationships/notesMaster" Target="/ppt/notesMasters/notesMaster1.xml" Id="R62eb3fd5214b4ff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d7943e9cfe24716" /><Relationship Type="http://schemas.openxmlformats.org/officeDocument/2006/relationships/notesMaster" Target="/ppt/notesMasters/notesMaster1.xml" Id="Rf6dcf496cc9f44f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1cb77fb07f3410d" /><Relationship Type="http://schemas.openxmlformats.org/officeDocument/2006/relationships/notesMaster" Target="/ppt/notesMasters/notesMaster1.xml" Id="R9e94e0948b43484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0e29176db124acd" /><Relationship Type="http://schemas.openxmlformats.org/officeDocument/2006/relationships/notesMaster" Target="/ppt/notesMasters/notesMaster1.xml" Id="R77bc838b113c4a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 router can choose a short path, a cleaner-grid path, or a path with spare capacity. The best choice changes as demand changes. We study that choice in a controlled replay.</a:t>
            </a:r>
          </a:p>
          <a:p xmlns:a="http://schemas.openxmlformats.org/drawingml/2006/main">
            <a:r>
              <a:t>Team: Ashutosh Gupta 24BCE2983, Tanay Mohta 24BDS0294, Avaneesh Chavan 24BKT0155.</a:t>
            </a:r>
          </a:p>
          <a:p xmlns:a="http://schemas.openxmlformats.org/drawingml/2006/main">
            <a:r>
              <a:t>This is Review 1. Describe results as exploratory, not final publication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a flow as aggregated traffic between an origin and destination. The flow is routed over a sequence of network links.</a:t>
            </a:r>
          </a:p>
          <a:p xmlns:a="http://schemas.openxmlformats.org/drawingml/2006/main">
            <a:r>
              <a:t>Carbon intensity is grams of CO2 associated with one kilowatt-hour of grid electricity in a country; our score uses it as a routing proxy.</a:t>
            </a:r>
          </a:p>
          <a:p xmlns:a="http://schemas.openxmlformats.org/drawingml/2006/main">
            <a:r>
              <a:t>The 15-minute lag is an experimental condition, not a claim about all real SDN controllers.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claiming that every previous carbon-aware approach is reactive. CIRo explicitly uses carbon forecasting.</a:t>
            </a:r>
          </a:p>
          <a:p xmlns:a="http://schemas.openxmlformats.org/drawingml/2006/main">
            <a:r>
              <a:t>Our scoped contribution is to combine traffic-demand prediction, carbon-oriented path choice, and conservative capacity safeguards in one reproducible replay, and compare distinct planners.</a:t>
            </a:r>
          </a:p>
          <a:p xmlns:a="http://schemas.openxmlformats.org/drawingml/2006/main">
            <a:r>
              <a:t>Sources: B4 https://research.google.com/pubs/archive/41761.pdf ; CIRo https://netsec.ethz.ch/publications/papers/green_routing2023.pdf ; RouteNet https://arxiv.org/abs/1910.01508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GÉANT as a pan-European research backbone topology. We use an induced 8-node, 11-link subset to keep routing and training feasible on student hardware.</a:t>
            </a:r>
          </a:p>
          <a:p xmlns:a="http://schemas.openxmlformats.org/drawingml/2006/main">
            <a:r>
              <a:t>The 2005 traffic and 2022–24 carbon series are not simultaneous. We align them by weekday and season as a what-if experiment. Within each simulated day, the carbon value stays constant.</a:t>
            </a:r>
          </a:p>
          <a:p xmlns:a="http://schemas.openxmlformats.org/drawingml/2006/main">
            <a:r>
              <a:t>Sources: https://sndlib.put.poznan.pl/home.action and https://zenodo.org/records/15987717 . Project methods: docs/PAPER_DRAFT.md and data manifests.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OD means origin–destination. A single OD demand is the amount of aggregate traffic from one node to another during a 15-minute bin.</a:t>
            </a:r>
          </a:p>
          <a:p xmlns:a="http://schemas.openxmlformats.org/drawingml/2006/main">
            <a:r>
              <a:t>We implemented a trace-driven aggregate-flow simulator. No live OpenFlow controller, Mininet packet timing, or observed real emissions appear in the current result.</a:t>
            </a:r>
          </a:p>
          <a:p xmlns:a="http://schemas.openxmlformats.org/drawingml/2006/main">
            <a:r>
              <a:t>The model is trained before the replay. It does not learn during the live dashboard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GCN = graph convolutional network. It lets each node combine features from linked neighboring nodes. GRU = gated recurrent unit, a recurrent model for time patterns.</a:t>
            </a:r>
          </a:p>
          <a:p xmlns:a="http://schemas.openxmlformats.org/drawingml/2006/main">
            <a:r>
              <a:t>The model predicts traffic only, not carbon intensity. Carbon uses a fixed daily public grid signal.</a:t>
            </a:r>
          </a:p>
          <a:p xmlns:a="http://schemas.openxmlformats.org/drawingml/2006/main">
            <a:r>
              <a:t>The margin comes from validation residuals, not the test set. Hysteresis means we avoid changing a route for a tiny predicted benefit and hold it for two bins, except when predicted risk demands action.</a:t>
            </a:r>
          </a:p>
          <a:p xmlns:a="http://schemas.openxmlformats.org/drawingml/2006/main">
            <a:r>
              <a:t>Project source: docs/PAPER_DRAFT.md and router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joint selector is the second branch. It searches 2^6 = 64 assignments. It uses a zero carbon budget fraction relative to reactive routing in the shown comparison.</a:t>
            </a:r>
          </a:p>
          <a:p xmlns:a="http://schemas.openxmlformats.org/drawingml/2006/main">
            <a:r>
              <a:t>A predicted carbon budget is a planning constraint. It does not guarantee a lower realized forwarding score in every replay.</a:t>
            </a:r>
          </a:p>
          <a:p xmlns:a="http://schemas.openxmlformats.org/drawingml/2006/main">
            <a:r>
              <a:t>Both methods use the same forecast and safety mechanisms. The joint method is an exploratory alternate selector, not a proven replacement for greedy routing.</a:t>
            </a:r>
          </a:p>
          <a:p xmlns:a="http://schemas.openxmlformats.org/drawingml/2006/main">
            <a:r>
              <a:t>Source: docs/JOINT_SELECTOR.md and docs/PAPER_DRAFT.md.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forecasting comparison uses five neural training seeds, 42–46. The full evaluation includes 2,475 simulation runs, but they reuse five adjacent test traffic days; the number of independent days is five.</a:t>
            </a:r>
          </a:p>
          <a:p xmlns:a="http://schemas.openxmlformats.org/drawingml/2006/main">
            <a:r>
              <a:t>Workloads include normal, bursty and congested traffic, with zero- and one-bin observation delay. The main figures on following slides use congested traffic and one-bin lag.</a:t>
            </a:r>
          </a:p>
          <a:p xmlns:a="http://schemas.openxmlformats.org/drawingml/2006/main">
            <a:r>
              <a:t>Forwarding score is a byte-weighted path exposure to country carbon intensities, expressed numerically in g CO2/kWh. It is not measured grams of CO2 emitted.</a:t>
            </a:r>
          </a:p>
          <a:p xmlns:a="http://schemas.openxmlformats.org/drawingml/2006/main">
            <a:r>
              <a:t>Source: results/multiseed/summary_multiseed.csv and docs/PAPER_DRAFT.md.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exploratory same-test comparison. Five test days were already inspected during development, so avoid saying it is a fresh holdout or statistically confirmed advantage.</a:t>
            </a:r>
          </a:p>
          <a:p xmlns:a="http://schemas.openxmlformats.org/drawingml/2006/main">
            <a:r>
              <a:t>Joint versus reactive score: 303.45 versus 323.83, difference 20.38, about 6.3% lower. Both show 126 overload minutes/day. Greedy GNN is 333.18 and 114 minutes/day in this single-seed joint comparison.</a:t>
            </a:r>
          </a:p>
          <a:p xmlns:a="http://schemas.openxmlformats.org/drawingml/2006/main">
            <a:r>
              <a:t>The carbon score is a comparative proxy, not actual electricity use or CO2 mass.</a:t>
            </a:r>
          </a:p>
          <a:p xmlns:a="http://schemas.openxmlformats.org/drawingml/2006/main">
            <a:r>
              <a:t>Source: docs/JOINT_SELECTOR.md and results/joint-test-exploratory-final/.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updated PR retrains five neural seeds and runs 495 simulations per seed, 2,475 total. It also includes day-clustered tests and a parameter sweep. These are evaluation additions; they do not introduce the joint routing algorithm.</a:t>
            </a:r>
          </a:p>
          <a:p xmlns:a="http://schemas.openxmlformats.org/drawingml/2006/main">
            <a:r>
              <a:t>Paired day differences in overload are -15, 0, -15, -30, 0 minutes/day. The paired t-test p-value is 0.099; Wilcoxon p=0.25. Claim an observed replay improvement, not statistical proof.</a:t>
            </a:r>
          </a:p>
          <a:p xmlns:a="http://schemas.openxmlformats.org/drawingml/2006/main">
            <a:r>
              <a:t>GNN score 334.75 versus reactive 323.83; persistence 338.58. Both GNN and persistence achieve 114 overload minutes/day. Route changes: 18.68 GNN versus 23 persistence.</a:t>
            </a:r>
          </a:p>
          <a:p xmlns:a="http://schemas.openxmlformats.org/drawingml/2006/main">
            <a:r>
              <a:t>Source: PR https://github.com/Tanay-M/CN_Project/pull/1 ; results/multiseed/summary_multiseed.csv ; results/multiseed/statistical_tests.csv.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MAE means mean absolute error: the average absolute distance between forecast demand and actual demand. Lower is better.</a:t>
            </a:r>
          </a:p>
          <a:p xmlns:a="http://schemas.openxmlformats.org/drawingml/2006/main">
            <a:r>
              <a:t>Matched GRU keeps the temporal model but removes graph mixing. Persistence simply predicts that the latest observed demand will continue.</a:t>
            </a:r>
          </a:p>
          <a:p xmlns:a="http://schemas.openxmlformats.org/drawingml/2006/main">
            <a:r>
              <a:t>Five-seed mean MAE: GCN-GRU 0.4948 Mbps; matched GRU 0.4816; persistence 0.4858. Do not claim that the GNN forecasts best.</a:t>
            </a:r>
          </a:p>
          <a:p xmlns:a="http://schemas.openxmlformats.org/drawingml/2006/main">
            <a:r>
              <a:t>The numerical differences are small. Source: results/multiseed/forecast_multiseed_summary.csv and docs/PAPER_DRAFT.md.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Alpha is the safety-margin quantile, and tau is the minimum predicted improvement required to switch routes. More conservative values can reduce route changes but may worsen the carbon-oriented score.</a:t>
            </a:r>
          </a:p>
          <a:p xmlns:a="http://schemas.openxmlformats.org/drawingml/2006/main">
            <a:r>
              <a:t>This sweep spans seven alpha values, seven tau values, two scenarios and two observation delays, making 196 runs. The displayed rows all use one day, carbon year 2022, congested demand and one-bin lag.</a:t>
            </a:r>
          </a:p>
          <a:p xmlns:a="http://schemas.openxmlformats.org/drawingml/2006/main">
            <a:r>
              <a:t>Scores for displayed rows: alpha .80/tau .00 = 516.43; .80/.20 = 523.58; .99/.20 = 543.79. Overload 60 min/day in each. This is parameter exploration, not independent validation.</a:t>
            </a:r>
          </a:p>
          <a:p xmlns:a="http://schemas.openxmlformats.org/drawingml/2006/main">
            <a:r>
              <a:t>Source: results/sensitivity/summary.csv and PR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honesty is useful in a research review. We are presenting a method, a controlled replay, trade-offs, and limits rather than a universal performance claim.</a:t>
            </a:r>
          </a:p>
          <a:p xmlns:a="http://schemas.openxmlformats.org/drawingml/2006/main">
            <a:r>
              <a:t>The score is byte-weighted sender-country carbon intensity accumulated along hops. It cannot be read as kilograms of physical emissions saved.</a:t>
            </a:r>
          </a:p>
          <a:p xmlns:a="http://schemas.openxmlformats.org/drawingml/2006/main">
            <a:r>
              <a:t>The aggregate-flow model uses progressive filling. It does not emulate queues, TCP dynamics, or Mininet/OpenFlow switch behavior. Do not claim lower latency from the present measurements.</a:t>
            </a:r>
          </a:p>
          <a:p xmlns:a="http://schemas.openxmlformats.org/drawingml/2006/main">
            <a:r>
              <a:t>Five adjacent days create limited statistical power. Sensitivity values are from one previously inspected 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presenting, open the local self-contained dashboard file and test that it loads without a server. The file is docs/reports/joint-validation.html in the main project checkout.</a:t>
            </a:r>
          </a:p>
          <a:p xmlns:a="http://schemas.openxmlformats.org/drawingml/2006/main">
            <a:r>
              <a:t>The dashboard displays the joint-validation replay, not the PR multiseed and sensitivity results. Use slides 10–12 for those PR findings.</a:t>
            </a:r>
          </a:p>
          <a:p xmlns:a="http://schemas.openxmlformats.org/drawingml/2006/main">
            <a:r>
              <a:t>Demonstration script: select congested workload and lag=1; show reactive versus joint in the comparison values; then choose greedy and describe the trade-off; use the time control to point at a route and utilization change. Avoid claiming live physical network operation.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with the main research lesson: a routing system must be judged on its complete decision policy and evaluation protocol, not just model accuracy.</a:t>
            </a:r>
          </a:p>
          <a:p xmlns:a="http://schemas.openxmlformats.org/drawingml/2006/main">
            <a:r>
              <a:t>Review 1 asks for work and method. The next two weeks can expand independent traffic windows, verify statistical claims, and optionally add Mininet packet-level validation if feasible.</a:t>
            </a:r>
          </a:p>
          <a:p xmlns:a="http://schemas.openxmlformats.org/drawingml/2006/main">
            <a:r>
              <a:t>The current contribution is a controlled simulator and evidence. A paper should avoid saying observed score changes prove real emissions saved.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repository: https://github.com/Tanay-M/CN_Project . Friend PR: https://github.com/Tanay-M/CN_Project/pull/1 .</a:t>
            </a:r>
          </a:p>
          <a:p xmlns:a="http://schemas.openxmlformats.org/drawingml/2006/main">
            <a:r>
              <a:t>The presentation reflects files and saved results reviewed on 20 October 2026. PR changes were included as exploratory evidence; this deck does not imply the PR has been merged.</a:t>
            </a:r>
          </a:p>
          <a:p xmlns:a="http://schemas.openxmlformats.org/drawingml/2006/main">
            <a:r>
              <a:t>SNDlib: https://sndlib.put.poznan.pl/home.action ; ECON-PowerCI: https://zenodo.org/records/15987717 ; B4: https://research.google.com/pubs/archive/41761.pdf ; CIRo: https://netsec.ethz.ch/publications/papers/green_routing2023.pdf ; RouteNet: https://arxiv.org/abs/1910.01508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e51ea830a2c477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e05f9e455d042e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69838a337d0499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b76c788960e4dc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f7c3041320b459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d105c8a388c4b9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2165CB-1E34-4C9C-BAEA-9303DE38C1B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6EE1FFC-8169-495A-A567-39159DFCD51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C85E5EF-44A3-4966-80F8-88AC6C5018B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4B8EF3-3F1A-46D7-8083-BA2D167BD1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4A140A3-15F8-4BA8-807C-05BD9EFDD83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082234F-09C7-4362-8755-A893C14174E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C540B5C-C92F-4906-8054-75BC797A336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71EB168-035B-458A-8E84-0F444F467E7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1B37271-61A1-4A7F-BFA0-1FD41F2B92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F5F3E5-CBC2-443B-BC4E-4294997F8A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d5325d38e54e0e" /><Relationship Type="http://schemas.openxmlformats.org/officeDocument/2006/relationships/slideLayout" Target="/ppt/slideLayouts/slideLayout1.xml" Id="R4b70646a5429455e" /><Relationship Type="http://schemas.openxmlformats.org/officeDocument/2006/relationships/slideLayout" Target="/ppt/slideLayouts/slideLayout2.xml" Id="R56871f5a8590413b" /><Relationship Type="http://schemas.openxmlformats.org/officeDocument/2006/relationships/slideLayout" Target="/ppt/slideLayouts/slideLayout3.xml" Id="Ra02510aae6ca4f1b" /><Relationship Type="http://schemas.openxmlformats.org/officeDocument/2006/relationships/slideLayout" Target="/ppt/slideLayouts/slideLayout4.xml" Id="Rd2ff5b4b4e2c43e1" /><Relationship Type="http://schemas.openxmlformats.org/officeDocument/2006/relationships/slideLayout" Target="/ppt/slideLayouts/slideLayout5.xml" Id="R54d7eff9ade549da" /><Relationship Type="http://schemas.openxmlformats.org/officeDocument/2006/relationships/slideLayout" Target="/ppt/slideLayouts/slideLayout6.xml" Id="R5ada05da1242493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b70646a5429455e"/>
    <p:sldLayoutId xmlns:r="http://schemas.openxmlformats.org/officeDocument/2006/relationships" id="2147483650" r:id="R56871f5a8590413b"/>
    <p:sldLayoutId xmlns:r="http://schemas.openxmlformats.org/officeDocument/2006/relationships" id="2147483651" r:id="Ra02510aae6ca4f1b"/>
    <p:sldLayoutId xmlns:r="http://schemas.openxmlformats.org/officeDocument/2006/relationships" id="2147483652" r:id="Rd2ff5b4b4e2c43e1"/>
    <p:sldLayoutId xmlns:r="http://schemas.openxmlformats.org/officeDocument/2006/relationships" id="2147483653" r:id="R54d7eff9ade549da"/>
    <p:sldLayoutId xmlns:r="http://schemas.openxmlformats.org/officeDocument/2006/relationships" id="2147483654" r:id="R5ada05da1242493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2bb3cc1d18045bf" /><Relationship Type="http://schemas.openxmlformats.org/officeDocument/2006/relationships/notesSlide" Target="/ppt/notesSlides/notesSlide1.xml" Id="R1e2ced82d00646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9f93394eeb94b74" /><Relationship Type="http://schemas.openxmlformats.org/officeDocument/2006/relationships/notesSlide" Target="/ppt/notesSlides/notesSlide2.xml" Id="R93d2904408444f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d833685dd7e4cc6" /><Relationship Type="http://schemas.openxmlformats.org/officeDocument/2006/relationships/notesSlide" Target="/ppt/notesSlides/notesSlide3.xml" Id="R574800825bf64e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ac55e3eae14458b" /><Relationship Type="http://schemas.openxmlformats.org/officeDocument/2006/relationships/notesSlide" Target="/ppt/notesSlides/notesSlide4.xml" Id="R15252234d047407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3c40bee29fa458b" /><Relationship Type="http://schemas.openxmlformats.org/officeDocument/2006/relationships/notesSlide" Target="/ppt/notesSlides/notesSlide5.xml" Id="R23eb171db5c348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4db84fb70f14d8f" /><Relationship Type="http://schemas.openxmlformats.org/officeDocument/2006/relationships/notesSlide" Target="/ppt/notesSlides/notesSlide6.xml" Id="Rcdb854f94f3c48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1c10eed65224dec" /><Relationship Type="http://schemas.openxmlformats.org/officeDocument/2006/relationships/notesSlide" Target="/ppt/notesSlides/notesSlide7.xml" Id="R1db0d197f8f74ec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d6b8e51088244fd" /><Relationship Type="http://schemas.openxmlformats.org/officeDocument/2006/relationships/notesSlide" Target="/ppt/notesSlides/notesSlide8.xml" Id="R92d8e7f91d7d4b8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703dcccbbc541e8" /><Relationship Type="http://schemas.openxmlformats.org/officeDocument/2006/relationships/notesSlide" Target="/ppt/notesSlides/notesSlide9.xml" Id="Rf16a90170fce434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4643e16cfc54e8e" /><Relationship Type="http://schemas.openxmlformats.org/officeDocument/2006/relationships/notesSlide" Target="/ppt/notesSlides/notesSlide10.xml" Id="R247437a4ef544ad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6b94111f4224e72" /><Relationship Type="http://schemas.openxmlformats.org/officeDocument/2006/relationships/notesSlide" Target="/ppt/notesSlides/notesSlide11.xml" Id="R6df0815bcfac418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eec9c54ff4f426c" /><Relationship Type="http://schemas.openxmlformats.org/officeDocument/2006/relationships/notesSlide" Target="/ppt/notesSlides/notesSlide12.xml" Id="R2d6afb639ba04d8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5050cb7c435490d" /><Relationship Type="http://schemas.openxmlformats.org/officeDocument/2006/relationships/notesSlide" Target="/ppt/notesSlides/notesSlide13.xml" Id="R7234a20045de486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139ac0f61bf4279" /><Relationship Type="http://schemas.openxmlformats.org/officeDocument/2006/relationships/notesSlide" Target="/ppt/notesSlides/notesSlide14.xml" Id="R7fb326f044f84c4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70997fcd862465e" /><Relationship Type="http://schemas.openxmlformats.org/officeDocument/2006/relationships/notesSlide" Target="/ppt/notesSlides/notesSlide15.xml" Id="R1edd4ae1a49f412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e0a682072b84a3b" /><Relationship Type="http://schemas.openxmlformats.org/officeDocument/2006/relationships/notesSlide" Target="/ppt/notesSlides/notesSlide16.xml" Id="R2c47011e20694fd5" /></Relationships>
</file>

<file path=ppt/slides/slide1.xml><?xml version="1.0" encoding="utf-8"?>
<p:sld xmlns:p="http://schemas.openxmlformats.org/presentationml/2006/main">
  <p:cSld>
    <p:bg>
      <p:bgPr>
        <a:solidFill xmlns:a="http://schemas.openxmlformats.org/drawingml/2006/main">
          <a:srgbClr val="10323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F686E2-5344-4558-80E8-45F9E77EDB13}"/>
              </a:ext>
            </a:extLst>
          </p:cNvPr>
          <p:cNvSpPr>
            <a:spLocks xmlns:a="http://schemas.openxmlformats.org/drawingml/2006/main" noGrp="1"/>
          </p:cNvSpPr>
          <p:nvPr/>
        </p:nvSpPr>
        <p:spPr>
          <a:xfrm xmlns:a="http://schemas.openxmlformats.org/drawingml/2006/main">
            <a:off x="647700" y="790575"/>
            <a:ext cx="114300" cy="3952875"/>
          </a:xfrm>
          <a:prstGeom xmlns:a="http://schemas.openxmlformats.org/drawingml/2006/main" prst="rect">
            <a:avLst/>
          </a:prstGeom>
          <a:solidFill xmlns:a="http://schemas.openxmlformats.org/drawingml/2006/main">
            <a:srgbClr val="A9DCD4"/>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A24A784-DA5B-4367-9FA2-18182C1D1AE0}"/>
              </a:ext>
            </a:extLst>
          </p:cNvPr>
          <p:cNvSpPr>
            <a:spLocks xmlns:a="http://schemas.openxmlformats.org/drawingml/2006/main" noGrp="1"/>
          </p:cNvSpPr>
          <p:nvPr/>
        </p:nvSpPr>
        <p:spPr>
          <a:xfrm xmlns:a="http://schemas.openxmlformats.org/drawingml/2006/main">
            <a:off x="1000125" y="771525"/>
            <a:ext cx="9810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A9DCD4"/>
                </a:solidFill>
              </a:defRPr>
            </a:defPPr>
            <a:lvl1pPr>
              <a:defRPr sz="1350" b="1">
                <a:solidFill>
                  <a:srgbClr val="A9DCD4"/>
                </a:solidFill>
              </a:defRPr>
            </a:lvl1pPr>
            <a:lvl2pPr>
              <a:defRPr sz="1350" b="1">
                <a:solidFill>
                  <a:srgbClr val="A9DCD4"/>
                </a:solidFill>
              </a:defRPr>
            </a:lvl2pPr>
            <a:lvl3pPr>
              <a:defRPr sz="1350" b="1">
                <a:solidFill>
                  <a:srgbClr val="A9DCD4"/>
                </a:solidFill>
              </a:defRPr>
            </a:lvl3pPr>
            <a:lvl4pPr>
              <a:defRPr sz="1350" b="1">
                <a:solidFill>
                  <a:srgbClr val="A9DCD4"/>
                </a:solidFill>
              </a:defRPr>
            </a:lvl4pPr>
            <a:lvl5pPr>
              <a:defRPr sz="1350" b="1">
                <a:solidFill>
                  <a:srgbClr val="A9DCD4"/>
                </a:solidFill>
              </a:defRPr>
            </a:lvl5pPr>
            <a:lvl6pPr>
              <a:defRPr sz="1350" b="1">
                <a:solidFill>
                  <a:srgbClr val="A9DCD4"/>
                </a:solidFill>
              </a:defRPr>
            </a:lvl6pPr>
            <a:lvl7pPr>
              <a:defRPr sz="1350" b="1">
                <a:solidFill>
                  <a:srgbClr val="A9DCD4"/>
                </a:solidFill>
              </a:defRPr>
            </a:lvl7pPr>
            <a:lvl8pPr>
              <a:defRPr sz="1350" b="1">
                <a:solidFill>
                  <a:srgbClr val="A9DCD4"/>
                </a:solidFill>
              </a:defRPr>
            </a:lvl8pPr>
            <a:lvl9pPr>
              <a:defRPr sz="1350" b="1">
                <a:solidFill>
                  <a:srgbClr val="A9DCD4"/>
                </a:solidFill>
              </a:defRPr>
            </a:lvl9pPr>
          </a:lstStyle>
          <a:p xmlns:a="http://schemas.openxmlformats.org/drawingml/2006/main">
            <a:pPr>
              <a:defRPr sz="1350" b="1">
                <a:solidFill>
                  <a:srgbClr val="A9DCD4"/>
                </a:solidFill>
              </a:defRPr>
            </a:pPr>
            <a:r>
              <a:rPr sz="1350" b="1">
                <a:solidFill>
                  <a:srgbClr val="A9DCD4"/>
                </a:solidFill>
              </a:rPr>
              <a:t>COMPUTER NETWORKS  /  REVIEW 1</a:t>
            </a:r>
          </a:p>
        </p:txBody>
      </p:sp>
      <p:sp>
        <p:nvSpPr>
          <p:cNvPr id="3" name="">
            <a:extLst xmlns:a="http://schemas.openxmlformats.org/drawingml/2006/main">
              <a:ext uri="{FF2B5EF4-FFF2-40B4-BE49-F238E27FC236}">
                <a16:creationId xmlns:a16="http://schemas.microsoft.com/office/drawing/2014/main" id="{6DF75866-6440-41D0-8B57-034F56186FCE}"/>
              </a:ext>
            </a:extLst>
          </p:cNvPr>
          <p:cNvSpPr>
            <a:spLocks xmlns:a="http://schemas.openxmlformats.org/drawingml/2006/main" noGrp="1"/>
          </p:cNvSpPr>
          <p:nvPr/>
        </p:nvSpPr>
        <p:spPr>
          <a:xfrm xmlns:a="http://schemas.openxmlformats.org/drawingml/2006/main">
            <a:off x="1000125" y="1371600"/>
            <a:ext cx="10458450"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825" b="1">
                <a:solidFill>
                  <a:srgbClr val="FFFFFF"/>
                </a:solidFill>
              </a:defRPr>
            </a:defPPr>
            <a:lvl1pPr>
              <a:defRPr sz="3825" b="1">
                <a:solidFill>
                  <a:srgbClr val="FFFFFF"/>
                </a:solidFill>
              </a:defRPr>
            </a:lvl1pPr>
            <a:lvl2pPr>
              <a:defRPr sz="3825" b="1">
                <a:solidFill>
                  <a:srgbClr val="FFFFFF"/>
                </a:solidFill>
              </a:defRPr>
            </a:lvl2pPr>
            <a:lvl3pPr>
              <a:defRPr sz="3825" b="1">
                <a:solidFill>
                  <a:srgbClr val="FFFFFF"/>
                </a:solidFill>
              </a:defRPr>
            </a:lvl3pPr>
            <a:lvl4pPr>
              <a:defRPr sz="3825" b="1">
                <a:solidFill>
                  <a:srgbClr val="FFFFFF"/>
                </a:solidFill>
              </a:defRPr>
            </a:lvl4pPr>
            <a:lvl5pPr>
              <a:defRPr sz="3825" b="1">
                <a:solidFill>
                  <a:srgbClr val="FFFFFF"/>
                </a:solidFill>
              </a:defRPr>
            </a:lvl5pPr>
            <a:lvl6pPr>
              <a:defRPr sz="3825" b="1">
                <a:solidFill>
                  <a:srgbClr val="FFFFFF"/>
                </a:solidFill>
              </a:defRPr>
            </a:lvl6pPr>
            <a:lvl7pPr>
              <a:defRPr sz="3825" b="1">
                <a:solidFill>
                  <a:srgbClr val="FFFFFF"/>
                </a:solidFill>
              </a:defRPr>
            </a:lvl7pPr>
            <a:lvl8pPr>
              <a:defRPr sz="3825" b="1">
                <a:solidFill>
                  <a:srgbClr val="FFFFFF"/>
                </a:solidFill>
              </a:defRPr>
            </a:lvl8pPr>
            <a:lvl9pPr>
              <a:defRPr sz="3825" b="1">
                <a:solidFill>
                  <a:srgbClr val="FFFFFF"/>
                </a:solidFill>
              </a:defRPr>
            </a:lvl9pPr>
          </a:lstStyle>
          <a:p xmlns:a="http://schemas.openxmlformats.org/drawingml/2006/main">
            <a:pPr>
              <a:defRPr sz="3825" b="1">
                <a:solidFill>
                  <a:srgbClr val="FFFFFF"/>
                </a:solidFill>
              </a:defRPr>
            </a:pPr>
            <a:r>
              <a:rPr sz="3825" b="1">
                <a:solidFill>
                  <a:srgbClr val="FFFFFF"/>
                </a:solidFill>
              </a:rPr>
              <a:t>Graph Neural Network-Driven</a:t>
            </a:r>
          </a:p>
          <a:p xmlns:a="http://schemas.openxmlformats.org/drawingml/2006/main">
            <a:pPr>
              <a:defRPr sz="3825" b="1">
                <a:solidFill>
                  <a:srgbClr val="FFFFFF"/>
                </a:solidFill>
              </a:defRPr>
            </a:pPr>
            <a:r>
              <a:rPr sz="3825" b="1">
                <a:solidFill>
                  <a:srgbClr val="FFFFFF"/>
                </a:solidFill>
              </a:rPr>
              <a:t>Predictive Carbon-Aware Routing</a:t>
            </a:r>
          </a:p>
        </p:txBody>
      </p:sp>
      <p:sp>
        <p:nvSpPr>
          <p:cNvPr id="4" name="">
            <a:extLst xmlns:a="http://schemas.openxmlformats.org/drawingml/2006/main">
              <a:ext uri="{FF2B5EF4-FFF2-40B4-BE49-F238E27FC236}">
                <a16:creationId xmlns:a16="http://schemas.microsoft.com/office/drawing/2014/main" id="{2C09F031-BF12-4C0C-9E43-CC066D64B156}"/>
              </a:ext>
            </a:extLst>
          </p:cNvPr>
          <p:cNvSpPr>
            <a:spLocks xmlns:a="http://schemas.openxmlformats.org/drawingml/2006/main" noGrp="1"/>
          </p:cNvSpPr>
          <p:nvPr/>
        </p:nvSpPr>
        <p:spPr>
          <a:xfrm xmlns:a="http://schemas.openxmlformats.org/drawingml/2006/main">
            <a:off x="1000125" y="3476625"/>
            <a:ext cx="9810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A9DCD4"/>
                </a:solidFill>
              </a:defRPr>
            </a:defPPr>
            <a:lvl1pPr>
              <a:defRPr sz="1950" b="0">
                <a:solidFill>
                  <a:srgbClr val="A9DCD4"/>
                </a:solidFill>
              </a:defRPr>
            </a:lvl1pPr>
            <a:lvl2pPr>
              <a:defRPr sz="1950" b="0">
                <a:solidFill>
                  <a:srgbClr val="A9DCD4"/>
                </a:solidFill>
              </a:defRPr>
            </a:lvl2pPr>
            <a:lvl3pPr>
              <a:defRPr sz="1950" b="0">
                <a:solidFill>
                  <a:srgbClr val="A9DCD4"/>
                </a:solidFill>
              </a:defRPr>
            </a:lvl3pPr>
            <a:lvl4pPr>
              <a:defRPr sz="1950" b="0">
                <a:solidFill>
                  <a:srgbClr val="A9DCD4"/>
                </a:solidFill>
              </a:defRPr>
            </a:lvl4pPr>
            <a:lvl5pPr>
              <a:defRPr sz="1950" b="0">
                <a:solidFill>
                  <a:srgbClr val="A9DCD4"/>
                </a:solidFill>
              </a:defRPr>
            </a:lvl5pPr>
            <a:lvl6pPr>
              <a:defRPr sz="1950" b="0">
                <a:solidFill>
                  <a:srgbClr val="A9DCD4"/>
                </a:solidFill>
              </a:defRPr>
            </a:lvl6pPr>
            <a:lvl7pPr>
              <a:defRPr sz="1950" b="0">
                <a:solidFill>
                  <a:srgbClr val="A9DCD4"/>
                </a:solidFill>
              </a:defRPr>
            </a:lvl7pPr>
            <a:lvl8pPr>
              <a:defRPr sz="1950" b="0">
                <a:solidFill>
                  <a:srgbClr val="A9DCD4"/>
                </a:solidFill>
              </a:defRPr>
            </a:lvl8pPr>
            <a:lvl9pPr>
              <a:defRPr sz="1950" b="0">
                <a:solidFill>
                  <a:srgbClr val="A9DCD4"/>
                </a:solidFill>
              </a:defRPr>
            </a:lvl9pPr>
          </a:lstStyle>
          <a:p xmlns:a="http://schemas.openxmlformats.org/drawingml/2006/main">
            <a:pPr>
              <a:defRPr sz="1950" b="0">
                <a:solidFill>
                  <a:srgbClr val="A9DCD4"/>
                </a:solidFill>
              </a:defRPr>
            </a:pPr>
            <a:r>
              <a:rPr sz="1950" b="0">
                <a:solidFill>
                  <a:srgbClr val="A9DCD4"/>
                </a:solidFill>
              </a:rPr>
              <a:t>A controlled study of route choices under stale traffic information</a:t>
            </a:r>
          </a:p>
        </p:txBody>
      </p:sp>
      <p:sp>
        <p:nvSpPr>
          <p:cNvPr id="5" name="">
            <a:extLst xmlns:a="http://schemas.openxmlformats.org/drawingml/2006/main">
              <a:ext uri="{FF2B5EF4-FFF2-40B4-BE49-F238E27FC236}">
                <a16:creationId xmlns:a16="http://schemas.microsoft.com/office/drawing/2014/main" id="{FB04B8CA-C22C-4EEA-8CB8-53DCABB6649F}"/>
              </a:ext>
            </a:extLst>
          </p:cNvPr>
          <p:cNvSpPr>
            <a:spLocks xmlns:a="http://schemas.openxmlformats.org/drawingml/2006/main" noGrp="1"/>
          </p:cNvSpPr>
          <p:nvPr/>
        </p:nvSpPr>
        <p:spPr>
          <a:xfrm xmlns:a="http://schemas.openxmlformats.org/drawingml/2006/main">
            <a:off x="1000125" y="4572000"/>
            <a:ext cx="10058400" cy="19050"/>
          </a:xfrm>
          <a:prstGeom xmlns:a="http://schemas.openxmlformats.org/drawingml/2006/main" prst="rect">
            <a:avLst/>
          </a:prstGeom>
          <a:solidFill xmlns:a="http://schemas.openxmlformats.org/drawingml/2006/main">
            <a:srgbClr val="A9DCD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F150B23-E087-445C-BBB1-2D2462DBEDCE}"/>
              </a:ext>
            </a:extLst>
          </p:cNvPr>
          <p:cNvSpPr>
            <a:spLocks xmlns:a="http://schemas.openxmlformats.org/drawingml/2006/main" noGrp="1"/>
          </p:cNvSpPr>
          <p:nvPr/>
        </p:nvSpPr>
        <p:spPr>
          <a:xfrm xmlns:a="http://schemas.openxmlformats.org/drawingml/2006/main">
            <a:off x="1000125" y="4867275"/>
            <a:ext cx="1000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FFFFFF"/>
                </a:solidFill>
              </a:defRPr>
            </a:defPPr>
            <a:lvl1pPr>
              <a:defRPr sz="1650" b="1">
                <a:solidFill>
                  <a:srgbClr val="FFFFFF"/>
                </a:solidFill>
              </a:defRPr>
            </a:lvl1pPr>
            <a:lvl2pPr>
              <a:defRPr sz="1650" b="1">
                <a:solidFill>
                  <a:srgbClr val="FFFFFF"/>
                </a:solidFill>
              </a:defRPr>
            </a:lvl2pPr>
            <a:lvl3pPr>
              <a:defRPr sz="1650" b="1">
                <a:solidFill>
                  <a:srgbClr val="FFFFFF"/>
                </a:solidFill>
              </a:defRPr>
            </a:lvl3pPr>
            <a:lvl4pPr>
              <a:defRPr sz="1650" b="1">
                <a:solidFill>
                  <a:srgbClr val="FFFFFF"/>
                </a:solidFill>
              </a:defRPr>
            </a:lvl4pPr>
            <a:lvl5pPr>
              <a:defRPr sz="1650" b="1">
                <a:solidFill>
                  <a:srgbClr val="FFFFFF"/>
                </a:solidFill>
              </a:defRPr>
            </a:lvl5pPr>
            <a:lvl6pPr>
              <a:defRPr sz="1650" b="1">
                <a:solidFill>
                  <a:srgbClr val="FFFFFF"/>
                </a:solidFill>
              </a:defRPr>
            </a:lvl6pPr>
            <a:lvl7pPr>
              <a:defRPr sz="1650" b="1">
                <a:solidFill>
                  <a:srgbClr val="FFFFFF"/>
                </a:solidFill>
              </a:defRPr>
            </a:lvl7pPr>
            <a:lvl8pPr>
              <a:defRPr sz="1650" b="1">
                <a:solidFill>
                  <a:srgbClr val="FFFFFF"/>
                </a:solidFill>
              </a:defRPr>
            </a:lvl8pPr>
            <a:lvl9pPr>
              <a:defRPr sz="1650" b="1">
                <a:solidFill>
                  <a:srgbClr val="FFFFFF"/>
                </a:solidFill>
              </a:defRPr>
            </a:lvl9pPr>
          </a:lstStyle>
          <a:p xmlns:a="http://schemas.openxmlformats.org/drawingml/2006/main">
            <a:pPr>
              <a:defRPr sz="1650" b="1">
                <a:solidFill>
                  <a:srgbClr val="FFFFFF"/>
                </a:solidFill>
              </a:defRPr>
            </a:pPr>
            <a:r>
              <a:rPr sz="1650" b="1">
                <a:solidFill>
                  <a:srgbClr val="FFFFFF"/>
                </a:solidFill>
              </a:rPr>
              <a:t>Ashutosh Gupta  ·  Tanay Mohta  ·  Avaneesh Chavan</a:t>
            </a:r>
          </a:p>
        </p:txBody>
      </p:sp>
      <p:sp>
        <p:nvSpPr>
          <p:cNvPr id="7" name="">
            <a:extLst xmlns:a="http://schemas.openxmlformats.org/drawingml/2006/main">
              <a:ext uri="{FF2B5EF4-FFF2-40B4-BE49-F238E27FC236}">
                <a16:creationId xmlns:a16="http://schemas.microsoft.com/office/drawing/2014/main" id="{14778691-DA1E-429D-A532-CB58301F5972}"/>
              </a:ext>
            </a:extLst>
          </p:cNvPr>
          <p:cNvSpPr>
            <a:spLocks xmlns:a="http://schemas.openxmlformats.org/drawingml/2006/main" noGrp="1"/>
          </p:cNvSpPr>
          <p:nvPr/>
        </p:nvSpPr>
        <p:spPr>
          <a:xfrm xmlns:a="http://schemas.openxmlformats.org/drawingml/2006/main">
            <a:off x="1000125" y="5286375"/>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0">
                <a:solidFill>
                  <a:srgbClr val="A9DCD4"/>
                </a:solidFill>
              </a:defRPr>
            </a:defPPr>
            <a:lvl1pPr>
              <a:defRPr sz="1275" b="0">
                <a:solidFill>
                  <a:srgbClr val="A9DCD4"/>
                </a:solidFill>
              </a:defRPr>
            </a:lvl1pPr>
            <a:lvl2pPr>
              <a:defRPr sz="1275" b="0">
                <a:solidFill>
                  <a:srgbClr val="A9DCD4"/>
                </a:solidFill>
              </a:defRPr>
            </a:lvl2pPr>
            <a:lvl3pPr>
              <a:defRPr sz="1275" b="0">
                <a:solidFill>
                  <a:srgbClr val="A9DCD4"/>
                </a:solidFill>
              </a:defRPr>
            </a:lvl3pPr>
            <a:lvl4pPr>
              <a:defRPr sz="1275" b="0">
                <a:solidFill>
                  <a:srgbClr val="A9DCD4"/>
                </a:solidFill>
              </a:defRPr>
            </a:lvl4pPr>
            <a:lvl5pPr>
              <a:defRPr sz="1275" b="0">
                <a:solidFill>
                  <a:srgbClr val="A9DCD4"/>
                </a:solidFill>
              </a:defRPr>
            </a:lvl5pPr>
            <a:lvl6pPr>
              <a:defRPr sz="1275" b="0">
                <a:solidFill>
                  <a:srgbClr val="A9DCD4"/>
                </a:solidFill>
              </a:defRPr>
            </a:lvl6pPr>
            <a:lvl7pPr>
              <a:defRPr sz="1275" b="0">
                <a:solidFill>
                  <a:srgbClr val="A9DCD4"/>
                </a:solidFill>
              </a:defRPr>
            </a:lvl7pPr>
            <a:lvl8pPr>
              <a:defRPr sz="1275" b="0">
                <a:solidFill>
                  <a:srgbClr val="A9DCD4"/>
                </a:solidFill>
              </a:defRPr>
            </a:lvl8pPr>
            <a:lvl9pPr>
              <a:defRPr sz="1275" b="0">
                <a:solidFill>
                  <a:srgbClr val="A9DCD4"/>
                </a:solidFill>
              </a:defRPr>
            </a:lvl9pPr>
          </a:lstStyle>
          <a:p xmlns:a="http://schemas.openxmlformats.org/drawingml/2006/main">
            <a:pPr>
              <a:defRPr sz="1275" b="0">
                <a:solidFill>
                  <a:srgbClr val="A9DCD4"/>
                </a:solidFill>
              </a:defRPr>
            </a:pPr>
            <a:r>
              <a:rPr sz="1275" b="0">
                <a:solidFill>
                  <a:srgbClr val="A9DCD4"/>
                </a:solidFill>
              </a:rPr>
              <a:t>21 October 2026</a:t>
            </a:r>
          </a:p>
        </p:txBody>
      </p:sp>
    </p:spTree>
    <p:extLst>
      <p:ext uri="{BB962C8B-B14F-4D97-AF65-F5344CB8AC3E}">
        <p14:creationId xmlns:p14="http://schemas.microsoft.com/office/powerpoint/2010/main" val="713153742"/>
      </p:ext>
    </p:extLst>
  </p:cSld>
</p:sld>
</file>

<file path=ppt/slides/slide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B0F856F-FE06-4C78-8A04-A86BFDE982FD}"/>
              </a:ext>
            </a:extLst>
          </p:cNvPr>
          <p:cNvSpPr>
            <a:spLocks xmlns:a="http://schemas.openxmlformats.org/drawingml/2006/main" noGrp="1"/>
          </p:cNvSpPr>
          <p:nvPr/>
        </p:nvSpPr>
        <p:spPr>
          <a:xfrm xmlns:a="http://schemas.openxmlformats.org/drawingml/2006/main">
            <a:off x="647700" y="30480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6D"/>
                </a:solidFill>
              </a:defRPr>
            </a:defPPr>
            <a:lvl1pPr>
              <a:defRPr sz="1050" b="1">
                <a:solidFill>
                  <a:srgbClr val="536A6D"/>
                </a:solidFill>
              </a:defRPr>
            </a:lvl1pPr>
            <a:lvl2pPr>
              <a:defRPr sz="1050" b="1">
                <a:solidFill>
                  <a:srgbClr val="536A6D"/>
                </a:solidFill>
              </a:defRPr>
            </a:lvl2pPr>
            <a:lvl3pPr>
              <a:defRPr sz="1050" b="1">
                <a:solidFill>
                  <a:srgbClr val="536A6D"/>
                </a:solidFill>
              </a:defRPr>
            </a:lvl3pPr>
            <a:lvl4pPr>
              <a:defRPr sz="1050" b="1">
                <a:solidFill>
                  <a:srgbClr val="536A6D"/>
                </a:solidFill>
              </a:defRPr>
            </a:lvl4pPr>
            <a:lvl5pPr>
              <a:defRPr sz="1050" b="1">
                <a:solidFill>
                  <a:srgbClr val="536A6D"/>
                </a:solidFill>
              </a:defRPr>
            </a:lvl5pPr>
            <a:lvl6pPr>
              <a:defRPr sz="1050" b="1">
                <a:solidFill>
                  <a:srgbClr val="536A6D"/>
                </a:solidFill>
              </a:defRPr>
            </a:lvl6pPr>
            <a:lvl7pPr>
              <a:defRPr sz="1050" b="1">
                <a:solidFill>
                  <a:srgbClr val="536A6D"/>
                </a:solidFill>
              </a:defRPr>
            </a:lvl7pPr>
            <a:lvl8pPr>
              <a:defRPr sz="1050" b="1">
                <a:solidFill>
                  <a:srgbClr val="536A6D"/>
                </a:solidFill>
              </a:defRPr>
            </a:lvl8pPr>
            <a:lvl9pPr>
              <a:defRPr sz="1050" b="1">
                <a:solidFill>
                  <a:srgbClr val="536A6D"/>
                </a:solidFill>
              </a:defRPr>
            </a:lvl9pPr>
          </a:lstStyle>
          <a:p xmlns:a="http://schemas.openxmlformats.org/drawingml/2006/main">
            <a:pPr>
              <a:defRPr sz="1050" b="1">
                <a:solidFill>
                  <a:srgbClr val="536A6D"/>
                </a:solidFill>
              </a:defRPr>
            </a:pPr>
            <a:r>
              <a:rPr sz="1050" b="1">
                <a:solidFill>
                  <a:srgbClr val="536A6D"/>
                </a:solidFill>
              </a:rPr>
              <a:t>THE PROBLEM</a:t>
            </a:r>
          </a:p>
        </p:txBody>
      </p:sp>
      <p:sp>
        <p:nvSpPr>
          <p:cNvPr id="2" name="">
            <a:extLst xmlns:a="http://schemas.openxmlformats.org/drawingml/2006/main">
              <a:ext uri="{FF2B5EF4-FFF2-40B4-BE49-F238E27FC236}">
                <a16:creationId xmlns:a16="http://schemas.microsoft.com/office/drawing/2014/main" id="{BCA2E1AE-2024-4226-877A-38DC4D018A1B}"/>
              </a:ext>
            </a:extLst>
          </p:cNvPr>
          <p:cNvSpPr>
            <a:spLocks xmlns:a="http://schemas.openxmlformats.org/drawingml/2006/main" noGrp="1"/>
          </p:cNvSpPr>
          <p:nvPr/>
        </p:nvSpPr>
        <p:spPr>
          <a:xfrm xmlns:a="http://schemas.openxmlformats.org/drawingml/2006/main">
            <a:off x="647700" y="723900"/>
            <a:ext cx="10763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152F34"/>
                </a:solidFill>
              </a:defRPr>
            </a:defPPr>
            <a:lvl1pPr>
              <a:defRPr sz="2775" b="1">
                <a:solidFill>
                  <a:srgbClr val="152F34"/>
                </a:solidFill>
              </a:defRPr>
            </a:lvl1pPr>
            <a:lvl2pPr>
              <a:defRPr sz="2775" b="1">
                <a:solidFill>
                  <a:srgbClr val="152F34"/>
                </a:solidFill>
              </a:defRPr>
            </a:lvl2pPr>
            <a:lvl3pPr>
              <a:defRPr sz="2775" b="1">
                <a:solidFill>
                  <a:srgbClr val="152F34"/>
                </a:solidFill>
              </a:defRPr>
            </a:lvl3pPr>
            <a:lvl4pPr>
              <a:defRPr sz="2775" b="1">
                <a:solidFill>
                  <a:srgbClr val="152F34"/>
                </a:solidFill>
              </a:defRPr>
            </a:lvl4pPr>
            <a:lvl5pPr>
              <a:defRPr sz="2775" b="1">
                <a:solidFill>
                  <a:srgbClr val="152F34"/>
                </a:solidFill>
              </a:defRPr>
            </a:lvl5pPr>
            <a:lvl6pPr>
              <a:defRPr sz="2775" b="1">
                <a:solidFill>
                  <a:srgbClr val="152F34"/>
                </a:solidFill>
              </a:defRPr>
            </a:lvl6pPr>
            <a:lvl7pPr>
              <a:defRPr sz="2775" b="1">
                <a:solidFill>
                  <a:srgbClr val="152F34"/>
                </a:solidFill>
              </a:defRPr>
            </a:lvl7pPr>
            <a:lvl8pPr>
              <a:defRPr sz="2775" b="1">
                <a:solidFill>
                  <a:srgbClr val="152F34"/>
                </a:solidFill>
              </a:defRPr>
            </a:lvl8pPr>
            <a:lvl9pPr>
              <a:defRPr sz="2775" b="1">
                <a:solidFill>
                  <a:srgbClr val="152F34"/>
                </a:solidFill>
              </a:defRPr>
            </a:lvl9pPr>
          </a:lstStyle>
          <a:p xmlns:a="http://schemas.openxmlformats.org/drawingml/2006/main">
            <a:pPr>
              <a:defRPr sz="2775" b="1">
                <a:solidFill>
                  <a:srgbClr val="152F34"/>
                </a:solidFill>
              </a:defRPr>
            </a:pPr>
            <a:r>
              <a:rPr sz="2775" b="1">
                <a:solidFill>
                  <a:srgbClr val="152F34"/>
                </a:solidFill>
              </a:rPr>
              <a:t>A greener route can become the congested route</a:t>
            </a:r>
          </a:p>
        </p:txBody>
      </p:sp>
      <p:sp>
        <p:nvSpPr>
          <p:cNvPr id="3" name="">
            <a:extLst xmlns:a="http://schemas.openxmlformats.org/drawingml/2006/main">
              <a:ext uri="{FF2B5EF4-FFF2-40B4-BE49-F238E27FC236}">
                <a16:creationId xmlns:a16="http://schemas.microsoft.com/office/drawing/2014/main" id="{14E2711C-F808-46E6-ACB0-FB90CC70E36B}"/>
              </a:ext>
            </a:extLst>
          </p:cNvPr>
          <p:cNvSpPr>
            <a:spLocks xmlns:a="http://schemas.openxmlformats.org/drawingml/2006/main" noGrp="1"/>
          </p:cNvSpPr>
          <p:nvPr/>
        </p:nvSpPr>
        <p:spPr>
          <a:xfrm xmlns:a="http://schemas.openxmlformats.org/drawingml/2006/main">
            <a:off x="647700" y="1562100"/>
            <a:ext cx="10896600" cy="19050"/>
          </a:xfrm>
          <a:prstGeom xmlns:a="http://schemas.openxmlformats.org/drawingml/2006/main" prst="rect">
            <a:avLst/>
          </a:prstGeom>
          <a:solidFill xmlns:a="http://schemas.openxmlformats.org/drawingml/2006/main">
            <a:srgbClr val="C9D5D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C949E9E-EA75-4CBE-AAB8-FEA30E02600D}"/>
              </a:ext>
            </a:extLst>
          </p:cNvPr>
          <p:cNvSpPr>
            <a:spLocks xmlns:a="http://schemas.openxmlformats.org/drawingml/2006/main" noGrp="1"/>
          </p:cNvSpPr>
          <p:nvPr/>
        </p:nvSpPr>
        <p:spPr>
          <a:xfrm xmlns:a="http://schemas.openxmlformats.org/drawingml/2006/main">
            <a:off x="647700" y="6467475"/>
            <a:ext cx="6667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536A6D"/>
                </a:solidFill>
              </a:defRPr>
            </a:defPPr>
            <a:lvl1pPr>
              <a:defRPr sz="900" b="1">
                <a:solidFill>
                  <a:srgbClr val="536A6D"/>
                </a:solidFill>
              </a:defRPr>
            </a:lvl1pPr>
            <a:lvl2pPr>
              <a:defRPr sz="900" b="1">
                <a:solidFill>
                  <a:srgbClr val="536A6D"/>
                </a:solidFill>
              </a:defRPr>
            </a:lvl2pPr>
            <a:lvl3pPr>
              <a:defRPr sz="900" b="1">
                <a:solidFill>
                  <a:srgbClr val="536A6D"/>
                </a:solidFill>
              </a:defRPr>
            </a:lvl3pPr>
            <a:lvl4pPr>
              <a:defRPr sz="900" b="1">
                <a:solidFill>
                  <a:srgbClr val="536A6D"/>
                </a:solidFill>
              </a:defRPr>
            </a:lvl4pPr>
            <a:lvl5pPr>
              <a:defRPr sz="900" b="1">
                <a:solidFill>
                  <a:srgbClr val="536A6D"/>
                </a:solidFill>
              </a:defRPr>
            </a:lvl5pPr>
            <a:lvl6pPr>
              <a:defRPr sz="900" b="1">
                <a:solidFill>
                  <a:srgbClr val="536A6D"/>
                </a:solidFill>
              </a:defRPr>
            </a:lvl6pPr>
            <a:lvl7pPr>
              <a:defRPr sz="900" b="1">
                <a:solidFill>
                  <a:srgbClr val="536A6D"/>
                </a:solidFill>
              </a:defRPr>
            </a:lvl7pPr>
            <a:lvl8pPr>
              <a:defRPr sz="900" b="1">
                <a:solidFill>
                  <a:srgbClr val="536A6D"/>
                </a:solidFill>
              </a:defRPr>
            </a:lvl8pPr>
            <a:lvl9pPr>
              <a:defRPr sz="900" b="1">
                <a:solidFill>
                  <a:srgbClr val="536A6D"/>
                </a:solidFill>
              </a:defRPr>
            </a:lvl9pPr>
          </a:lstStyle>
          <a:p xmlns:a="http://schemas.openxmlformats.org/drawingml/2006/main">
            <a:pPr>
              <a:defRPr sz="900" b="1">
                <a:solidFill>
                  <a:srgbClr val="536A6D"/>
                </a:solidFill>
              </a:defRPr>
            </a:pPr>
            <a:r>
              <a:rPr sz="900" b="1">
                <a:solidFill>
                  <a:srgbClr val="536A6D"/>
                </a:solidFill>
              </a:rPr>
              <a:t>CARBONROUTE  /  REVIEW 1</a:t>
            </a:r>
          </a:p>
        </p:txBody>
      </p:sp>
      <p:sp>
        <p:nvSpPr>
          <p:cNvPr id="5" name="">
            <a:extLst xmlns:a="http://schemas.openxmlformats.org/drawingml/2006/main">
              <a:ext uri="{FF2B5EF4-FFF2-40B4-BE49-F238E27FC236}">
                <a16:creationId xmlns:a16="http://schemas.microsoft.com/office/drawing/2014/main" id="{44452533-78DF-4350-8E23-D5D48B8B2115}"/>
              </a:ext>
            </a:extLst>
          </p:cNvPr>
          <p:cNvSpPr>
            <a:spLocks xmlns:a="http://schemas.openxmlformats.org/drawingml/2006/main" noGrp="1"/>
          </p:cNvSpPr>
          <p:nvPr/>
        </p:nvSpPr>
        <p:spPr>
          <a:xfrm xmlns:a="http://schemas.openxmlformats.org/drawingml/2006/main">
            <a:off x="11077575" y="6448425"/>
            <a:ext cx="4476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36A6D"/>
                </a:solidFill>
              </a:defRPr>
            </a:defPPr>
            <a:lvl1pPr>
              <a:defRPr sz="975" b="1">
                <a:solidFill>
                  <a:srgbClr val="536A6D"/>
                </a:solidFill>
              </a:defRPr>
            </a:lvl1pPr>
            <a:lvl2pPr>
              <a:defRPr sz="975" b="1">
                <a:solidFill>
                  <a:srgbClr val="536A6D"/>
                </a:solidFill>
              </a:defRPr>
            </a:lvl2pPr>
            <a:lvl3pPr>
              <a:defRPr sz="975" b="1">
                <a:solidFill>
                  <a:srgbClr val="536A6D"/>
                </a:solidFill>
              </a:defRPr>
            </a:lvl3pPr>
            <a:lvl4pPr>
              <a:defRPr sz="975" b="1">
                <a:solidFill>
                  <a:srgbClr val="536A6D"/>
                </a:solidFill>
              </a:defRPr>
            </a:lvl4pPr>
            <a:lvl5pPr>
              <a:defRPr sz="975" b="1">
                <a:solidFill>
                  <a:srgbClr val="536A6D"/>
                </a:solidFill>
              </a:defRPr>
            </a:lvl5pPr>
            <a:lvl6pPr>
              <a:defRPr sz="975" b="1">
                <a:solidFill>
                  <a:srgbClr val="536A6D"/>
                </a:solidFill>
              </a:defRPr>
            </a:lvl6pPr>
            <a:lvl7pPr>
              <a:defRPr sz="975" b="1">
                <a:solidFill>
                  <a:srgbClr val="536A6D"/>
                </a:solidFill>
              </a:defRPr>
            </a:lvl7pPr>
            <a:lvl8pPr>
              <a:defRPr sz="975" b="1">
                <a:solidFill>
                  <a:srgbClr val="536A6D"/>
                </a:solidFill>
              </a:defRPr>
            </a:lvl8pPr>
            <a:lvl9pPr>
              <a:defRPr sz="975" b="1">
                <a:solidFill>
                  <a:srgbClr val="536A6D"/>
                </a:solidFill>
              </a:defRPr>
            </a:lvl9pPr>
          </a:lstStyle>
          <a:p xmlns:a="http://schemas.openxmlformats.org/drawingml/2006/main">
            <a:pPr>
              <a:defRPr sz="975" b="1">
                <a:solidFill>
                  <a:srgbClr val="536A6D"/>
                </a:solidFill>
              </a:defRPr>
            </a:pPr>
            <a:r>
              <a:rPr sz="975" b="1">
                <a:solidFill>
                  <a:srgbClr val="536A6D"/>
                </a:solidFill>
              </a:rPr>
              <a:t>02</a:t>
            </a:r>
          </a:p>
        </p:txBody>
      </p:sp>
      <p:sp>
        <p:nvSpPr>
          <p:cNvPr id="6" name="">
            <a:extLst xmlns:a="http://schemas.openxmlformats.org/drawingml/2006/main">
              <a:ext uri="{FF2B5EF4-FFF2-40B4-BE49-F238E27FC236}">
                <a16:creationId xmlns:a16="http://schemas.microsoft.com/office/drawing/2014/main" id="{FCD3178B-2EDD-409C-BDE6-CDD687FB6600}"/>
              </a:ext>
            </a:extLst>
          </p:cNvPr>
          <p:cNvSpPr>
            <a:spLocks xmlns:a="http://schemas.openxmlformats.org/drawingml/2006/main" noGrp="1"/>
          </p:cNvSpPr>
          <p:nvPr/>
        </p:nvSpPr>
        <p:spPr>
          <a:xfrm xmlns:a="http://schemas.openxmlformats.org/drawingml/2006/main">
            <a:off x="742950" y="1962150"/>
            <a:ext cx="10287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52F34"/>
                </a:solidFill>
              </a:defRPr>
            </a:defPPr>
            <a:lvl1pPr>
              <a:defRPr sz="2025" b="0">
                <a:solidFill>
                  <a:srgbClr val="152F34"/>
                </a:solidFill>
              </a:defRPr>
            </a:lvl1pPr>
            <a:lvl2pPr>
              <a:defRPr sz="2025" b="0">
                <a:solidFill>
                  <a:srgbClr val="152F34"/>
                </a:solidFill>
              </a:defRPr>
            </a:lvl2pPr>
            <a:lvl3pPr>
              <a:defRPr sz="2025" b="0">
                <a:solidFill>
                  <a:srgbClr val="152F34"/>
                </a:solidFill>
              </a:defRPr>
            </a:lvl3pPr>
            <a:lvl4pPr>
              <a:defRPr sz="2025" b="0">
                <a:solidFill>
                  <a:srgbClr val="152F34"/>
                </a:solidFill>
              </a:defRPr>
            </a:lvl4pPr>
            <a:lvl5pPr>
              <a:defRPr sz="2025" b="0">
                <a:solidFill>
                  <a:srgbClr val="152F34"/>
                </a:solidFill>
              </a:defRPr>
            </a:lvl5pPr>
            <a:lvl6pPr>
              <a:defRPr sz="2025" b="0">
                <a:solidFill>
                  <a:srgbClr val="152F34"/>
                </a:solidFill>
              </a:defRPr>
            </a:lvl6pPr>
            <a:lvl7pPr>
              <a:defRPr sz="2025" b="0">
                <a:solidFill>
                  <a:srgbClr val="152F34"/>
                </a:solidFill>
              </a:defRPr>
            </a:lvl7pPr>
            <a:lvl8pPr>
              <a:defRPr sz="2025" b="0">
                <a:solidFill>
                  <a:srgbClr val="152F34"/>
                </a:solidFill>
              </a:defRPr>
            </a:lvl8pPr>
            <a:lvl9pPr>
              <a:defRPr sz="2025" b="0">
                <a:solidFill>
                  <a:srgbClr val="152F34"/>
                </a:solidFill>
              </a:defRPr>
            </a:lvl9pPr>
          </a:lstStyle>
          <a:p xmlns:a="http://schemas.openxmlformats.org/drawingml/2006/main">
            <a:pPr>
              <a:defRPr sz="2025" b="0">
                <a:solidFill>
                  <a:srgbClr val="152F34"/>
                </a:solidFill>
              </a:defRPr>
            </a:pPr>
            <a:r>
              <a:rPr sz="2025" b="0">
                <a:solidFill>
                  <a:srgbClr val="152F34"/>
                </a:solidFill>
              </a:rPr>
              <a:t>At each 15-minute decision point, a network must choose a path for each source–destination flow.</a:t>
            </a:r>
          </a:p>
        </p:txBody>
      </p:sp>
      <p:sp>
        <p:nvSpPr>
          <p:cNvPr id="7" name="">
            <a:extLst xmlns:a="http://schemas.openxmlformats.org/drawingml/2006/main">
              <a:ext uri="{FF2B5EF4-FFF2-40B4-BE49-F238E27FC236}">
                <a16:creationId xmlns:a16="http://schemas.microsoft.com/office/drawing/2014/main" id="{009A1B94-452E-45DC-A20B-313FADE19C8E}"/>
              </a:ext>
            </a:extLst>
          </p:cNvPr>
          <p:cNvSpPr>
            <a:spLocks xmlns:a="http://schemas.openxmlformats.org/drawingml/2006/main" noGrp="1"/>
          </p:cNvSpPr>
          <p:nvPr/>
        </p:nvSpPr>
        <p:spPr>
          <a:xfrm xmlns:a="http://schemas.openxmlformats.org/drawingml/2006/main">
            <a:off x="742950" y="2933700"/>
            <a:ext cx="66675" cy="66675"/>
          </a:xfrm>
          <a:prstGeom xmlns:a="http://schemas.openxmlformats.org/drawingml/2006/main" prst="rect">
            <a:avLst/>
          </a:prstGeom>
          <a:solidFill xmlns:a="http://schemas.openxmlformats.org/drawingml/2006/main">
            <a:srgbClr val="007A7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318A39C-1CF1-4B63-B19C-C50450AAB1E7}"/>
              </a:ext>
            </a:extLst>
          </p:cNvPr>
          <p:cNvSpPr>
            <a:spLocks xmlns:a="http://schemas.openxmlformats.org/drawingml/2006/main" noGrp="1"/>
          </p:cNvSpPr>
          <p:nvPr/>
        </p:nvSpPr>
        <p:spPr>
          <a:xfrm xmlns:a="http://schemas.openxmlformats.org/drawingml/2006/main">
            <a:off x="952500" y="2876550"/>
            <a:ext cx="10267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152F34"/>
                </a:solidFill>
              </a:defRPr>
            </a:defPPr>
            <a:lvl1pPr>
              <a:defRPr sz="1725" b="1">
                <a:solidFill>
                  <a:srgbClr val="152F34"/>
                </a:solidFill>
              </a:defRPr>
            </a:lvl1pPr>
            <a:lvl2pPr>
              <a:defRPr sz="1725" b="1">
                <a:solidFill>
                  <a:srgbClr val="152F34"/>
                </a:solidFill>
              </a:defRPr>
            </a:lvl2pPr>
            <a:lvl3pPr>
              <a:defRPr sz="1725" b="1">
                <a:solidFill>
                  <a:srgbClr val="152F34"/>
                </a:solidFill>
              </a:defRPr>
            </a:lvl3pPr>
            <a:lvl4pPr>
              <a:defRPr sz="1725" b="1">
                <a:solidFill>
                  <a:srgbClr val="152F34"/>
                </a:solidFill>
              </a:defRPr>
            </a:lvl4pPr>
            <a:lvl5pPr>
              <a:defRPr sz="1725" b="1">
                <a:solidFill>
                  <a:srgbClr val="152F34"/>
                </a:solidFill>
              </a:defRPr>
            </a:lvl5pPr>
            <a:lvl6pPr>
              <a:defRPr sz="1725" b="1">
                <a:solidFill>
                  <a:srgbClr val="152F34"/>
                </a:solidFill>
              </a:defRPr>
            </a:lvl6pPr>
            <a:lvl7pPr>
              <a:defRPr sz="1725" b="1">
                <a:solidFill>
                  <a:srgbClr val="152F34"/>
                </a:solidFill>
              </a:defRPr>
            </a:lvl7pPr>
            <a:lvl8pPr>
              <a:defRPr sz="1725" b="1">
                <a:solidFill>
                  <a:srgbClr val="152F34"/>
                </a:solidFill>
              </a:defRPr>
            </a:lvl8pPr>
            <a:lvl9pPr>
              <a:defRPr sz="1725" b="1">
                <a:solidFill>
                  <a:srgbClr val="152F34"/>
                </a:solidFill>
              </a:defRPr>
            </a:lvl9pPr>
          </a:lstStyle>
          <a:p xmlns:a="http://schemas.openxmlformats.org/drawingml/2006/main">
            <a:pPr>
              <a:defRPr sz="1725" b="1">
                <a:solidFill>
                  <a:srgbClr val="152F34"/>
                </a:solidFill>
              </a:defRPr>
            </a:pPr>
            <a:r>
              <a:rPr sz="1725" b="1">
                <a:solidFill>
                  <a:srgbClr val="152F34"/>
                </a:solidFill>
              </a:rPr>
              <a:t>Carbon intensity changes by location</a:t>
            </a:r>
          </a:p>
        </p:txBody>
      </p:sp>
      <p:sp>
        <p:nvSpPr>
          <p:cNvPr id="9" name="">
            <a:extLst xmlns:a="http://schemas.openxmlformats.org/drawingml/2006/main">
              <a:ext uri="{FF2B5EF4-FFF2-40B4-BE49-F238E27FC236}">
                <a16:creationId xmlns:a16="http://schemas.microsoft.com/office/drawing/2014/main" id="{B8347282-B1F2-4272-A8A9-85C286EB0AC9}"/>
              </a:ext>
            </a:extLst>
          </p:cNvPr>
          <p:cNvSpPr>
            <a:spLocks xmlns:a="http://schemas.openxmlformats.org/drawingml/2006/main" noGrp="1"/>
          </p:cNvSpPr>
          <p:nvPr/>
        </p:nvSpPr>
        <p:spPr>
          <a:xfrm xmlns:a="http://schemas.openxmlformats.org/drawingml/2006/main">
            <a:off x="952500" y="3209925"/>
            <a:ext cx="10191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536A6D"/>
                </a:solidFill>
              </a:defRPr>
            </a:defPPr>
            <a:lvl1pPr>
              <a:defRPr sz="1425" b="0">
                <a:solidFill>
                  <a:srgbClr val="536A6D"/>
                </a:solidFill>
              </a:defRPr>
            </a:lvl1pPr>
            <a:lvl2pPr>
              <a:defRPr sz="1425" b="0">
                <a:solidFill>
                  <a:srgbClr val="536A6D"/>
                </a:solidFill>
              </a:defRPr>
            </a:lvl2pPr>
            <a:lvl3pPr>
              <a:defRPr sz="1425" b="0">
                <a:solidFill>
                  <a:srgbClr val="536A6D"/>
                </a:solidFill>
              </a:defRPr>
            </a:lvl3pPr>
            <a:lvl4pPr>
              <a:defRPr sz="1425" b="0">
                <a:solidFill>
                  <a:srgbClr val="536A6D"/>
                </a:solidFill>
              </a:defRPr>
            </a:lvl4pPr>
            <a:lvl5pPr>
              <a:defRPr sz="1425" b="0">
                <a:solidFill>
                  <a:srgbClr val="536A6D"/>
                </a:solidFill>
              </a:defRPr>
            </a:lvl5pPr>
            <a:lvl6pPr>
              <a:defRPr sz="1425" b="0">
                <a:solidFill>
                  <a:srgbClr val="536A6D"/>
                </a:solidFill>
              </a:defRPr>
            </a:lvl6pPr>
            <a:lvl7pPr>
              <a:defRPr sz="1425" b="0">
                <a:solidFill>
                  <a:srgbClr val="536A6D"/>
                </a:solidFill>
              </a:defRPr>
            </a:lvl7pPr>
            <a:lvl8pPr>
              <a:defRPr sz="1425" b="0">
                <a:solidFill>
                  <a:srgbClr val="536A6D"/>
                </a:solidFill>
              </a:defRPr>
            </a:lvl8pPr>
            <a:lvl9pPr>
              <a:defRPr sz="1425" b="0">
                <a:solidFill>
                  <a:srgbClr val="536A6D"/>
                </a:solidFill>
              </a:defRPr>
            </a:lvl9pPr>
          </a:lstStyle>
          <a:p xmlns:a="http://schemas.openxmlformats.org/drawingml/2006/main">
            <a:pPr>
              <a:defRPr sz="1425" b="0">
                <a:solidFill>
                  <a:srgbClr val="536A6D"/>
                </a:solidFill>
              </a:defRPr>
            </a:pPr>
            <a:r>
              <a:rPr sz="1425" b="0">
                <a:solidFill>
                  <a:srgbClr val="536A6D"/>
                </a:solidFill>
              </a:rPr>
              <a:t>A path through a region with a dirtier electricity mix receives a higher carbon-oriented score.</a:t>
            </a:r>
          </a:p>
        </p:txBody>
      </p:sp>
      <p:sp>
        <p:nvSpPr>
          <p:cNvPr id="10" name="">
            <a:extLst xmlns:a="http://schemas.openxmlformats.org/drawingml/2006/main">
              <a:ext uri="{FF2B5EF4-FFF2-40B4-BE49-F238E27FC236}">
                <a16:creationId xmlns:a16="http://schemas.microsoft.com/office/drawing/2014/main" id="{BD4459BF-156A-4DE0-A80A-8A36556A6BB0}"/>
              </a:ext>
            </a:extLst>
          </p:cNvPr>
          <p:cNvSpPr>
            <a:spLocks xmlns:a="http://schemas.openxmlformats.org/drawingml/2006/main" noGrp="1"/>
          </p:cNvSpPr>
          <p:nvPr/>
        </p:nvSpPr>
        <p:spPr>
          <a:xfrm xmlns:a="http://schemas.openxmlformats.org/drawingml/2006/main">
            <a:off x="742950" y="3981450"/>
            <a:ext cx="66675" cy="66675"/>
          </a:xfrm>
          <a:prstGeom xmlns:a="http://schemas.openxmlformats.org/drawingml/2006/main" prst="rect">
            <a:avLst/>
          </a:prstGeom>
          <a:solidFill xmlns:a="http://schemas.openxmlformats.org/drawingml/2006/main">
            <a:srgbClr val="007A7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02E51A2-9717-4231-BFFF-296F7C276CE1}"/>
              </a:ext>
            </a:extLst>
          </p:cNvPr>
          <p:cNvSpPr>
            <a:spLocks xmlns:a="http://schemas.openxmlformats.org/drawingml/2006/main" noGrp="1"/>
          </p:cNvSpPr>
          <p:nvPr/>
        </p:nvSpPr>
        <p:spPr>
          <a:xfrm xmlns:a="http://schemas.openxmlformats.org/drawingml/2006/main">
            <a:off x="952500" y="3924300"/>
            <a:ext cx="10267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152F34"/>
                </a:solidFill>
              </a:defRPr>
            </a:defPPr>
            <a:lvl1pPr>
              <a:defRPr sz="1725" b="1">
                <a:solidFill>
                  <a:srgbClr val="152F34"/>
                </a:solidFill>
              </a:defRPr>
            </a:lvl1pPr>
            <a:lvl2pPr>
              <a:defRPr sz="1725" b="1">
                <a:solidFill>
                  <a:srgbClr val="152F34"/>
                </a:solidFill>
              </a:defRPr>
            </a:lvl2pPr>
            <a:lvl3pPr>
              <a:defRPr sz="1725" b="1">
                <a:solidFill>
                  <a:srgbClr val="152F34"/>
                </a:solidFill>
              </a:defRPr>
            </a:lvl3pPr>
            <a:lvl4pPr>
              <a:defRPr sz="1725" b="1">
                <a:solidFill>
                  <a:srgbClr val="152F34"/>
                </a:solidFill>
              </a:defRPr>
            </a:lvl4pPr>
            <a:lvl5pPr>
              <a:defRPr sz="1725" b="1">
                <a:solidFill>
                  <a:srgbClr val="152F34"/>
                </a:solidFill>
              </a:defRPr>
            </a:lvl5pPr>
            <a:lvl6pPr>
              <a:defRPr sz="1725" b="1">
                <a:solidFill>
                  <a:srgbClr val="152F34"/>
                </a:solidFill>
              </a:defRPr>
            </a:lvl6pPr>
            <a:lvl7pPr>
              <a:defRPr sz="1725" b="1">
                <a:solidFill>
                  <a:srgbClr val="152F34"/>
                </a:solidFill>
              </a:defRPr>
            </a:lvl7pPr>
            <a:lvl8pPr>
              <a:defRPr sz="1725" b="1">
                <a:solidFill>
                  <a:srgbClr val="152F34"/>
                </a:solidFill>
              </a:defRPr>
            </a:lvl8pPr>
            <a:lvl9pPr>
              <a:defRPr sz="1725" b="1">
                <a:solidFill>
                  <a:srgbClr val="152F34"/>
                </a:solidFill>
              </a:defRPr>
            </a:lvl9pPr>
          </a:lstStyle>
          <a:p xmlns:a="http://schemas.openxmlformats.org/drawingml/2006/main">
            <a:pPr>
              <a:defRPr sz="1725" b="1">
                <a:solidFill>
                  <a:srgbClr val="152F34"/>
                </a:solidFill>
              </a:defRPr>
            </a:pPr>
            <a:r>
              <a:rPr sz="1725" b="1">
                <a:solidFill>
                  <a:srgbClr val="152F34"/>
                </a:solidFill>
              </a:rPr>
              <a:t>Traffic information can arrive late</a:t>
            </a:r>
          </a:p>
        </p:txBody>
      </p:sp>
      <p:sp>
        <p:nvSpPr>
          <p:cNvPr id="12" name="">
            <a:extLst xmlns:a="http://schemas.openxmlformats.org/drawingml/2006/main">
              <a:ext uri="{FF2B5EF4-FFF2-40B4-BE49-F238E27FC236}">
                <a16:creationId xmlns:a16="http://schemas.microsoft.com/office/drawing/2014/main" id="{CB8C6B2F-C515-4034-9664-1FF53A203249}"/>
              </a:ext>
            </a:extLst>
          </p:cNvPr>
          <p:cNvSpPr>
            <a:spLocks xmlns:a="http://schemas.openxmlformats.org/drawingml/2006/main" noGrp="1"/>
          </p:cNvSpPr>
          <p:nvPr/>
        </p:nvSpPr>
        <p:spPr>
          <a:xfrm xmlns:a="http://schemas.openxmlformats.org/drawingml/2006/main">
            <a:off x="952500" y="4257675"/>
            <a:ext cx="10191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536A6D"/>
                </a:solidFill>
              </a:defRPr>
            </a:defPPr>
            <a:lvl1pPr>
              <a:defRPr sz="1425" b="0">
                <a:solidFill>
                  <a:srgbClr val="536A6D"/>
                </a:solidFill>
              </a:defRPr>
            </a:lvl1pPr>
            <a:lvl2pPr>
              <a:defRPr sz="1425" b="0">
                <a:solidFill>
                  <a:srgbClr val="536A6D"/>
                </a:solidFill>
              </a:defRPr>
            </a:lvl2pPr>
            <a:lvl3pPr>
              <a:defRPr sz="1425" b="0">
                <a:solidFill>
                  <a:srgbClr val="536A6D"/>
                </a:solidFill>
              </a:defRPr>
            </a:lvl3pPr>
            <a:lvl4pPr>
              <a:defRPr sz="1425" b="0">
                <a:solidFill>
                  <a:srgbClr val="536A6D"/>
                </a:solidFill>
              </a:defRPr>
            </a:lvl4pPr>
            <a:lvl5pPr>
              <a:defRPr sz="1425" b="0">
                <a:solidFill>
                  <a:srgbClr val="536A6D"/>
                </a:solidFill>
              </a:defRPr>
            </a:lvl5pPr>
            <a:lvl6pPr>
              <a:defRPr sz="1425" b="0">
                <a:solidFill>
                  <a:srgbClr val="536A6D"/>
                </a:solidFill>
              </a:defRPr>
            </a:lvl6pPr>
            <a:lvl7pPr>
              <a:defRPr sz="1425" b="0">
                <a:solidFill>
                  <a:srgbClr val="536A6D"/>
                </a:solidFill>
              </a:defRPr>
            </a:lvl7pPr>
            <a:lvl8pPr>
              <a:defRPr sz="1425" b="0">
                <a:solidFill>
                  <a:srgbClr val="536A6D"/>
                </a:solidFill>
              </a:defRPr>
            </a:lvl8pPr>
            <a:lvl9pPr>
              <a:defRPr sz="1425" b="0">
                <a:solidFill>
                  <a:srgbClr val="536A6D"/>
                </a:solidFill>
              </a:defRPr>
            </a:lvl9pPr>
          </a:lstStyle>
          <a:p xmlns:a="http://schemas.openxmlformats.org/drawingml/2006/main">
            <a:pPr>
              <a:defRPr sz="1425" b="0">
                <a:solidFill>
                  <a:srgbClr val="536A6D"/>
                </a:solidFill>
              </a:defRPr>
            </a:pPr>
            <a:r>
              <a:rPr sz="1425" b="0">
                <a:solidFill>
                  <a:srgbClr val="536A6D"/>
                </a:solidFill>
              </a:rPr>
              <a:t>With one-bin telemetry lag, the controller plans using traffic measurements from 15 minutes earlier.</a:t>
            </a:r>
          </a:p>
        </p:txBody>
      </p:sp>
      <p:sp>
        <p:nvSpPr>
          <p:cNvPr id="13" name="">
            <a:extLst xmlns:a="http://schemas.openxmlformats.org/drawingml/2006/main">
              <a:ext uri="{FF2B5EF4-FFF2-40B4-BE49-F238E27FC236}">
                <a16:creationId xmlns:a16="http://schemas.microsoft.com/office/drawing/2014/main" id="{9D2EAA05-7341-479B-ACD9-092A6439F248}"/>
              </a:ext>
            </a:extLst>
          </p:cNvPr>
          <p:cNvSpPr>
            <a:spLocks xmlns:a="http://schemas.openxmlformats.org/drawingml/2006/main" noGrp="1"/>
          </p:cNvSpPr>
          <p:nvPr/>
        </p:nvSpPr>
        <p:spPr>
          <a:xfrm xmlns:a="http://schemas.openxmlformats.org/drawingml/2006/main">
            <a:off x="742950" y="5448300"/>
            <a:ext cx="21431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007A7A"/>
                </a:solidFill>
              </a:defRPr>
            </a:defPPr>
            <a:lvl1pPr>
              <a:defRPr sz="1350" b="1">
                <a:solidFill>
                  <a:srgbClr val="007A7A"/>
                </a:solidFill>
              </a:defRPr>
            </a:lvl1pPr>
            <a:lvl2pPr>
              <a:defRPr sz="1350" b="1">
                <a:solidFill>
                  <a:srgbClr val="007A7A"/>
                </a:solidFill>
              </a:defRPr>
            </a:lvl2pPr>
            <a:lvl3pPr>
              <a:defRPr sz="1350" b="1">
                <a:solidFill>
                  <a:srgbClr val="007A7A"/>
                </a:solidFill>
              </a:defRPr>
            </a:lvl3pPr>
            <a:lvl4pPr>
              <a:defRPr sz="1350" b="1">
                <a:solidFill>
                  <a:srgbClr val="007A7A"/>
                </a:solidFill>
              </a:defRPr>
            </a:lvl4pPr>
            <a:lvl5pPr>
              <a:defRPr sz="1350" b="1">
                <a:solidFill>
                  <a:srgbClr val="007A7A"/>
                </a:solidFill>
              </a:defRPr>
            </a:lvl5pPr>
            <a:lvl6pPr>
              <a:defRPr sz="1350" b="1">
                <a:solidFill>
                  <a:srgbClr val="007A7A"/>
                </a:solidFill>
              </a:defRPr>
            </a:lvl6pPr>
            <a:lvl7pPr>
              <a:defRPr sz="1350" b="1">
                <a:solidFill>
                  <a:srgbClr val="007A7A"/>
                </a:solidFill>
              </a:defRPr>
            </a:lvl7pPr>
            <a:lvl8pPr>
              <a:defRPr sz="1350" b="1">
                <a:solidFill>
                  <a:srgbClr val="007A7A"/>
                </a:solidFill>
              </a:defRPr>
            </a:lvl8pPr>
            <a:lvl9pPr>
              <a:defRPr sz="1350" b="1">
                <a:solidFill>
                  <a:srgbClr val="007A7A"/>
                </a:solidFill>
              </a:defRPr>
            </a:lvl9pPr>
          </a:lstStyle>
          <a:p xmlns:a="http://schemas.openxmlformats.org/drawingml/2006/main">
            <a:pPr>
              <a:defRPr sz="1350" b="1">
                <a:solidFill>
                  <a:srgbClr val="007A7A"/>
                </a:solidFill>
              </a:defRPr>
            </a:pPr>
            <a:r>
              <a:rPr sz="1350" b="1">
                <a:solidFill>
                  <a:srgbClr val="007A7A"/>
                </a:solidFill>
              </a:rPr>
              <a:t>Research question</a:t>
            </a:r>
          </a:p>
        </p:txBody>
      </p:sp>
      <p:sp>
        <p:nvSpPr>
          <p:cNvPr id="14" name="">
            <a:extLst xmlns:a="http://schemas.openxmlformats.org/drawingml/2006/main">
              <a:ext uri="{FF2B5EF4-FFF2-40B4-BE49-F238E27FC236}">
                <a16:creationId xmlns:a16="http://schemas.microsoft.com/office/drawing/2014/main" id="{FF0C577E-C2F9-4783-8DC9-DD90F46ED853}"/>
              </a:ext>
            </a:extLst>
          </p:cNvPr>
          <p:cNvSpPr>
            <a:spLocks xmlns:a="http://schemas.openxmlformats.org/drawingml/2006/main" noGrp="1"/>
          </p:cNvSpPr>
          <p:nvPr/>
        </p:nvSpPr>
        <p:spPr>
          <a:xfrm xmlns:a="http://schemas.openxmlformats.org/drawingml/2006/main">
            <a:off x="2895600" y="5410200"/>
            <a:ext cx="80581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152F34"/>
                </a:solidFill>
              </a:defRPr>
            </a:defPPr>
            <a:lvl1pPr>
              <a:defRPr sz="1800" b="1">
                <a:solidFill>
                  <a:srgbClr val="152F34"/>
                </a:solidFill>
              </a:defRPr>
            </a:lvl1pPr>
            <a:lvl2pPr>
              <a:defRPr sz="1800" b="1">
                <a:solidFill>
                  <a:srgbClr val="152F34"/>
                </a:solidFill>
              </a:defRPr>
            </a:lvl2pPr>
            <a:lvl3pPr>
              <a:defRPr sz="1800" b="1">
                <a:solidFill>
                  <a:srgbClr val="152F34"/>
                </a:solidFill>
              </a:defRPr>
            </a:lvl3pPr>
            <a:lvl4pPr>
              <a:defRPr sz="1800" b="1">
                <a:solidFill>
                  <a:srgbClr val="152F34"/>
                </a:solidFill>
              </a:defRPr>
            </a:lvl4pPr>
            <a:lvl5pPr>
              <a:defRPr sz="1800" b="1">
                <a:solidFill>
                  <a:srgbClr val="152F34"/>
                </a:solidFill>
              </a:defRPr>
            </a:lvl5pPr>
            <a:lvl6pPr>
              <a:defRPr sz="1800" b="1">
                <a:solidFill>
                  <a:srgbClr val="152F34"/>
                </a:solidFill>
              </a:defRPr>
            </a:lvl6pPr>
            <a:lvl7pPr>
              <a:defRPr sz="1800" b="1">
                <a:solidFill>
                  <a:srgbClr val="152F34"/>
                </a:solidFill>
              </a:defRPr>
            </a:lvl7pPr>
            <a:lvl8pPr>
              <a:defRPr sz="1800" b="1">
                <a:solidFill>
                  <a:srgbClr val="152F34"/>
                </a:solidFill>
              </a:defRPr>
            </a:lvl8pPr>
            <a:lvl9pPr>
              <a:defRPr sz="1800" b="1">
                <a:solidFill>
                  <a:srgbClr val="152F34"/>
                </a:solidFill>
              </a:defRPr>
            </a:lvl9pPr>
          </a:lstStyle>
          <a:p xmlns:a="http://schemas.openxmlformats.org/drawingml/2006/main">
            <a:pPr>
              <a:defRPr sz="1800" b="1">
                <a:solidFill>
                  <a:srgbClr val="152F34"/>
                </a:solidFill>
              </a:defRPr>
            </a:pPr>
            <a:r>
              <a:rPr sz="1800" b="1">
                <a:solidFill>
                  <a:srgbClr val="152F34"/>
                </a:solidFill>
              </a:rPr>
              <a:t>Can advance demand estimates improve the carbon / congestion trade-off?</a:t>
            </a:r>
          </a:p>
        </p:txBody>
      </p:sp>
    </p:spTree>
    <p:extLst>
      <p:ext uri="{BB962C8B-B14F-4D97-AF65-F5344CB8AC3E}">
        <p14:creationId xmlns:p14="http://schemas.microsoft.com/office/powerpoint/2010/main" val="1104787497"/>
      </p:ext>
    </p:extLst>
  </p:cSld>
</p:sld>
</file>

<file path=ppt/slides/slide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82CEDCFD-4113-4AD2-81BC-12CF59696C50}"/>
              </a:ext>
            </a:extLst>
          </p:cNvPr>
          <p:cNvSpPr>
            <a:spLocks xmlns:a="http://schemas.openxmlformats.org/drawingml/2006/main" noGrp="1"/>
          </p:cNvSpPr>
          <p:nvPr/>
        </p:nvSpPr>
        <p:spPr>
          <a:xfrm xmlns:a="http://schemas.openxmlformats.org/drawingml/2006/main">
            <a:off x="647700" y="30480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6D"/>
                </a:solidFill>
              </a:defRPr>
            </a:defPPr>
            <a:lvl1pPr>
              <a:defRPr sz="1050" b="1">
                <a:solidFill>
                  <a:srgbClr val="536A6D"/>
                </a:solidFill>
              </a:defRPr>
            </a:lvl1pPr>
            <a:lvl2pPr>
              <a:defRPr sz="1050" b="1">
                <a:solidFill>
                  <a:srgbClr val="536A6D"/>
                </a:solidFill>
              </a:defRPr>
            </a:lvl2pPr>
            <a:lvl3pPr>
              <a:defRPr sz="1050" b="1">
                <a:solidFill>
                  <a:srgbClr val="536A6D"/>
                </a:solidFill>
              </a:defRPr>
            </a:lvl3pPr>
            <a:lvl4pPr>
              <a:defRPr sz="1050" b="1">
                <a:solidFill>
                  <a:srgbClr val="536A6D"/>
                </a:solidFill>
              </a:defRPr>
            </a:lvl4pPr>
            <a:lvl5pPr>
              <a:defRPr sz="1050" b="1">
                <a:solidFill>
                  <a:srgbClr val="536A6D"/>
                </a:solidFill>
              </a:defRPr>
            </a:lvl5pPr>
            <a:lvl6pPr>
              <a:defRPr sz="1050" b="1">
                <a:solidFill>
                  <a:srgbClr val="536A6D"/>
                </a:solidFill>
              </a:defRPr>
            </a:lvl6pPr>
            <a:lvl7pPr>
              <a:defRPr sz="1050" b="1">
                <a:solidFill>
                  <a:srgbClr val="536A6D"/>
                </a:solidFill>
              </a:defRPr>
            </a:lvl7pPr>
            <a:lvl8pPr>
              <a:defRPr sz="1050" b="1">
                <a:solidFill>
                  <a:srgbClr val="536A6D"/>
                </a:solidFill>
              </a:defRPr>
            </a:lvl8pPr>
            <a:lvl9pPr>
              <a:defRPr sz="1050" b="1">
                <a:solidFill>
                  <a:srgbClr val="536A6D"/>
                </a:solidFill>
              </a:defRPr>
            </a:lvl9pPr>
          </a:lstStyle>
          <a:p xmlns:a="http://schemas.openxmlformats.org/drawingml/2006/main">
            <a:pPr>
              <a:defRPr sz="1050" b="1">
                <a:solidFill>
                  <a:srgbClr val="536A6D"/>
                </a:solidFill>
              </a:defRPr>
            </a:pPr>
            <a:r>
              <a:rPr sz="1050" b="1">
                <a:solidFill>
                  <a:srgbClr val="536A6D"/>
                </a:solidFill>
              </a:rPr>
              <a:t>EXISTING WORK</a:t>
            </a:r>
          </a:p>
        </p:txBody>
      </p:sp>
      <p:sp>
        <p:nvSpPr>
          <p:cNvPr id="2" name="">
            <a:extLst xmlns:a="http://schemas.openxmlformats.org/drawingml/2006/main">
              <a:ext uri="{FF2B5EF4-FFF2-40B4-BE49-F238E27FC236}">
                <a16:creationId xmlns:a16="http://schemas.microsoft.com/office/drawing/2014/main" id="{E8BDFDE9-0028-472A-BCA7-ABECA1FB7AD9}"/>
              </a:ext>
            </a:extLst>
          </p:cNvPr>
          <p:cNvSpPr>
            <a:spLocks xmlns:a="http://schemas.openxmlformats.org/drawingml/2006/main" noGrp="1"/>
          </p:cNvSpPr>
          <p:nvPr/>
        </p:nvSpPr>
        <p:spPr>
          <a:xfrm xmlns:a="http://schemas.openxmlformats.org/drawingml/2006/main">
            <a:off x="647700" y="723900"/>
            <a:ext cx="10763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152F34"/>
                </a:solidFill>
              </a:defRPr>
            </a:defPPr>
            <a:lvl1pPr>
              <a:defRPr sz="2775" b="1">
                <a:solidFill>
                  <a:srgbClr val="152F34"/>
                </a:solidFill>
              </a:defRPr>
            </a:lvl1pPr>
            <a:lvl2pPr>
              <a:defRPr sz="2775" b="1">
                <a:solidFill>
                  <a:srgbClr val="152F34"/>
                </a:solidFill>
              </a:defRPr>
            </a:lvl2pPr>
            <a:lvl3pPr>
              <a:defRPr sz="2775" b="1">
                <a:solidFill>
                  <a:srgbClr val="152F34"/>
                </a:solidFill>
              </a:defRPr>
            </a:lvl3pPr>
            <a:lvl4pPr>
              <a:defRPr sz="2775" b="1">
                <a:solidFill>
                  <a:srgbClr val="152F34"/>
                </a:solidFill>
              </a:defRPr>
            </a:lvl4pPr>
            <a:lvl5pPr>
              <a:defRPr sz="2775" b="1">
                <a:solidFill>
                  <a:srgbClr val="152F34"/>
                </a:solidFill>
              </a:defRPr>
            </a:lvl5pPr>
            <a:lvl6pPr>
              <a:defRPr sz="2775" b="1">
                <a:solidFill>
                  <a:srgbClr val="152F34"/>
                </a:solidFill>
              </a:defRPr>
            </a:lvl6pPr>
            <a:lvl7pPr>
              <a:defRPr sz="2775" b="1">
                <a:solidFill>
                  <a:srgbClr val="152F34"/>
                </a:solidFill>
              </a:defRPr>
            </a:lvl7pPr>
            <a:lvl8pPr>
              <a:defRPr sz="2775" b="1">
                <a:solidFill>
                  <a:srgbClr val="152F34"/>
                </a:solidFill>
              </a:defRPr>
            </a:lvl8pPr>
            <a:lvl9pPr>
              <a:defRPr sz="2775" b="1">
                <a:solidFill>
                  <a:srgbClr val="152F34"/>
                </a:solidFill>
              </a:defRPr>
            </a:lvl9pPr>
          </a:lstStyle>
          <a:p xmlns:a="http://schemas.openxmlformats.org/drawingml/2006/main">
            <a:pPr>
              <a:defRPr sz="2775" b="1">
                <a:solidFill>
                  <a:srgbClr val="152F34"/>
                </a:solidFill>
              </a:defRPr>
            </a:pPr>
            <a:r>
              <a:rPr sz="2775" b="1">
                <a:solidFill>
                  <a:srgbClr val="152F34"/>
                </a:solidFill>
              </a:rPr>
              <a:t>Our question sits between three research lines</a:t>
            </a:r>
          </a:p>
        </p:txBody>
      </p:sp>
      <p:sp>
        <p:nvSpPr>
          <p:cNvPr id="3" name="">
            <a:extLst xmlns:a="http://schemas.openxmlformats.org/drawingml/2006/main">
              <a:ext uri="{FF2B5EF4-FFF2-40B4-BE49-F238E27FC236}">
                <a16:creationId xmlns:a16="http://schemas.microsoft.com/office/drawing/2014/main" id="{68DC7CAB-D8B9-435C-92CF-26050E9652FD}"/>
              </a:ext>
            </a:extLst>
          </p:cNvPr>
          <p:cNvSpPr>
            <a:spLocks xmlns:a="http://schemas.openxmlformats.org/drawingml/2006/main" noGrp="1"/>
          </p:cNvSpPr>
          <p:nvPr/>
        </p:nvSpPr>
        <p:spPr>
          <a:xfrm xmlns:a="http://schemas.openxmlformats.org/drawingml/2006/main">
            <a:off x="647700" y="1562100"/>
            <a:ext cx="10896600" cy="19050"/>
          </a:xfrm>
          <a:prstGeom xmlns:a="http://schemas.openxmlformats.org/drawingml/2006/main" prst="rect">
            <a:avLst/>
          </a:prstGeom>
          <a:solidFill xmlns:a="http://schemas.openxmlformats.org/drawingml/2006/main">
            <a:srgbClr val="C9D5D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5C324EF-6785-4199-8E17-045415966CFF}"/>
              </a:ext>
            </a:extLst>
          </p:cNvPr>
          <p:cNvSpPr>
            <a:spLocks xmlns:a="http://schemas.openxmlformats.org/drawingml/2006/main" noGrp="1"/>
          </p:cNvSpPr>
          <p:nvPr/>
        </p:nvSpPr>
        <p:spPr>
          <a:xfrm xmlns:a="http://schemas.openxmlformats.org/drawingml/2006/main">
            <a:off x="647700" y="6467475"/>
            <a:ext cx="6667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536A6D"/>
                </a:solidFill>
              </a:defRPr>
            </a:defPPr>
            <a:lvl1pPr>
              <a:defRPr sz="900" b="1">
                <a:solidFill>
                  <a:srgbClr val="536A6D"/>
                </a:solidFill>
              </a:defRPr>
            </a:lvl1pPr>
            <a:lvl2pPr>
              <a:defRPr sz="900" b="1">
                <a:solidFill>
                  <a:srgbClr val="536A6D"/>
                </a:solidFill>
              </a:defRPr>
            </a:lvl2pPr>
            <a:lvl3pPr>
              <a:defRPr sz="900" b="1">
                <a:solidFill>
                  <a:srgbClr val="536A6D"/>
                </a:solidFill>
              </a:defRPr>
            </a:lvl3pPr>
            <a:lvl4pPr>
              <a:defRPr sz="900" b="1">
                <a:solidFill>
                  <a:srgbClr val="536A6D"/>
                </a:solidFill>
              </a:defRPr>
            </a:lvl4pPr>
            <a:lvl5pPr>
              <a:defRPr sz="900" b="1">
                <a:solidFill>
                  <a:srgbClr val="536A6D"/>
                </a:solidFill>
              </a:defRPr>
            </a:lvl5pPr>
            <a:lvl6pPr>
              <a:defRPr sz="900" b="1">
                <a:solidFill>
                  <a:srgbClr val="536A6D"/>
                </a:solidFill>
              </a:defRPr>
            </a:lvl6pPr>
            <a:lvl7pPr>
              <a:defRPr sz="900" b="1">
                <a:solidFill>
                  <a:srgbClr val="536A6D"/>
                </a:solidFill>
              </a:defRPr>
            </a:lvl7pPr>
            <a:lvl8pPr>
              <a:defRPr sz="900" b="1">
                <a:solidFill>
                  <a:srgbClr val="536A6D"/>
                </a:solidFill>
              </a:defRPr>
            </a:lvl8pPr>
            <a:lvl9pPr>
              <a:defRPr sz="900" b="1">
                <a:solidFill>
                  <a:srgbClr val="536A6D"/>
                </a:solidFill>
              </a:defRPr>
            </a:lvl9pPr>
          </a:lstStyle>
          <a:p xmlns:a="http://schemas.openxmlformats.org/drawingml/2006/main">
            <a:pPr>
              <a:defRPr sz="900" b="1">
                <a:solidFill>
                  <a:srgbClr val="536A6D"/>
                </a:solidFill>
              </a:defRPr>
            </a:pPr>
            <a:r>
              <a:rPr sz="900" b="1">
                <a:solidFill>
                  <a:srgbClr val="536A6D"/>
                </a:solidFill>
              </a:rPr>
              <a:t>CARBONROUTE  /  REVIEW 1</a:t>
            </a:r>
          </a:p>
        </p:txBody>
      </p:sp>
      <p:sp>
        <p:nvSpPr>
          <p:cNvPr id="5" name="">
            <a:extLst xmlns:a="http://schemas.openxmlformats.org/drawingml/2006/main">
              <a:ext uri="{FF2B5EF4-FFF2-40B4-BE49-F238E27FC236}">
                <a16:creationId xmlns:a16="http://schemas.microsoft.com/office/drawing/2014/main" id="{05A9874E-D78E-4556-A191-24FF3FA0BE56}"/>
              </a:ext>
            </a:extLst>
          </p:cNvPr>
          <p:cNvSpPr>
            <a:spLocks xmlns:a="http://schemas.openxmlformats.org/drawingml/2006/main" noGrp="1"/>
          </p:cNvSpPr>
          <p:nvPr/>
        </p:nvSpPr>
        <p:spPr>
          <a:xfrm xmlns:a="http://schemas.openxmlformats.org/drawingml/2006/main">
            <a:off x="11077575" y="6448425"/>
            <a:ext cx="4476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36A6D"/>
                </a:solidFill>
              </a:defRPr>
            </a:defPPr>
            <a:lvl1pPr>
              <a:defRPr sz="975" b="1">
                <a:solidFill>
                  <a:srgbClr val="536A6D"/>
                </a:solidFill>
              </a:defRPr>
            </a:lvl1pPr>
            <a:lvl2pPr>
              <a:defRPr sz="975" b="1">
                <a:solidFill>
                  <a:srgbClr val="536A6D"/>
                </a:solidFill>
              </a:defRPr>
            </a:lvl2pPr>
            <a:lvl3pPr>
              <a:defRPr sz="975" b="1">
                <a:solidFill>
                  <a:srgbClr val="536A6D"/>
                </a:solidFill>
              </a:defRPr>
            </a:lvl3pPr>
            <a:lvl4pPr>
              <a:defRPr sz="975" b="1">
                <a:solidFill>
                  <a:srgbClr val="536A6D"/>
                </a:solidFill>
              </a:defRPr>
            </a:lvl4pPr>
            <a:lvl5pPr>
              <a:defRPr sz="975" b="1">
                <a:solidFill>
                  <a:srgbClr val="536A6D"/>
                </a:solidFill>
              </a:defRPr>
            </a:lvl5pPr>
            <a:lvl6pPr>
              <a:defRPr sz="975" b="1">
                <a:solidFill>
                  <a:srgbClr val="536A6D"/>
                </a:solidFill>
              </a:defRPr>
            </a:lvl6pPr>
            <a:lvl7pPr>
              <a:defRPr sz="975" b="1">
                <a:solidFill>
                  <a:srgbClr val="536A6D"/>
                </a:solidFill>
              </a:defRPr>
            </a:lvl7pPr>
            <a:lvl8pPr>
              <a:defRPr sz="975" b="1">
                <a:solidFill>
                  <a:srgbClr val="536A6D"/>
                </a:solidFill>
              </a:defRPr>
            </a:lvl8pPr>
            <a:lvl9pPr>
              <a:defRPr sz="975" b="1">
                <a:solidFill>
                  <a:srgbClr val="536A6D"/>
                </a:solidFill>
              </a:defRPr>
            </a:lvl9pPr>
          </a:lstStyle>
          <a:p xmlns:a="http://schemas.openxmlformats.org/drawingml/2006/main">
            <a:pPr>
              <a:defRPr sz="975" b="1">
                <a:solidFill>
                  <a:srgbClr val="536A6D"/>
                </a:solidFill>
              </a:defRPr>
            </a:pPr>
            <a:r>
              <a:rPr sz="975" b="1">
                <a:solidFill>
                  <a:srgbClr val="536A6D"/>
                </a:solidFill>
              </a:rPr>
              <a:t>03</a:t>
            </a:r>
          </a:p>
        </p:txBody>
      </p:sp>
      <p:sp>
        <p:nvSpPr>
          <p:cNvPr id="6" name="">
            <a:extLst xmlns:a="http://schemas.openxmlformats.org/drawingml/2006/main">
              <a:ext uri="{FF2B5EF4-FFF2-40B4-BE49-F238E27FC236}">
                <a16:creationId xmlns:a16="http://schemas.microsoft.com/office/drawing/2014/main" id="{53999AB3-4667-48FC-99ED-DE3605F3A8B7}"/>
              </a:ext>
            </a:extLst>
          </p:cNvPr>
          <p:cNvSpPr>
            <a:spLocks xmlns:a="http://schemas.openxmlformats.org/drawingml/2006/main" noGrp="1"/>
          </p:cNvSpPr>
          <p:nvPr/>
        </p:nvSpPr>
        <p:spPr>
          <a:xfrm xmlns:a="http://schemas.openxmlformats.org/drawingml/2006/main">
            <a:off x="742950" y="1952625"/>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07A7A"/>
                </a:solidFill>
              </a:defRPr>
            </a:defPPr>
            <a:lvl1pPr>
              <a:defRPr sz="1650" b="1">
                <a:solidFill>
                  <a:srgbClr val="007A7A"/>
                </a:solidFill>
              </a:defRPr>
            </a:lvl1pPr>
            <a:lvl2pPr>
              <a:defRPr sz="1650" b="1">
                <a:solidFill>
                  <a:srgbClr val="007A7A"/>
                </a:solidFill>
              </a:defRPr>
            </a:lvl2pPr>
            <a:lvl3pPr>
              <a:defRPr sz="1650" b="1">
                <a:solidFill>
                  <a:srgbClr val="007A7A"/>
                </a:solidFill>
              </a:defRPr>
            </a:lvl3pPr>
            <a:lvl4pPr>
              <a:defRPr sz="1650" b="1">
                <a:solidFill>
                  <a:srgbClr val="007A7A"/>
                </a:solidFill>
              </a:defRPr>
            </a:lvl4pPr>
            <a:lvl5pPr>
              <a:defRPr sz="1650" b="1">
                <a:solidFill>
                  <a:srgbClr val="007A7A"/>
                </a:solidFill>
              </a:defRPr>
            </a:lvl5pPr>
            <a:lvl6pPr>
              <a:defRPr sz="1650" b="1">
                <a:solidFill>
                  <a:srgbClr val="007A7A"/>
                </a:solidFill>
              </a:defRPr>
            </a:lvl6pPr>
            <a:lvl7pPr>
              <a:defRPr sz="1650" b="1">
                <a:solidFill>
                  <a:srgbClr val="007A7A"/>
                </a:solidFill>
              </a:defRPr>
            </a:lvl7pPr>
            <a:lvl8pPr>
              <a:defRPr sz="1650" b="1">
                <a:solidFill>
                  <a:srgbClr val="007A7A"/>
                </a:solidFill>
              </a:defRPr>
            </a:lvl8pPr>
            <a:lvl9pPr>
              <a:defRPr sz="1650" b="1">
                <a:solidFill>
                  <a:srgbClr val="007A7A"/>
                </a:solidFill>
              </a:defRPr>
            </a:lvl9pPr>
          </a:lstStyle>
          <a:p xmlns:a="http://schemas.openxmlformats.org/drawingml/2006/main">
            <a:pPr>
              <a:defRPr sz="1650" b="1">
                <a:solidFill>
                  <a:srgbClr val="007A7A"/>
                </a:solidFill>
              </a:defRPr>
            </a:pPr>
            <a:r>
              <a:rPr sz="1650" b="1">
                <a:solidFill>
                  <a:srgbClr val="007A7A"/>
                </a:solidFill>
              </a:rPr>
              <a:t>SDN traffic engineering</a:t>
            </a:r>
          </a:p>
        </p:txBody>
      </p:sp>
      <p:sp>
        <p:nvSpPr>
          <p:cNvPr id="7" name="">
            <a:extLst xmlns:a="http://schemas.openxmlformats.org/drawingml/2006/main">
              <a:ext uri="{FF2B5EF4-FFF2-40B4-BE49-F238E27FC236}">
                <a16:creationId xmlns:a16="http://schemas.microsoft.com/office/drawing/2014/main" id="{42D608CB-EBCF-4F55-AA6E-BFEF089C657F}"/>
              </a:ext>
            </a:extLst>
          </p:cNvPr>
          <p:cNvSpPr>
            <a:spLocks xmlns:a="http://schemas.openxmlformats.org/drawingml/2006/main" noGrp="1"/>
          </p:cNvSpPr>
          <p:nvPr/>
        </p:nvSpPr>
        <p:spPr>
          <a:xfrm xmlns:a="http://schemas.openxmlformats.org/drawingml/2006/main">
            <a:off x="3943350" y="1952625"/>
            <a:ext cx="71151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2F34"/>
                </a:solidFill>
              </a:defRPr>
            </a:defPPr>
            <a:lvl1pPr>
              <a:defRPr sz="1500" b="0">
                <a:solidFill>
                  <a:srgbClr val="152F34"/>
                </a:solidFill>
              </a:defRPr>
            </a:lvl1pPr>
            <a:lvl2pPr>
              <a:defRPr sz="1500" b="0">
                <a:solidFill>
                  <a:srgbClr val="152F34"/>
                </a:solidFill>
              </a:defRPr>
            </a:lvl2pPr>
            <a:lvl3pPr>
              <a:defRPr sz="1500" b="0">
                <a:solidFill>
                  <a:srgbClr val="152F34"/>
                </a:solidFill>
              </a:defRPr>
            </a:lvl3pPr>
            <a:lvl4pPr>
              <a:defRPr sz="1500" b="0">
                <a:solidFill>
                  <a:srgbClr val="152F34"/>
                </a:solidFill>
              </a:defRPr>
            </a:lvl4pPr>
            <a:lvl5pPr>
              <a:defRPr sz="1500" b="0">
                <a:solidFill>
                  <a:srgbClr val="152F34"/>
                </a:solidFill>
              </a:defRPr>
            </a:lvl5pPr>
            <a:lvl6pPr>
              <a:defRPr sz="1500" b="0">
                <a:solidFill>
                  <a:srgbClr val="152F34"/>
                </a:solidFill>
              </a:defRPr>
            </a:lvl6pPr>
            <a:lvl7pPr>
              <a:defRPr sz="1500" b="0">
                <a:solidFill>
                  <a:srgbClr val="152F34"/>
                </a:solidFill>
              </a:defRPr>
            </a:lvl7pPr>
            <a:lvl8pPr>
              <a:defRPr sz="1500" b="0">
                <a:solidFill>
                  <a:srgbClr val="152F34"/>
                </a:solidFill>
              </a:defRPr>
            </a:lvl8pPr>
            <a:lvl9pPr>
              <a:defRPr sz="1500" b="0">
                <a:solidFill>
                  <a:srgbClr val="152F34"/>
                </a:solidFill>
              </a:defRPr>
            </a:lvl9pPr>
          </a:lstStyle>
          <a:p xmlns:a="http://schemas.openxmlformats.org/drawingml/2006/main">
            <a:pPr>
              <a:defRPr sz="1500" b="0">
                <a:solidFill>
                  <a:srgbClr val="152F34"/>
                </a:solidFill>
              </a:defRPr>
            </a:pPr>
            <a:r>
              <a:rPr sz="1500" b="0">
                <a:solidFill>
                  <a:srgbClr val="152F34"/>
                </a:solidFill>
              </a:rPr>
              <a:t>B4 showed that central control can allocate wide-area network capacity.</a:t>
            </a:r>
          </a:p>
        </p:txBody>
      </p:sp>
      <p:sp>
        <p:nvSpPr>
          <p:cNvPr id="8" name="">
            <a:extLst xmlns:a="http://schemas.openxmlformats.org/drawingml/2006/main">
              <a:ext uri="{FF2B5EF4-FFF2-40B4-BE49-F238E27FC236}">
                <a16:creationId xmlns:a16="http://schemas.microsoft.com/office/drawing/2014/main" id="{490A887F-0224-4E63-85B9-90BCB3B2D13E}"/>
              </a:ext>
            </a:extLst>
          </p:cNvPr>
          <p:cNvSpPr>
            <a:spLocks xmlns:a="http://schemas.openxmlformats.org/drawingml/2006/main" noGrp="1"/>
          </p:cNvSpPr>
          <p:nvPr/>
        </p:nvSpPr>
        <p:spPr>
          <a:xfrm xmlns:a="http://schemas.openxmlformats.org/drawingml/2006/main">
            <a:off x="3943350" y="2514600"/>
            <a:ext cx="71151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36A6D"/>
                </a:solidFill>
              </a:defRPr>
            </a:defPPr>
            <a:lvl1pPr>
              <a:defRPr sz="1350" b="0">
                <a:solidFill>
                  <a:srgbClr val="536A6D"/>
                </a:solidFill>
              </a:defRPr>
            </a:lvl1pPr>
            <a:lvl2pPr>
              <a:defRPr sz="1350" b="0">
                <a:solidFill>
                  <a:srgbClr val="536A6D"/>
                </a:solidFill>
              </a:defRPr>
            </a:lvl2pPr>
            <a:lvl3pPr>
              <a:defRPr sz="1350" b="0">
                <a:solidFill>
                  <a:srgbClr val="536A6D"/>
                </a:solidFill>
              </a:defRPr>
            </a:lvl3pPr>
            <a:lvl4pPr>
              <a:defRPr sz="1350" b="0">
                <a:solidFill>
                  <a:srgbClr val="536A6D"/>
                </a:solidFill>
              </a:defRPr>
            </a:lvl4pPr>
            <a:lvl5pPr>
              <a:defRPr sz="1350" b="0">
                <a:solidFill>
                  <a:srgbClr val="536A6D"/>
                </a:solidFill>
              </a:defRPr>
            </a:lvl5pPr>
            <a:lvl6pPr>
              <a:defRPr sz="1350" b="0">
                <a:solidFill>
                  <a:srgbClr val="536A6D"/>
                </a:solidFill>
              </a:defRPr>
            </a:lvl6pPr>
            <a:lvl7pPr>
              <a:defRPr sz="1350" b="0">
                <a:solidFill>
                  <a:srgbClr val="536A6D"/>
                </a:solidFill>
              </a:defRPr>
            </a:lvl7pPr>
            <a:lvl8pPr>
              <a:defRPr sz="1350" b="0">
                <a:solidFill>
                  <a:srgbClr val="536A6D"/>
                </a:solidFill>
              </a:defRPr>
            </a:lvl8pPr>
            <a:lvl9pPr>
              <a:defRPr sz="1350" b="0">
                <a:solidFill>
                  <a:srgbClr val="536A6D"/>
                </a:solidFill>
              </a:defRPr>
            </a:lvl9pPr>
          </a:lstStyle>
          <a:p xmlns:a="http://schemas.openxmlformats.org/drawingml/2006/main">
            <a:pPr>
              <a:defRPr sz="1350" b="0">
                <a:solidFill>
                  <a:srgbClr val="536A6D"/>
                </a:solidFill>
              </a:defRPr>
            </a:pPr>
            <a:r>
              <a:rPr sz="1350" b="0">
                <a:solidFill>
                  <a:srgbClr val="536A6D"/>
                </a:solidFill>
              </a:rPr>
              <a:t>Capacity is the primary objective.</a:t>
            </a:r>
          </a:p>
        </p:txBody>
      </p:sp>
      <p:sp>
        <p:nvSpPr>
          <p:cNvPr id="9" name="">
            <a:extLst xmlns:a="http://schemas.openxmlformats.org/drawingml/2006/main">
              <a:ext uri="{FF2B5EF4-FFF2-40B4-BE49-F238E27FC236}">
                <a16:creationId xmlns:a16="http://schemas.microsoft.com/office/drawing/2014/main" id="{375E245C-5165-4B6F-A97E-34852D6CC383}"/>
              </a:ext>
            </a:extLst>
          </p:cNvPr>
          <p:cNvSpPr>
            <a:spLocks xmlns:a="http://schemas.openxmlformats.org/drawingml/2006/main" noGrp="1"/>
          </p:cNvSpPr>
          <p:nvPr/>
        </p:nvSpPr>
        <p:spPr>
          <a:xfrm xmlns:a="http://schemas.openxmlformats.org/drawingml/2006/main">
            <a:off x="742950" y="3105150"/>
            <a:ext cx="10267950" cy="9525"/>
          </a:xfrm>
          <a:prstGeom xmlns:a="http://schemas.openxmlformats.org/drawingml/2006/main" prst="rect">
            <a:avLst/>
          </a:prstGeom>
          <a:solidFill xmlns:a="http://schemas.openxmlformats.org/drawingml/2006/main">
            <a:srgbClr val="C9D5D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5D6D3CE-D7C0-45D2-B48B-2DC835160558}"/>
              </a:ext>
            </a:extLst>
          </p:cNvPr>
          <p:cNvSpPr>
            <a:spLocks xmlns:a="http://schemas.openxmlformats.org/drawingml/2006/main" noGrp="1"/>
          </p:cNvSpPr>
          <p:nvPr/>
        </p:nvSpPr>
        <p:spPr>
          <a:xfrm xmlns:a="http://schemas.openxmlformats.org/drawingml/2006/main">
            <a:off x="742950" y="3276600"/>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07A7A"/>
                </a:solidFill>
              </a:defRPr>
            </a:defPPr>
            <a:lvl1pPr>
              <a:defRPr sz="1650" b="1">
                <a:solidFill>
                  <a:srgbClr val="007A7A"/>
                </a:solidFill>
              </a:defRPr>
            </a:lvl1pPr>
            <a:lvl2pPr>
              <a:defRPr sz="1650" b="1">
                <a:solidFill>
                  <a:srgbClr val="007A7A"/>
                </a:solidFill>
              </a:defRPr>
            </a:lvl2pPr>
            <a:lvl3pPr>
              <a:defRPr sz="1650" b="1">
                <a:solidFill>
                  <a:srgbClr val="007A7A"/>
                </a:solidFill>
              </a:defRPr>
            </a:lvl3pPr>
            <a:lvl4pPr>
              <a:defRPr sz="1650" b="1">
                <a:solidFill>
                  <a:srgbClr val="007A7A"/>
                </a:solidFill>
              </a:defRPr>
            </a:lvl4pPr>
            <a:lvl5pPr>
              <a:defRPr sz="1650" b="1">
                <a:solidFill>
                  <a:srgbClr val="007A7A"/>
                </a:solidFill>
              </a:defRPr>
            </a:lvl5pPr>
            <a:lvl6pPr>
              <a:defRPr sz="1650" b="1">
                <a:solidFill>
                  <a:srgbClr val="007A7A"/>
                </a:solidFill>
              </a:defRPr>
            </a:lvl6pPr>
            <a:lvl7pPr>
              <a:defRPr sz="1650" b="1">
                <a:solidFill>
                  <a:srgbClr val="007A7A"/>
                </a:solidFill>
              </a:defRPr>
            </a:lvl7pPr>
            <a:lvl8pPr>
              <a:defRPr sz="1650" b="1">
                <a:solidFill>
                  <a:srgbClr val="007A7A"/>
                </a:solidFill>
              </a:defRPr>
            </a:lvl8pPr>
            <a:lvl9pPr>
              <a:defRPr sz="1650" b="1">
                <a:solidFill>
                  <a:srgbClr val="007A7A"/>
                </a:solidFill>
              </a:defRPr>
            </a:lvl9pPr>
          </a:lstStyle>
          <a:p xmlns:a="http://schemas.openxmlformats.org/drawingml/2006/main">
            <a:pPr>
              <a:defRPr sz="1650" b="1">
                <a:solidFill>
                  <a:srgbClr val="007A7A"/>
                </a:solidFill>
              </a:defRPr>
            </a:pPr>
            <a:r>
              <a:rPr sz="1650" b="1">
                <a:solidFill>
                  <a:srgbClr val="007A7A"/>
                </a:solidFill>
              </a:rPr>
              <a:t>Carbon-aware routing</a:t>
            </a:r>
          </a:p>
        </p:txBody>
      </p:sp>
      <p:sp>
        <p:nvSpPr>
          <p:cNvPr id="11" name="">
            <a:extLst xmlns:a="http://schemas.openxmlformats.org/drawingml/2006/main">
              <a:ext uri="{FF2B5EF4-FFF2-40B4-BE49-F238E27FC236}">
                <a16:creationId xmlns:a16="http://schemas.microsoft.com/office/drawing/2014/main" id="{22F1AF29-811A-4CBC-8FB1-FBB1F0D1B50E}"/>
              </a:ext>
            </a:extLst>
          </p:cNvPr>
          <p:cNvSpPr>
            <a:spLocks xmlns:a="http://schemas.openxmlformats.org/drawingml/2006/main" noGrp="1"/>
          </p:cNvSpPr>
          <p:nvPr/>
        </p:nvSpPr>
        <p:spPr>
          <a:xfrm xmlns:a="http://schemas.openxmlformats.org/drawingml/2006/main">
            <a:off x="3943350" y="3276600"/>
            <a:ext cx="71151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2F34"/>
                </a:solidFill>
              </a:defRPr>
            </a:defPPr>
            <a:lvl1pPr>
              <a:defRPr sz="1500" b="0">
                <a:solidFill>
                  <a:srgbClr val="152F34"/>
                </a:solidFill>
              </a:defRPr>
            </a:lvl1pPr>
            <a:lvl2pPr>
              <a:defRPr sz="1500" b="0">
                <a:solidFill>
                  <a:srgbClr val="152F34"/>
                </a:solidFill>
              </a:defRPr>
            </a:lvl2pPr>
            <a:lvl3pPr>
              <a:defRPr sz="1500" b="0">
                <a:solidFill>
                  <a:srgbClr val="152F34"/>
                </a:solidFill>
              </a:defRPr>
            </a:lvl3pPr>
            <a:lvl4pPr>
              <a:defRPr sz="1500" b="0">
                <a:solidFill>
                  <a:srgbClr val="152F34"/>
                </a:solidFill>
              </a:defRPr>
            </a:lvl4pPr>
            <a:lvl5pPr>
              <a:defRPr sz="1500" b="0">
                <a:solidFill>
                  <a:srgbClr val="152F34"/>
                </a:solidFill>
              </a:defRPr>
            </a:lvl5pPr>
            <a:lvl6pPr>
              <a:defRPr sz="1500" b="0">
                <a:solidFill>
                  <a:srgbClr val="152F34"/>
                </a:solidFill>
              </a:defRPr>
            </a:lvl6pPr>
            <a:lvl7pPr>
              <a:defRPr sz="1500" b="0">
                <a:solidFill>
                  <a:srgbClr val="152F34"/>
                </a:solidFill>
              </a:defRPr>
            </a:lvl7pPr>
            <a:lvl8pPr>
              <a:defRPr sz="1500" b="0">
                <a:solidFill>
                  <a:srgbClr val="152F34"/>
                </a:solidFill>
              </a:defRPr>
            </a:lvl8pPr>
            <a:lvl9pPr>
              <a:defRPr sz="1500" b="0">
                <a:solidFill>
                  <a:srgbClr val="152F34"/>
                </a:solidFill>
              </a:defRPr>
            </a:lvl9pPr>
          </a:lstStyle>
          <a:p xmlns:a="http://schemas.openxmlformats.org/drawingml/2006/main">
            <a:pPr>
              <a:defRPr sz="1500" b="0">
                <a:solidFill>
                  <a:srgbClr val="152F34"/>
                </a:solidFill>
              </a:defRPr>
            </a:pPr>
            <a:r>
              <a:rPr sz="1500" b="0">
                <a:solidFill>
                  <a:srgbClr val="152F34"/>
                </a:solidFill>
              </a:rPr>
              <a:t>CIRo studies carbon-aware inter-domain routing and even predicts carbon intensity.</a:t>
            </a:r>
          </a:p>
        </p:txBody>
      </p:sp>
      <p:sp>
        <p:nvSpPr>
          <p:cNvPr id="12" name="">
            <a:extLst xmlns:a="http://schemas.openxmlformats.org/drawingml/2006/main">
              <a:ext uri="{FF2B5EF4-FFF2-40B4-BE49-F238E27FC236}">
                <a16:creationId xmlns:a16="http://schemas.microsoft.com/office/drawing/2014/main" id="{51047106-BF4C-44E3-AF7F-1370820EE95A}"/>
              </a:ext>
            </a:extLst>
          </p:cNvPr>
          <p:cNvSpPr>
            <a:spLocks xmlns:a="http://schemas.openxmlformats.org/drawingml/2006/main" noGrp="1"/>
          </p:cNvSpPr>
          <p:nvPr/>
        </p:nvSpPr>
        <p:spPr>
          <a:xfrm xmlns:a="http://schemas.openxmlformats.org/drawingml/2006/main">
            <a:off x="3943350" y="3838575"/>
            <a:ext cx="71151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36A6D"/>
                </a:solidFill>
              </a:defRPr>
            </a:defPPr>
            <a:lvl1pPr>
              <a:defRPr sz="1350" b="0">
                <a:solidFill>
                  <a:srgbClr val="536A6D"/>
                </a:solidFill>
              </a:defRPr>
            </a:lvl1pPr>
            <a:lvl2pPr>
              <a:defRPr sz="1350" b="0">
                <a:solidFill>
                  <a:srgbClr val="536A6D"/>
                </a:solidFill>
              </a:defRPr>
            </a:lvl2pPr>
            <a:lvl3pPr>
              <a:defRPr sz="1350" b="0">
                <a:solidFill>
                  <a:srgbClr val="536A6D"/>
                </a:solidFill>
              </a:defRPr>
            </a:lvl3pPr>
            <a:lvl4pPr>
              <a:defRPr sz="1350" b="0">
                <a:solidFill>
                  <a:srgbClr val="536A6D"/>
                </a:solidFill>
              </a:defRPr>
            </a:lvl4pPr>
            <a:lvl5pPr>
              <a:defRPr sz="1350" b="0">
                <a:solidFill>
                  <a:srgbClr val="536A6D"/>
                </a:solidFill>
              </a:defRPr>
            </a:lvl5pPr>
            <a:lvl6pPr>
              <a:defRPr sz="1350" b="0">
                <a:solidFill>
                  <a:srgbClr val="536A6D"/>
                </a:solidFill>
              </a:defRPr>
            </a:lvl6pPr>
            <a:lvl7pPr>
              <a:defRPr sz="1350" b="0">
                <a:solidFill>
                  <a:srgbClr val="536A6D"/>
                </a:solidFill>
              </a:defRPr>
            </a:lvl7pPr>
            <a:lvl8pPr>
              <a:defRPr sz="1350" b="0">
                <a:solidFill>
                  <a:srgbClr val="536A6D"/>
                </a:solidFill>
              </a:defRPr>
            </a:lvl8pPr>
            <a:lvl9pPr>
              <a:defRPr sz="1350" b="0">
                <a:solidFill>
                  <a:srgbClr val="536A6D"/>
                </a:solidFill>
              </a:defRPr>
            </a:lvl9pPr>
          </a:lstStyle>
          <a:p xmlns:a="http://schemas.openxmlformats.org/drawingml/2006/main">
            <a:pPr>
              <a:defRPr sz="1350" b="0">
                <a:solidFill>
                  <a:srgbClr val="536A6D"/>
                </a:solidFill>
              </a:defRPr>
            </a:pPr>
            <a:r>
              <a:rPr sz="1350" b="0">
                <a:solidFill>
                  <a:srgbClr val="536A6D"/>
                </a:solidFill>
              </a:rPr>
              <a:t>Demand-aware congestion safeguards remain a separate question.</a:t>
            </a:r>
          </a:p>
        </p:txBody>
      </p:sp>
      <p:sp>
        <p:nvSpPr>
          <p:cNvPr id="13" name="">
            <a:extLst xmlns:a="http://schemas.openxmlformats.org/drawingml/2006/main">
              <a:ext uri="{FF2B5EF4-FFF2-40B4-BE49-F238E27FC236}">
                <a16:creationId xmlns:a16="http://schemas.microsoft.com/office/drawing/2014/main" id="{3EAE599E-A5D6-498F-B732-148EF415F9B9}"/>
              </a:ext>
            </a:extLst>
          </p:cNvPr>
          <p:cNvSpPr>
            <a:spLocks xmlns:a="http://schemas.openxmlformats.org/drawingml/2006/main" noGrp="1"/>
          </p:cNvSpPr>
          <p:nvPr/>
        </p:nvSpPr>
        <p:spPr>
          <a:xfrm xmlns:a="http://schemas.openxmlformats.org/drawingml/2006/main">
            <a:off x="742950" y="4429125"/>
            <a:ext cx="10267950" cy="9525"/>
          </a:xfrm>
          <a:prstGeom xmlns:a="http://schemas.openxmlformats.org/drawingml/2006/main" prst="rect">
            <a:avLst/>
          </a:prstGeom>
          <a:solidFill xmlns:a="http://schemas.openxmlformats.org/drawingml/2006/main">
            <a:srgbClr val="C9D5D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239C066-9949-4BF2-B1BD-DA13477A9873}"/>
              </a:ext>
            </a:extLst>
          </p:cNvPr>
          <p:cNvSpPr>
            <a:spLocks xmlns:a="http://schemas.openxmlformats.org/drawingml/2006/main" noGrp="1"/>
          </p:cNvSpPr>
          <p:nvPr/>
        </p:nvSpPr>
        <p:spPr>
          <a:xfrm xmlns:a="http://schemas.openxmlformats.org/drawingml/2006/main">
            <a:off x="742950" y="4600575"/>
            <a:ext cx="3143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07A7A"/>
                </a:solidFill>
              </a:defRPr>
            </a:defPPr>
            <a:lvl1pPr>
              <a:defRPr sz="1650" b="1">
                <a:solidFill>
                  <a:srgbClr val="007A7A"/>
                </a:solidFill>
              </a:defRPr>
            </a:lvl1pPr>
            <a:lvl2pPr>
              <a:defRPr sz="1650" b="1">
                <a:solidFill>
                  <a:srgbClr val="007A7A"/>
                </a:solidFill>
              </a:defRPr>
            </a:lvl2pPr>
            <a:lvl3pPr>
              <a:defRPr sz="1650" b="1">
                <a:solidFill>
                  <a:srgbClr val="007A7A"/>
                </a:solidFill>
              </a:defRPr>
            </a:lvl3pPr>
            <a:lvl4pPr>
              <a:defRPr sz="1650" b="1">
                <a:solidFill>
                  <a:srgbClr val="007A7A"/>
                </a:solidFill>
              </a:defRPr>
            </a:lvl4pPr>
            <a:lvl5pPr>
              <a:defRPr sz="1650" b="1">
                <a:solidFill>
                  <a:srgbClr val="007A7A"/>
                </a:solidFill>
              </a:defRPr>
            </a:lvl5pPr>
            <a:lvl6pPr>
              <a:defRPr sz="1650" b="1">
                <a:solidFill>
                  <a:srgbClr val="007A7A"/>
                </a:solidFill>
              </a:defRPr>
            </a:lvl6pPr>
            <a:lvl7pPr>
              <a:defRPr sz="1650" b="1">
                <a:solidFill>
                  <a:srgbClr val="007A7A"/>
                </a:solidFill>
              </a:defRPr>
            </a:lvl7pPr>
            <a:lvl8pPr>
              <a:defRPr sz="1650" b="1">
                <a:solidFill>
                  <a:srgbClr val="007A7A"/>
                </a:solidFill>
              </a:defRPr>
            </a:lvl8pPr>
            <a:lvl9pPr>
              <a:defRPr sz="1650" b="1">
                <a:solidFill>
                  <a:srgbClr val="007A7A"/>
                </a:solidFill>
              </a:defRPr>
            </a:lvl9pPr>
          </a:lstStyle>
          <a:p xmlns:a="http://schemas.openxmlformats.org/drawingml/2006/main">
            <a:pPr>
              <a:defRPr sz="1650" b="1">
                <a:solidFill>
                  <a:srgbClr val="007A7A"/>
                </a:solidFill>
              </a:defRPr>
            </a:pPr>
            <a:r>
              <a:rPr sz="1650" b="1">
                <a:solidFill>
                  <a:srgbClr val="007A7A"/>
                </a:solidFill>
              </a:rPr>
              <a:t>Graph learning for networks</a:t>
            </a:r>
          </a:p>
        </p:txBody>
      </p:sp>
      <p:sp>
        <p:nvSpPr>
          <p:cNvPr id="15" name="">
            <a:extLst xmlns:a="http://schemas.openxmlformats.org/drawingml/2006/main">
              <a:ext uri="{FF2B5EF4-FFF2-40B4-BE49-F238E27FC236}">
                <a16:creationId xmlns:a16="http://schemas.microsoft.com/office/drawing/2014/main" id="{AF15F2E4-AF2E-4D18-B588-A1A88570A450}"/>
              </a:ext>
            </a:extLst>
          </p:cNvPr>
          <p:cNvSpPr>
            <a:spLocks xmlns:a="http://schemas.openxmlformats.org/drawingml/2006/main" noGrp="1"/>
          </p:cNvSpPr>
          <p:nvPr/>
        </p:nvSpPr>
        <p:spPr>
          <a:xfrm xmlns:a="http://schemas.openxmlformats.org/drawingml/2006/main">
            <a:off x="3943350" y="4600575"/>
            <a:ext cx="71151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2F34"/>
                </a:solidFill>
              </a:defRPr>
            </a:defPPr>
            <a:lvl1pPr>
              <a:defRPr sz="1500" b="0">
                <a:solidFill>
                  <a:srgbClr val="152F34"/>
                </a:solidFill>
              </a:defRPr>
            </a:lvl1pPr>
            <a:lvl2pPr>
              <a:defRPr sz="1500" b="0">
                <a:solidFill>
                  <a:srgbClr val="152F34"/>
                </a:solidFill>
              </a:defRPr>
            </a:lvl2pPr>
            <a:lvl3pPr>
              <a:defRPr sz="1500" b="0">
                <a:solidFill>
                  <a:srgbClr val="152F34"/>
                </a:solidFill>
              </a:defRPr>
            </a:lvl3pPr>
            <a:lvl4pPr>
              <a:defRPr sz="1500" b="0">
                <a:solidFill>
                  <a:srgbClr val="152F34"/>
                </a:solidFill>
              </a:defRPr>
            </a:lvl4pPr>
            <a:lvl5pPr>
              <a:defRPr sz="1500" b="0">
                <a:solidFill>
                  <a:srgbClr val="152F34"/>
                </a:solidFill>
              </a:defRPr>
            </a:lvl5pPr>
            <a:lvl6pPr>
              <a:defRPr sz="1500" b="0">
                <a:solidFill>
                  <a:srgbClr val="152F34"/>
                </a:solidFill>
              </a:defRPr>
            </a:lvl6pPr>
            <a:lvl7pPr>
              <a:defRPr sz="1500" b="0">
                <a:solidFill>
                  <a:srgbClr val="152F34"/>
                </a:solidFill>
              </a:defRPr>
            </a:lvl7pPr>
            <a:lvl8pPr>
              <a:defRPr sz="1500" b="0">
                <a:solidFill>
                  <a:srgbClr val="152F34"/>
                </a:solidFill>
              </a:defRPr>
            </a:lvl8pPr>
            <a:lvl9pPr>
              <a:defRPr sz="1500" b="0">
                <a:solidFill>
                  <a:srgbClr val="152F34"/>
                </a:solidFill>
              </a:defRPr>
            </a:lvl9pPr>
          </a:lstStyle>
          <a:p xmlns:a="http://schemas.openxmlformats.org/drawingml/2006/main">
            <a:pPr>
              <a:defRPr sz="1500" b="0">
                <a:solidFill>
                  <a:srgbClr val="152F34"/>
                </a:solidFill>
              </a:defRPr>
            </a:pPr>
            <a:r>
              <a:rPr sz="1500" b="0">
                <a:solidFill>
                  <a:srgbClr val="152F34"/>
                </a:solidFill>
              </a:rPr>
              <a:t>RouteNet uses graph neural networks to model network behavior.</a:t>
            </a:r>
          </a:p>
        </p:txBody>
      </p:sp>
      <p:sp>
        <p:nvSpPr>
          <p:cNvPr id="16" name="">
            <a:extLst xmlns:a="http://schemas.openxmlformats.org/drawingml/2006/main">
              <a:ext uri="{FF2B5EF4-FFF2-40B4-BE49-F238E27FC236}">
                <a16:creationId xmlns:a16="http://schemas.microsoft.com/office/drawing/2014/main" id="{CE157559-3C70-4FE8-A022-73070B8192E3}"/>
              </a:ext>
            </a:extLst>
          </p:cNvPr>
          <p:cNvSpPr>
            <a:spLocks xmlns:a="http://schemas.openxmlformats.org/drawingml/2006/main" noGrp="1"/>
          </p:cNvSpPr>
          <p:nvPr/>
        </p:nvSpPr>
        <p:spPr>
          <a:xfrm xmlns:a="http://schemas.openxmlformats.org/drawingml/2006/main">
            <a:off x="3943350" y="5162550"/>
            <a:ext cx="71151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36A6D"/>
                </a:solidFill>
              </a:defRPr>
            </a:defPPr>
            <a:lvl1pPr>
              <a:defRPr sz="1350" b="0">
                <a:solidFill>
                  <a:srgbClr val="536A6D"/>
                </a:solidFill>
              </a:defRPr>
            </a:lvl1pPr>
            <a:lvl2pPr>
              <a:defRPr sz="1350" b="0">
                <a:solidFill>
                  <a:srgbClr val="536A6D"/>
                </a:solidFill>
              </a:defRPr>
            </a:lvl2pPr>
            <a:lvl3pPr>
              <a:defRPr sz="1350" b="0">
                <a:solidFill>
                  <a:srgbClr val="536A6D"/>
                </a:solidFill>
              </a:defRPr>
            </a:lvl3pPr>
            <a:lvl4pPr>
              <a:defRPr sz="1350" b="0">
                <a:solidFill>
                  <a:srgbClr val="536A6D"/>
                </a:solidFill>
              </a:defRPr>
            </a:lvl4pPr>
            <a:lvl5pPr>
              <a:defRPr sz="1350" b="0">
                <a:solidFill>
                  <a:srgbClr val="536A6D"/>
                </a:solidFill>
              </a:defRPr>
            </a:lvl5pPr>
            <a:lvl6pPr>
              <a:defRPr sz="1350" b="0">
                <a:solidFill>
                  <a:srgbClr val="536A6D"/>
                </a:solidFill>
              </a:defRPr>
            </a:lvl6pPr>
            <a:lvl7pPr>
              <a:defRPr sz="1350" b="0">
                <a:solidFill>
                  <a:srgbClr val="536A6D"/>
                </a:solidFill>
              </a:defRPr>
            </a:lvl7pPr>
            <a:lvl8pPr>
              <a:defRPr sz="1350" b="0">
                <a:solidFill>
                  <a:srgbClr val="536A6D"/>
                </a:solidFill>
              </a:defRPr>
            </a:lvl8pPr>
            <a:lvl9pPr>
              <a:defRPr sz="1350" b="0">
                <a:solidFill>
                  <a:srgbClr val="536A6D"/>
                </a:solidFill>
              </a:defRPr>
            </a:lvl9pPr>
          </a:lstStyle>
          <a:p xmlns:a="http://schemas.openxmlformats.org/drawingml/2006/main">
            <a:pPr>
              <a:defRPr sz="1350" b="0">
                <a:solidFill>
                  <a:srgbClr val="536A6D"/>
                </a:solidFill>
              </a:defRPr>
            </a:pPr>
            <a:r>
              <a:rPr sz="1350" b="0">
                <a:solidFill>
                  <a:srgbClr val="536A6D"/>
                </a:solidFill>
              </a:rPr>
              <a:t>A forecast alone does not specify safe route decisions.</a:t>
            </a:r>
          </a:p>
        </p:txBody>
      </p:sp>
    </p:spTree>
    <p:extLst>
      <p:ext uri="{BB962C8B-B14F-4D97-AF65-F5344CB8AC3E}">
        <p14:creationId xmlns:p14="http://schemas.microsoft.com/office/powerpoint/2010/main" val="1030585259"/>
      </p:ext>
    </p:extLst>
  </p:cSld>
</p:sld>
</file>

<file path=ppt/slides/slide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C9F4D499-A238-4469-958E-1F18ACBBED43}"/>
              </a:ext>
            </a:extLst>
          </p:cNvPr>
          <p:cNvSpPr>
            <a:spLocks xmlns:a="http://schemas.openxmlformats.org/drawingml/2006/main" noGrp="1"/>
          </p:cNvSpPr>
          <p:nvPr/>
        </p:nvSpPr>
        <p:spPr>
          <a:xfrm xmlns:a="http://schemas.openxmlformats.org/drawingml/2006/main">
            <a:off x="647700" y="30480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6D"/>
                </a:solidFill>
              </a:defRPr>
            </a:defPPr>
            <a:lvl1pPr>
              <a:defRPr sz="1050" b="1">
                <a:solidFill>
                  <a:srgbClr val="536A6D"/>
                </a:solidFill>
              </a:defRPr>
            </a:lvl1pPr>
            <a:lvl2pPr>
              <a:defRPr sz="1050" b="1">
                <a:solidFill>
                  <a:srgbClr val="536A6D"/>
                </a:solidFill>
              </a:defRPr>
            </a:lvl2pPr>
            <a:lvl3pPr>
              <a:defRPr sz="1050" b="1">
                <a:solidFill>
                  <a:srgbClr val="536A6D"/>
                </a:solidFill>
              </a:defRPr>
            </a:lvl3pPr>
            <a:lvl4pPr>
              <a:defRPr sz="1050" b="1">
                <a:solidFill>
                  <a:srgbClr val="536A6D"/>
                </a:solidFill>
              </a:defRPr>
            </a:lvl4pPr>
            <a:lvl5pPr>
              <a:defRPr sz="1050" b="1">
                <a:solidFill>
                  <a:srgbClr val="536A6D"/>
                </a:solidFill>
              </a:defRPr>
            </a:lvl5pPr>
            <a:lvl6pPr>
              <a:defRPr sz="1050" b="1">
                <a:solidFill>
                  <a:srgbClr val="536A6D"/>
                </a:solidFill>
              </a:defRPr>
            </a:lvl6pPr>
            <a:lvl7pPr>
              <a:defRPr sz="1050" b="1">
                <a:solidFill>
                  <a:srgbClr val="536A6D"/>
                </a:solidFill>
              </a:defRPr>
            </a:lvl7pPr>
            <a:lvl8pPr>
              <a:defRPr sz="1050" b="1">
                <a:solidFill>
                  <a:srgbClr val="536A6D"/>
                </a:solidFill>
              </a:defRPr>
            </a:lvl8pPr>
            <a:lvl9pPr>
              <a:defRPr sz="1050" b="1">
                <a:solidFill>
                  <a:srgbClr val="536A6D"/>
                </a:solidFill>
              </a:defRPr>
            </a:lvl9pPr>
          </a:lstStyle>
          <a:p xmlns:a="http://schemas.openxmlformats.org/drawingml/2006/main">
            <a:pPr>
              <a:defRPr sz="1050" b="1">
                <a:solidFill>
                  <a:srgbClr val="536A6D"/>
                </a:solidFill>
              </a:defRPr>
            </a:pPr>
            <a:r>
              <a:rPr sz="1050" b="1">
                <a:solidFill>
                  <a:srgbClr val="536A6D"/>
                </a:solidFill>
              </a:rPr>
              <a:t>TESTBED</a:t>
            </a:r>
          </a:p>
        </p:txBody>
      </p:sp>
      <p:sp>
        <p:nvSpPr>
          <p:cNvPr id="2" name="">
            <a:extLst xmlns:a="http://schemas.openxmlformats.org/drawingml/2006/main">
              <a:ext uri="{FF2B5EF4-FFF2-40B4-BE49-F238E27FC236}">
                <a16:creationId xmlns:a16="http://schemas.microsoft.com/office/drawing/2014/main" id="{C19571F9-D0F4-4792-8195-3B9630844391}"/>
              </a:ext>
            </a:extLst>
          </p:cNvPr>
          <p:cNvSpPr>
            <a:spLocks xmlns:a="http://schemas.openxmlformats.org/drawingml/2006/main" noGrp="1"/>
          </p:cNvSpPr>
          <p:nvPr/>
        </p:nvSpPr>
        <p:spPr>
          <a:xfrm xmlns:a="http://schemas.openxmlformats.org/drawingml/2006/main">
            <a:off x="647700" y="723900"/>
            <a:ext cx="10763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152F34"/>
                </a:solidFill>
              </a:defRPr>
            </a:defPPr>
            <a:lvl1pPr>
              <a:defRPr sz="2775" b="1">
                <a:solidFill>
                  <a:srgbClr val="152F34"/>
                </a:solidFill>
              </a:defRPr>
            </a:lvl1pPr>
            <a:lvl2pPr>
              <a:defRPr sz="2775" b="1">
                <a:solidFill>
                  <a:srgbClr val="152F34"/>
                </a:solidFill>
              </a:defRPr>
            </a:lvl2pPr>
            <a:lvl3pPr>
              <a:defRPr sz="2775" b="1">
                <a:solidFill>
                  <a:srgbClr val="152F34"/>
                </a:solidFill>
              </a:defRPr>
            </a:lvl3pPr>
            <a:lvl4pPr>
              <a:defRPr sz="2775" b="1">
                <a:solidFill>
                  <a:srgbClr val="152F34"/>
                </a:solidFill>
              </a:defRPr>
            </a:lvl4pPr>
            <a:lvl5pPr>
              <a:defRPr sz="2775" b="1">
                <a:solidFill>
                  <a:srgbClr val="152F34"/>
                </a:solidFill>
              </a:defRPr>
            </a:lvl5pPr>
            <a:lvl6pPr>
              <a:defRPr sz="2775" b="1">
                <a:solidFill>
                  <a:srgbClr val="152F34"/>
                </a:solidFill>
              </a:defRPr>
            </a:lvl6pPr>
            <a:lvl7pPr>
              <a:defRPr sz="2775" b="1">
                <a:solidFill>
                  <a:srgbClr val="152F34"/>
                </a:solidFill>
              </a:defRPr>
            </a:lvl7pPr>
            <a:lvl8pPr>
              <a:defRPr sz="2775" b="1">
                <a:solidFill>
                  <a:srgbClr val="152F34"/>
                </a:solidFill>
              </a:defRPr>
            </a:lvl8pPr>
            <a:lvl9pPr>
              <a:defRPr sz="2775" b="1">
                <a:solidFill>
                  <a:srgbClr val="152F34"/>
                </a:solidFill>
              </a:defRPr>
            </a:lvl9pPr>
          </a:lstStyle>
          <a:p xmlns:a="http://schemas.openxmlformats.org/drawingml/2006/main">
            <a:pPr>
              <a:defRPr sz="2775" b="1">
                <a:solidFill>
                  <a:srgbClr val="152F34"/>
                </a:solidFill>
              </a:defRPr>
            </a:pPr>
            <a:r>
              <a:rPr sz="2775" b="1">
                <a:solidFill>
                  <a:srgbClr val="152F34"/>
                </a:solidFill>
              </a:rPr>
              <a:t>A small, repeatable slice of the GÉANT network</a:t>
            </a:r>
          </a:p>
        </p:txBody>
      </p:sp>
      <p:sp>
        <p:nvSpPr>
          <p:cNvPr id="3" name="">
            <a:extLst xmlns:a="http://schemas.openxmlformats.org/drawingml/2006/main">
              <a:ext uri="{FF2B5EF4-FFF2-40B4-BE49-F238E27FC236}">
                <a16:creationId xmlns:a16="http://schemas.microsoft.com/office/drawing/2014/main" id="{DD064885-82B1-4F3B-840E-B140BF53F5BD}"/>
              </a:ext>
            </a:extLst>
          </p:cNvPr>
          <p:cNvSpPr>
            <a:spLocks xmlns:a="http://schemas.openxmlformats.org/drawingml/2006/main" noGrp="1"/>
          </p:cNvSpPr>
          <p:nvPr/>
        </p:nvSpPr>
        <p:spPr>
          <a:xfrm xmlns:a="http://schemas.openxmlformats.org/drawingml/2006/main">
            <a:off x="647700" y="1562100"/>
            <a:ext cx="10896600" cy="19050"/>
          </a:xfrm>
          <a:prstGeom xmlns:a="http://schemas.openxmlformats.org/drawingml/2006/main" prst="rect">
            <a:avLst/>
          </a:prstGeom>
          <a:solidFill xmlns:a="http://schemas.openxmlformats.org/drawingml/2006/main">
            <a:srgbClr val="C9D5D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3C7046A-283A-4699-851E-2FD0E1EEDBF2}"/>
              </a:ext>
            </a:extLst>
          </p:cNvPr>
          <p:cNvSpPr>
            <a:spLocks xmlns:a="http://schemas.openxmlformats.org/drawingml/2006/main" noGrp="1"/>
          </p:cNvSpPr>
          <p:nvPr/>
        </p:nvSpPr>
        <p:spPr>
          <a:xfrm xmlns:a="http://schemas.openxmlformats.org/drawingml/2006/main">
            <a:off x="647700" y="6467475"/>
            <a:ext cx="6667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536A6D"/>
                </a:solidFill>
              </a:defRPr>
            </a:defPPr>
            <a:lvl1pPr>
              <a:defRPr sz="900" b="1">
                <a:solidFill>
                  <a:srgbClr val="536A6D"/>
                </a:solidFill>
              </a:defRPr>
            </a:lvl1pPr>
            <a:lvl2pPr>
              <a:defRPr sz="900" b="1">
                <a:solidFill>
                  <a:srgbClr val="536A6D"/>
                </a:solidFill>
              </a:defRPr>
            </a:lvl2pPr>
            <a:lvl3pPr>
              <a:defRPr sz="900" b="1">
                <a:solidFill>
                  <a:srgbClr val="536A6D"/>
                </a:solidFill>
              </a:defRPr>
            </a:lvl3pPr>
            <a:lvl4pPr>
              <a:defRPr sz="900" b="1">
                <a:solidFill>
                  <a:srgbClr val="536A6D"/>
                </a:solidFill>
              </a:defRPr>
            </a:lvl4pPr>
            <a:lvl5pPr>
              <a:defRPr sz="900" b="1">
                <a:solidFill>
                  <a:srgbClr val="536A6D"/>
                </a:solidFill>
              </a:defRPr>
            </a:lvl5pPr>
            <a:lvl6pPr>
              <a:defRPr sz="900" b="1">
                <a:solidFill>
                  <a:srgbClr val="536A6D"/>
                </a:solidFill>
              </a:defRPr>
            </a:lvl6pPr>
            <a:lvl7pPr>
              <a:defRPr sz="900" b="1">
                <a:solidFill>
                  <a:srgbClr val="536A6D"/>
                </a:solidFill>
              </a:defRPr>
            </a:lvl7pPr>
            <a:lvl8pPr>
              <a:defRPr sz="900" b="1">
                <a:solidFill>
                  <a:srgbClr val="536A6D"/>
                </a:solidFill>
              </a:defRPr>
            </a:lvl8pPr>
            <a:lvl9pPr>
              <a:defRPr sz="900" b="1">
                <a:solidFill>
                  <a:srgbClr val="536A6D"/>
                </a:solidFill>
              </a:defRPr>
            </a:lvl9pPr>
          </a:lstStyle>
          <a:p xmlns:a="http://schemas.openxmlformats.org/drawingml/2006/main">
            <a:pPr>
              <a:defRPr sz="900" b="1">
                <a:solidFill>
                  <a:srgbClr val="536A6D"/>
                </a:solidFill>
              </a:defRPr>
            </a:pPr>
            <a:r>
              <a:rPr sz="900" b="1">
                <a:solidFill>
                  <a:srgbClr val="536A6D"/>
                </a:solidFill>
              </a:rPr>
              <a:t>CARBONROUTE  /  REVIEW 1</a:t>
            </a:r>
          </a:p>
        </p:txBody>
      </p:sp>
      <p:sp>
        <p:nvSpPr>
          <p:cNvPr id="5" name="">
            <a:extLst xmlns:a="http://schemas.openxmlformats.org/drawingml/2006/main">
              <a:ext uri="{FF2B5EF4-FFF2-40B4-BE49-F238E27FC236}">
                <a16:creationId xmlns:a16="http://schemas.microsoft.com/office/drawing/2014/main" id="{A4DA88F4-E814-4C09-8DE7-17CB168E60E9}"/>
              </a:ext>
            </a:extLst>
          </p:cNvPr>
          <p:cNvSpPr>
            <a:spLocks xmlns:a="http://schemas.openxmlformats.org/drawingml/2006/main" noGrp="1"/>
          </p:cNvSpPr>
          <p:nvPr/>
        </p:nvSpPr>
        <p:spPr>
          <a:xfrm xmlns:a="http://schemas.openxmlformats.org/drawingml/2006/main">
            <a:off x="11077575" y="6448425"/>
            <a:ext cx="4476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36A6D"/>
                </a:solidFill>
              </a:defRPr>
            </a:defPPr>
            <a:lvl1pPr>
              <a:defRPr sz="975" b="1">
                <a:solidFill>
                  <a:srgbClr val="536A6D"/>
                </a:solidFill>
              </a:defRPr>
            </a:lvl1pPr>
            <a:lvl2pPr>
              <a:defRPr sz="975" b="1">
                <a:solidFill>
                  <a:srgbClr val="536A6D"/>
                </a:solidFill>
              </a:defRPr>
            </a:lvl2pPr>
            <a:lvl3pPr>
              <a:defRPr sz="975" b="1">
                <a:solidFill>
                  <a:srgbClr val="536A6D"/>
                </a:solidFill>
              </a:defRPr>
            </a:lvl3pPr>
            <a:lvl4pPr>
              <a:defRPr sz="975" b="1">
                <a:solidFill>
                  <a:srgbClr val="536A6D"/>
                </a:solidFill>
              </a:defRPr>
            </a:lvl4pPr>
            <a:lvl5pPr>
              <a:defRPr sz="975" b="1">
                <a:solidFill>
                  <a:srgbClr val="536A6D"/>
                </a:solidFill>
              </a:defRPr>
            </a:lvl5pPr>
            <a:lvl6pPr>
              <a:defRPr sz="975" b="1">
                <a:solidFill>
                  <a:srgbClr val="536A6D"/>
                </a:solidFill>
              </a:defRPr>
            </a:lvl6pPr>
            <a:lvl7pPr>
              <a:defRPr sz="975" b="1">
                <a:solidFill>
                  <a:srgbClr val="536A6D"/>
                </a:solidFill>
              </a:defRPr>
            </a:lvl7pPr>
            <a:lvl8pPr>
              <a:defRPr sz="975" b="1">
                <a:solidFill>
                  <a:srgbClr val="536A6D"/>
                </a:solidFill>
              </a:defRPr>
            </a:lvl8pPr>
            <a:lvl9pPr>
              <a:defRPr sz="975" b="1">
                <a:solidFill>
                  <a:srgbClr val="536A6D"/>
                </a:solidFill>
              </a:defRPr>
            </a:lvl9pPr>
          </a:lstStyle>
          <a:p xmlns:a="http://schemas.openxmlformats.org/drawingml/2006/main">
            <a:pPr>
              <a:defRPr sz="975" b="1">
                <a:solidFill>
                  <a:srgbClr val="536A6D"/>
                </a:solidFill>
              </a:defRPr>
            </a:pPr>
            <a:r>
              <a:rPr sz="975" b="1">
                <a:solidFill>
                  <a:srgbClr val="536A6D"/>
                </a:solidFill>
              </a:rPr>
              <a:t>04</a:t>
            </a:r>
          </a:p>
        </p:txBody>
      </p:sp>
      <p:sp>
        <p:nvSpPr>
          <p:cNvPr id="6" name="">
            <a:extLst xmlns:a="http://schemas.openxmlformats.org/drawingml/2006/main">
              <a:ext uri="{FF2B5EF4-FFF2-40B4-BE49-F238E27FC236}">
                <a16:creationId xmlns:a16="http://schemas.microsoft.com/office/drawing/2014/main" id="{D3B7FC9D-46E9-4779-8C59-B09E0FFD62FF}"/>
              </a:ext>
            </a:extLst>
          </p:cNvPr>
          <p:cNvSpPr>
            <a:spLocks xmlns:a="http://schemas.openxmlformats.org/drawingml/2006/main" noGrp="1"/>
          </p:cNvSpPr>
          <p:nvPr/>
        </p:nvSpPr>
        <p:spPr>
          <a:xfrm xmlns:a="http://schemas.openxmlformats.org/drawingml/2006/main">
            <a:off x="762000" y="2038350"/>
            <a:ext cx="2571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007A7A"/>
                </a:solidFill>
              </a:defRPr>
            </a:defPPr>
            <a:lvl1pPr>
              <a:defRPr sz="3750" b="1">
                <a:solidFill>
                  <a:srgbClr val="007A7A"/>
                </a:solidFill>
              </a:defRPr>
            </a:lvl1pPr>
            <a:lvl2pPr>
              <a:defRPr sz="3750" b="1">
                <a:solidFill>
                  <a:srgbClr val="007A7A"/>
                </a:solidFill>
              </a:defRPr>
            </a:lvl2pPr>
            <a:lvl3pPr>
              <a:defRPr sz="3750" b="1">
                <a:solidFill>
                  <a:srgbClr val="007A7A"/>
                </a:solidFill>
              </a:defRPr>
            </a:lvl3pPr>
            <a:lvl4pPr>
              <a:defRPr sz="3750" b="1">
                <a:solidFill>
                  <a:srgbClr val="007A7A"/>
                </a:solidFill>
              </a:defRPr>
            </a:lvl4pPr>
            <a:lvl5pPr>
              <a:defRPr sz="3750" b="1">
                <a:solidFill>
                  <a:srgbClr val="007A7A"/>
                </a:solidFill>
              </a:defRPr>
            </a:lvl5pPr>
            <a:lvl6pPr>
              <a:defRPr sz="3750" b="1">
                <a:solidFill>
                  <a:srgbClr val="007A7A"/>
                </a:solidFill>
              </a:defRPr>
            </a:lvl6pPr>
            <a:lvl7pPr>
              <a:defRPr sz="3750" b="1">
                <a:solidFill>
                  <a:srgbClr val="007A7A"/>
                </a:solidFill>
              </a:defRPr>
            </a:lvl7pPr>
            <a:lvl8pPr>
              <a:defRPr sz="3750" b="1">
                <a:solidFill>
                  <a:srgbClr val="007A7A"/>
                </a:solidFill>
              </a:defRPr>
            </a:lvl8pPr>
            <a:lvl9pPr>
              <a:defRPr sz="3750" b="1">
                <a:solidFill>
                  <a:srgbClr val="007A7A"/>
                </a:solidFill>
              </a:defRPr>
            </a:lvl9pPr>
          </a:lstStyle>
          <a:p xmlns:a="http://schemas.openxmlformats.org/drawingml/2006/main">
            <a:pPr>
              <a:defRPr sz="3750" b="1">
                <a:solidFill>
                  <a:srgbClr val="007A7A"/>
                </a:solidFill>
              </a:defRPr>
            </a:pPr>
            <a:r>
              <a:rPr sz="3750" b="1">
                <a:solidFill>
                  <a:srgbClr val="007A7A"/>
                </a:solidFill>
              </a:rPr>
              <a:t>8</a:t>
            </a:r>
          </a:p>
        </p:txBody>
      </p:sp>
      <p:sp>
        <p:nvSpPr>
          <p:cNvPr id="7" name="">
            <a:extLst xmlns:a="http://schemas.openxmlformats.org/drawingml/2006/main">
              <a:ext uri="{FF2B5EF4-FFF2-40B4-BE49-F238E27FC236}">
                <a16:creationId xmlns:a16="http://schemas.microsoft.com/office/drawing/2014/main" id="{A8FBA65E-9867-429E-976B-B23C29A3FD32}"/>
              </a:ext>
            </a:extLst>
          </p:cNvPr>
          <p:cNvSpPr>
            <a:spLocks xmlns:a="http://schemas.openxmlformats.org/drawingml/2006/main" noGrp="1"/>
          </p:cNvSpPr>
          <p:nvPr/>
        </p:nvSpPr>
        <p:spPr>
          <a:xfrm xmlns:a="http://schemas.openxmlformats.org/drawingml/2006/main">
            <a:off x="762000" y="2705100"/>
            <a:ext cx="2571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36A6D"/>
                </a:solidFill>
              </a:defRPr>
            </a:defPPr>
            <a:lvl1pPr>
              <a:defRPr sz="1500" b="0">
                <a:solidFill>
                  <a:srgbClr val="536A6D"/>
                </a:solidFill>
              </a:defRPr>
            </a:lvl1pPr>
            <a:lvl2pPr>
              <a:defRPr sz="1500" b="0">
                <a:solidFill>
                  <a:srgbClr val="536A6D"/>
                </a:solidFill>
              </a:defRPr>
            </a:lvl2pPr>
            <a:lvl3pPr>
              <a:defRPr sz="1500" b="0">
                <a:solidFill>
                  <a:srgbClr val="536A6D"/>
                </a:solidFill>
              </a:defRPr>
            </a:lvl3pPr>
            <a:lvl4pPr>
              <a:defRPr sz="1500" b="0">
                <a:solidFill>
                  <a:srgbClr val="536A6D"/>
                </a:solidFill>
              </a:defRPr>
            </a:lvl4pPr>
            <a:lvl5pPr>
              <a:defRPr sz="1500" b="0">
                <a:solidFill>
                  <a:srgbClr val="536A6D"/>
                </a:solidFill>
              </a:defRPr>
            </a:lvl5pPr>
            <a:lvl6pPr>
              <a:defRPr sz="1500" b="0">
                <a:solidFill>
                  <a:srgbClr val="536A6D"/>
                </a:solidFill>
              </a:defRPr>
            </a:lvl6pPr>
            <a:lvl7pPr>
              <a:defRPr sz="1500" b="0">
                <a:solidFill>
                  <a:srgbClr val="536A6D"/>
                </a:solidFill>
              </a:defRPr>
            </a:lvl7pPr>
            <a:lvl8pPr>
              <a:defRPr sz="1500" b="0">
                <a:solidFill>
                  <a:srgbClr val="536A6D"/>
                </a:solidFill>
              </a:defRPr>
            </a:lvl8pPr>
            <a:lvl9pPr>
              <a:defRPr sz="1500" b="0">
                <a:solidFill>
                  <a:srgbClr val="536A6D"/>
                </a:solidFill>
              </a:defRPr>
            </a:lvl9pPr>
          </a:lstStyle>
          <a:p xmlns:a="http://schemas.openxmlformats.org/drawingml/2006/main">
            <a:pPr>
              <a:defRPr sz="1500" b="0">
                <a:solidFill>
                  <a:srgbClr val="536A6D"/>
                </a:solidFill>
              </a:defRPr>
            </a:pPr>
            <a:r>
              <a:rPr sz="1500" b="0">
                <a:solidFill>
                  <a:srgbClr val="536A6D"/>
                </a:solidFill>
              </a:rPr>
              <a:t>routers in the selected European topology</a:t>
            </a:r>
          </a:p>
        </p:txBody>
      </p:sp>
      <p:sp>
        <p:nvSpPr>
          <p:cNvPr id="8" name="">
            <a:extLst xmlns:a="http://schemas.openxmlformats.org/drawingml/2006/main">
              <a:ext uri="{FF2B5EF4-FFF2-40B4-BE49-F238E27FC236}">
                <a16:creationId xmlns:a16="http://schemas.microsoft.com/office/drawing/2014/main" id="{99811734-EEE7-4E60-9749-F87C1DD6C18B}"/>
              </a:ext>
            </a:extLst>
          </p:cNvPr>
          <p:cNvSpPr>
            <a:spLocks xmlns:a="http://schemas.openxmlformats.org/drawingml/2006/main" noGrp="1"/>
          </p:cNvSpPr>
          <p:nvPr/>
        </p:nvSpPr>
        <p:spPr>
          <a:xfrm xmlns:a="http://schemas.openxmlformats.org/drawingml/2006/main">
            <a:off x="4143375" y="2038350"/>
            <a:ext cx="266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007A7A"/>
                </a:solidFill>
              </a:defRPr>
            </a:defPPr>
            <a:lvl1pPr>
              <a:defRPr sz="3750" b="1">
                <a:solidFill>
                  <a:srgbClr val="007A7A"/>
                </a:solidFill>
              </a:defRPr>
            </a:lvl1pPr>
            <a:lvl2pPr>
              <a:defRPr sz="3750" b="1">
                <a:solidFill>
                  <a:srgbClr val="007A7A"/>
                </a:solidFill>
              </a:defRPr>
            </a:lvl2pPr>
            <a:lvl3pPr>
              <a:defRPr sz="3750" b="1">
                <a:solidFill>
                  <a:srgbClr val="007A7A"/>
                </a:solidFill>
              </a:defRPr>
            </a:lvl3pPr>
            <a:lvl4pPr>
              <a:defRPr sz="3750" b="1">
                <a:solidFill>
                  <a:srgbClr val="007A7A"/>
                </a:solidFill>
              </a:defRPr>
            </a:lvl4pPr>
            <a:lvl5pPr>
              <a:defRPr sz="3750" b="1">
                <a:solidFill>
                  <a:srgbClr val="007A7A"/>
                </a:solidFill>
              </a:defRPr>
            </a:lvl5pPr>
            <a:lvl6pPr>
              <a:defRPr sz="3750" b="1">
                <a:solidFill>
                  <a:srgbClr val="007A7A"/>
                </a:solidFill>
              </a:defRPr>
            </a:lvl6pPr>
            <a:lvl7pPr>
              <a:defRPr sz="3750" b="1">
                <a:solidFill>
                  <a:srgbClr val="007A7A"/>
                </a:solidFill>
              </a:defRPr>
            </a:lvl7pPr>
            <a:lvl8pPr>
              <a:defRPr sz="3750" b="1">
                <a:solidFill>
                  <a:srgbClr val="007A7A"/>
                </a:solidFill>
              </a:defRPr>
            </a:lvl8pPr>
            <a:lvl9pPr>
              <a:defRPr sz="3750" b="1">
                <a:solidFill>
                  <a:srgbClr val="007A7A"/>
                </a:solidFill>
              </a:defRPr>
            </a:lvl9pPr>
          </a:lstStyle>
          <a:p xmlns:a="http://schemas.openxmlformats.org/drawingml/2006/main">
            <a:pPr>
              <a:defRPr sz="3750" b="1">
                <a:solidFill>
                  <a:srgbClr val="007A7A"/>
                </a:solidFill>
              </a:defRPr>
            </a:pPr>
            <a:r>
              <a:rPr sz="3750" b="1">
                <a:solidFill>
                  <a:srgbClr val="007A7A"/>
                </a:solidFill>
              </a:rPr>
              <a:t>11</a:t>
            </a:r>
          </a:p>
        </p:txBody>
      </p:sp>
      <p:sp>
        <p:nvSpPr>
          <p:cNvPr id="9" name="">
            <a:extLst xmlns:a="http://schemas.openxmlformats.org/drawingml/2006/main">
              <a:ext uri="{FF2B5EF4-FFF2-40B4-BE49-F238E27FC236}">
                <a16:creationId xmlns:a16="http://schemas.microsoft.com/office/drawing/2014/main" id="{5D3CA3B4-6CC6-466E-BF58-538225C46985}"/>
              </a:ext>
            </a:extLst>
          </p:cNvPr>
          <p:cNvSpPr>
            <a:spLocks xmlns:a="http://schemas.openxmlformats.org/drawingml/2006/main" noGrp="1"/>
          </p:cNvSpPr>
          <p:nvPr/>
        </p:nvSpPr>
        <p:spPr>
          <a:xfrm xmlns:a="http://schemas.openxmlformats.org/drawingml/2006/main">
            <a:off x="4143375" y="2705100"/>
            <a:ext cx="266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36A6D"/>
                </a:solidFill>
              </a:defRPr>
            </a:defPPr>
            <a:lvl1pPr>
              <a:defRPr sz="1500" b="0">
                <a:solidFill>
                  <a:srgbClr val="536A6D"/>
                </a:solidFill>
              </a:defRPr>
            </a:lvl1pPr>
            <a:lvl2pPr>
              <a:defRPr sz="1500" b="0">
                <a:solidFill>
                  <a:srgbClr val="536A6D"/>
                </a:solidFill>
              </a:defRPr>
            </a:lvl2pPr>
            <a:lvl3pPr>
              <a:defRPr sz="1500" b="0">
                <a:solidFill>
                  <a:srgbClr val="536A6D"/>
                </a:solidFill>
              </a:defRPr>
            </a:lvl3pPr>
            <a:lvl4pPr>
              <a:defRPr sz="1500" b="0">
                <a:solidFill>
                  <a:srgbClr val="536A6D"/>
                </a:solidFill>
              </a:defRPr>
            </a:lvl4pPr>
            <a:lvl5pPr>
              <a:defRPr sz="1500" b="0">
                <a:solidFill>
                  <a:srgbClr val="536A6D"/>
                </a:solidFill>
              </a:defRPr>
            </a:lvl5pPr>
            <a:lvl6pPr>
              <a:defRPr sz="1500" b="0">
                <a:solidFill>
                  <a:srgbClr val="536A6D"/>
                </a:solidFill>
              </a:defRPr>
            </a:lvl6pPr>
            <a:lvl7pPr>
              <a:defRPr sz="1500" b="0">
                <a:solidFill>
                  <a:srgbClr val="536A6D"/>
                </a:solidFill>
              </a:defRPr>
            </a:lvl7pPr>
            <a:lvl8pPr>
              <a:defRPr sz="1500" b="0">
                <a:solidFill>
                  <a:srgbClr val="536A6D"/>
                </a:solidFill>
              </a:defRPr>
            </a:lvl8pPr>
            <a:lvl9pPr>
              <a:defRPr sz="1500" b="0">
                <a:solidFill>
                  <a:srgbClr val="536A6D"/>
                </a:solidFill>
              </a:defRPr>
            </a:lvl9pPr>
          </a:lstStyle>
          <a:p xmlns:a="http://schemas.openxmlformats.org/drawingml/2006/main">
            <a:pPr>
              <a:defRPr sz="1500" b="0">
                <a:solidFill>
                  <a:srgbClr val="536A6D"/>
                </a:solidFill>
              </a:defRPr>
            </a:pPr>
            <a:r>
              <a:rPr sz="1500" b="0">
                <a:solidFill>
                  <a:srgbClr val="536A6D"/>
                </a:solidFill>
              </a:rPr>
              <a:t>physical links in the subgraph</a:t>
            </a:r>
          </a:p>
        </p:txBody>
      </p:sp>
      <p:sp>
        <p:nvSpPr>
          <p:cNvPr id="10" name="">
            <a:extLst xmlns:a="http://schemas.openxmlformats.org/drawingml/2006/main">
              <a:ext uri="{FF2B5EF4-FFF2-40B4-BE49-F238E27FC236}">
                <a16:creationId xmlns:a16="http://schemas.microsoft.com/office/drawing/2014/main" id="{FB966974-0872-4F9E-AC2F-9734C3DD2F28}"/>
              </a:ext>
            </a:extLst>
          </p:cNvPr>
          <p:cNvSpPr>
            <a:spLocks xmlns:a="http://schemas.openxmlformats.org/drawingml/2006/main" noGrp="1"/>
          </p:cNvSpPr>
          <p:nvPr/>
        </p:nvSpPr>
        <p:spPr>
          <a:xfrm xmlns:a="http://schemas.openxmlformats.org/drawingml/2006/main">
            <a:off x="7677150" y="2038350"/>
            <a:ext cx="276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007A7A"/>
                </a:solidFill>
              </a:defRPr>
            </a:defPPr>
            <a:lvl1pPr>
              <a:defRPr sz="3750" b="1">
                <a:solidFill>
                  <a:srgbClr val="007A7A"/>
                </a:solidFill>
              </a:defRPr>
            </a:lvl1pPr>
            <a:lvl2pPr>
              <a:defRPr sz="3750" b="1">
                <a:solidFill>
                  <a:srgbClr val="007A7A"/>
                </a:solidFill>
              </a:defRPr>
            </a:lvl2pPr>
            <a:lvl3pPr>
              <a:defRPr sz="3750" b="1">
                <a:solidFill>
                  <a:srgbClr val="007A7A"/>
                </a:solidFill>
              </a:defRPr>
            </a:lvl3pPr>
            <a:lvl4pPr>
              <a:defRPr sz="3750" b="1">
                <a:solidFill>
                  <a:srgbClr val="007A7A"/>
                </a:solidFill>
              </a:defRPr>
            </a:lvl4pPr>
            <a:lvl5pPr>
              <a:defRPr sz="3750" b="1">
                <a:solidFill>
                  <a:srgbClr val="007A7A"/>
                </a:solidFill>
              </a:defRPr>
            </a:lvl5pPr>
            <a:lvl6pPr>
              <a:defRPr sz="3750" b="1">
                <a:solidFill>
                  <a:srgbClr val="007A7A"/>
                </a:solidFill>
              </a:defRPr>
            </a:lvl6pPr>
            <a:lvl7pPr>
              <a:defRPr sz="3750" b="1">
                <a:solidFill>
                  <a:srgbClr val="007A7A"/>
                </a:solidFill>
              </a:defRPr>
            </a:lvl7pPr>
            <a:lvl8pPr>
              <a:defRPr sz="3750" b="1">
                <a:solidFill>
                  <a:srgbClr val="007A7A"/>
                </a:solidFill>
              </a:defRPr>
            </a:lvl8pPr>
            <a:lvl9pPr>
              <a:defRPr sz="3750" b="1">
                <a:solidFill>
                  <a:srgbClr val="007A7A"/>
                </a:solidFill>
              </a:defRPr>
            </a:lvl9pPr>
          </a:lstStyle>
          <a:p xmlns:a="http://schemas.openxmlformats.org/drawingml/2006/main">
            <a:pPr>
              <a:defRPr sz="3750" b="1">
                <a:solidFill>
                  <a:srgbClr val="007A7A"/>
                </a:solidFill>
              </a:defRPr>
            </a:pPr>
            <a:r>
              <a:rPr sz="3750" b="1">
                <a:solidFill>
                  <a:srgbClr val="007A7A"/>
                </a:solidFill>
              </a:rPr>
              <a:t>6</a:t>
            </a:r>
          </a:p>
        </p:txBody>
      </p:sp>
      <p:sp>
        <p:nvSpPr>
          <p:cNvPr id="11" name="">
            <a:extLst xmlns:a="http://schemas.openxmlformats.org/drawingml/2006/main">
              <a:ext uri="{FF2B5EF4-FFF2-40B4-BE49-F238E27FC236}">
                <a16:creationId xmlns:a16="http://schemas.microsoft.com/office/drawing/2014/main" id="{031CBF59-7C14-47B0-99A2-B6FD302E7977}"/>
              </a:ext>
            </a:extLst>
          </p:cNvPr>
          <p:cNvSpPr>
            <a:spLocks xmlns:a="http://schemas.openxmlformats.org/drawingml/2006/main" noGrp="1"/>
          </p:cNvSpPr>
          <p:nvPr/>
        </p:nvSpPr>
        <p:spPr>
          <a:xfrm xmlns:a="http://schemas.openxmlformats.org/drawingml/2006/main">
            <a:off x="7677150" y="2705100"/>
            <a:ext cx="2762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36A6D"/>
                </a:solidFill>
              </a:defRPr>
            </a:defPPr>
            <a:lvl1pPr>
              <a:defRPr sz="1500" b="0">
                <a:solidFill>
                  <a:srgbClr val="536A6D"/>
                </a:solidFill>
              </a:defRPr>
            </a:lvl1pPr>
            <a:lvl2pPr>
              <a:defRPr sz="1500" b="0">
                <a:solidFill>
                  <a:srgbClr val="536A6D"/>
                </a:solidFill>
              </a:defRPr>
            </a:lvl2pPr>
            <a:lvl3pPr>
              <a:defRPr sz="1500" b="0">
                <a:solidFill>
                  <a:srgbClr val="536A6D"/>
                </a:solidFill>
              </a:defRPr>
            </a:lvl3pPr>
            <a:lvl4pPr>
              <a:defRPr sz="1500" b="0">
                <a:solidFill>
                  <a:srgbClr val="536A6D"/>
                </a:solidFill>
              </a:defRPr>
            </a:lvl4pPr>
            <a:lvl5pPr>
              <a:defRPr sz="1500" b="0">
                <a:solidFill>
                  <a:srgbClr val="536A6D"/>
                </a:solidFill>
              </a:defRPr>
            </a:lvl5pPr>
            <a:lvl6pPr>
              <a:defRPr sz="1500" b="0">
                <a:solidFill>
                  <a:srgbClr val="536A6D"/>
                </a:solidFill>
              </a:defRPr>
            </a:lvl6pPr>
            <a:lvl7pPr>
              <a:defRPr sz="1500" b="0">
                <a:solidFill>
                  <a:srgbClr val="536A6D"/>
                </a:solidFill>
              </a:defRPr>
            </a:lvl7pPr>
            <a:lvl8pPr>
              <a:defRPr sz="1500" b="0">
                <a:solidFill>
                  <a:srgbClr val="536A6D"/>
                </a:solidFill>
              </a:defRPr>
            </a:lvl8pPr>
            <a:lvl9pPr>
              <a:defRPr sz="1500" b="0">
                <a:solidFill>
                  <a:srgbClr val="536A6D"/>
                </a:solidFill>
              </a:defRPr>
            </a:lvl9pPr>
          </a:lstStyle>
          <a:p xmlns:a="http://schemas.openxmlformats.org/drawingml/2006/main">
            <a:pPr>
              <a:defRPr sz="1500" b="0">
                <a:solidFill>
                  <a:srgbClr val="536A6D"/>
                </a:solidFill>
              </a:defRPr>
            </a:pPr>
            <a:r>
              <a:rPr sz="1500" b="0">
                <a:solidFill>
                  <a:srgbClr val="536A6D"/>
                </a:solidFill>
              </a:rPr>
              <a:t>directed origin–destination flows</a:t>
            </a:r>
          </a:p>
        </p:txBody>
      </p:sp>
      <p:sp>
        <p:nvSpPr>
          <p:cNvPr id="12" name="">
            <a:extLst xmlns:a="http://schemas.openxmlformats.org/drawingml/2006/main">
              <a:ext uri="{FF2B5EF4-FFF2-40B4-BE49-F238E27FC236}">
                <a16:creationId xmlns:a16="http://schemas.microsoft.com/office/drawing/2014/main" id="{47C4FBED-3EE4-47E4-B96E-D15B7E5E0408}"/>
              </a:ext>
            </a:extLst>
          </p:cNvPr>
          <p:cNvSpPr>
            <a:spLocks xmlns:a="http://schemas.openxmlformats.org/drawingml/2006/main" noGrp="1"/>
          </p:cNvSpPr>
          <p:nvPr/>
        </p:nvSpPr>
        <p:spPr>
          <a:xfrm xmlns:a="http://schemas.openxmlformats.org/drawingml/2006/main">
            <a:off x="742950" y="3638550"/>
            <a:ext cx="10363200" cy="19050"/>
          </a:xfrm>
          <a:prstGeom xmlns:a="http://schemas.openxmlformats.org/drawingml/2006/main" prst="rect">
            <a:avLst/>
          </a:prstGeom>
          <a:solidFill xmlns:a="http://schemas.openxmlformats.org/drawingml/2006/main">
            <a:srgbClr val="C9D5D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7FDB258-55F1-4753-9C61-48D45E301253}"/>
              </a:ext>
            </a:extLst>
          </p:cNvPr>
          <p:cNvSpPr>
            <a:spLocks xmlns:a="http://schemas.openxmlformats.org/drawingml/2006/main" noGrp="1"/>
          </p:cNvSpPr>
          <p:nvPr/>
        </p:nvSpPr>
        <p:spPr>
          <a:xfrm xmlns:a="http://schemas.openxmlformats.org/drawingml/2006/main">
            <a:off x="762000" y="39624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A7A"/>
                </a:solidFill>
              </a:defRPr>
            </a:defPPr>
            <a:lvl1pPr>
              <a:defRPr sz="1725" b="1">
                <a:solidFill>
                  <a:srgbClr val="007A7A"/>
                </a:solidFill>
              </a:defRPr>
            </a:lvl1pPr>
            <a:lvl2pPr>
              <a:defRPr sz="1725" b="1">
                <a:solidFill>
                  <a:srgbClr val="007A7A"/>
                </a:solidFill>
              </a:defRPr>
            </a:lvl2pPr>
            <a:lvl3pPr>
              <a:defRPr sz="1725" b="1">
                <a:solidFill>
                  <a:srgbClr val="007A7A"/>
                </a:solidFill>
              </a:defRPr>
            </a:lvl3pPr>
            <a:lvl4pPr>
              <a:defRPr sz="1725" b="1">
                <a:solidFill>
                  <a:srgbClr val="007A7A"/>
                </a:solidFill>
              </a:defRPr>
            </a:lvl4pPr>
            <a:lvl5pPr>
              <a:defRPr sz="1725" b="1">
                <a:solidFill>
                  <a:srgbClr val="007A7A"/>
                </a:solidFill>
              </a:defRPr>
            </a:lvl5pPr>
            <a:lvl6pPr>
              <a:defRPr sz="1725" b="1">
                <a:solidFill>
                  <a:srgbClr val="007A7A"/>
                </a:solidFill>
              </a:defRPr>
            </a:lvl6pPr>
            <a:lvl7pPr>
              <a:defRPr sz="1725" b="1">
                <a:solidFill>
                  <a:srgbClr val="007A7A"/>
                </a:solidFill>
              </a:defRPr>
            </a:lvl7pPr>
            <a:lvl8pPr>
              <a:defRPr sz="1725" b="1">
                <a:solidFill>
                  <a:srgbClr val="007A7A"/>
                </a:solidFill>
              </a:defRPr>
            </a:lvl8pPr>
            <a:lvl9pPr>
              <a:defRPr sz="1725" b="1">
                <a:solidFill>
                  <a:srgbClr val="007A7A"/>
                </a:solidFill>
              </a:defRPr>
            </a:lvl9pPr>
          </a:lstStyle>
          <a:p xmlns:a="http://schemas.openxmlformats.org/drawingml/2006/main">
            <a:pPr>
              <a:defRPr sz="1725" b="1">
                <a:solidFill>
                  <a:srgbClr val="007A7A"/>
                </a:solidFill>
              </a:defRPr>
            </a:pPr>
            <a:r>
              <a:rPr sz="1725" b="1">
                <a:solidFill>
                  <a:srgbClr val="007A7A"/>
                </a:solidFill>
              </a:rPr>
              <a:t>Traffic replay</a:t>
            </a:r>
          </a:p>
        </p:txBody>
      </p:sp>
      <p:sp>
        <p:nvSpPr>
          <p:cNvPr id="14" name="">
            <a:extLst xmlns:a="http://schemas.openxmlformats.org/drawingml/2006/main">
              <a:ext uri="{FF2B5EF4-FFF2-40B4-BE49-F238E27FC236}">
                <a16:creationId xmlns:a16="http://schemas.microsoft.com/office/drawing/2014/main" id="{B6CC8FFB-14C5-4C2B-A11E-FC5C76F21CD9}"/>
              </a:ext>
            </a:extLst>
          </p:cNvPr>
          <p:cNvSpPr>
            <a:spLocks xmlns:a="http://schemas.openxmlformats.org/drawingml/2006/main" noGrp="1"/>
          </p:cNvSpPr>
          <p:nvPr/>
        </p:nvSpPr>
        <p:spPr>
          <a:xfrm xmlns:a="http://schemas.openxmlformats.org/drawingml/2006/main">
            <a:off x="762000" y="4391025"/>
            <a:ext cx="4762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52F34"/>
                </a:solidFill>
              </a:defRPr>
            </a:defPPr>
            <a:lvl1pPr>
              <a:defRPr sz="1575" b="0">
                <a:solidFill>
                  <a:srgbClr val="152F34"/>
                </a:solidFill>
              </a:defRPr>
            </a:lvl1pPr>
            <a:lvl2pPr>
              <a:defRPr sz="1575" b="0">
                <a:solidFill>
                  <a:srgbClr val="152F34"/>
                </a:solidFill>
              </a:defRPr>
            </a:lvl2pPr>
            <a:lvl3pPr>
              <a:defRPr sz="1575" b="0">
                <a:solidFill>
                  <a:srgbClr val="152F34"/>
                </a:solidFill>
              </a:defRPr>
            </a:lvl3pPr>
            <a:lvl4pPr>
              <a:defRPr sz="1575" b="0">
                <a:solidFill>
                  <a:srgbClr val="152F34"/>
                </a:solidFill>
              </a:defRPr>
            </a:lvl4pPr>
            <a:lvl5pPr>
              <a:defRPr sz="1575" b="0">
                <a:solidFill>
                  <a:srgbClr val="152F34"/>
                </a:solidFill>
              </a:defRPr>
            </a:lvl5pPr>
            <a:lvl6pPr>
              <a:defRPr sz="1575" b="0">
                <a:solidFill>
                  <a:srgbClr val="152F34"/>
                </a:solidFill>
              </a:defRPr>
            </a:lvl6pPr>
            <a:lvl7pPr>
              <a:defRPr sz="1575" b="0">
                <a:solidFill>
                  <a:srgbClr val="152F34"/>
                </a:solidFill>
              </a:defRPr>
            </a:lvl7pPr>
            <a:lvl8pPr>
              <a:defRPr sz="1575" b="0">
                <a:solidFill>
                  <a:srgbClr val="152F34"/>
                </a:solidFill>
              </a:defRPr>
            </a:lvl8pPr>
            <a:lvl9pPr>
              <a:defRPr sz="1575" b="0">
                <a:solidFill>
                  <a:srgbClr val="152F34"/>
                </a:solidFill>
              </a:defRPr>
            </a:lvl9pPr>
          </a:lstStyle>
          <a:p xmlns:a="http://schemas.openxmlformats.org/drawingml/2006/main">
            <a:pPr>
              <a:defRPr sz="1575" b="0">
                <a:solidFill>
                  <a:srgbClr val="152F34"/>
                </a:solidFill>
              </a:defRPr>
            </a:pPr>
            <a:r>
              <a:rPr sz="1575" b="0">
                <a:solidFill>
                  <a:srgbClr val="152F34"/>
                </a:solidFill>
              </a:rPr>
              <a:t>SNDlib GÉANT measurements from 2005, sampled every 15 minutes.</a:t>
            </a:r>
          </a:p>
        </p:txBody>
      </p:sp>
      <p:sp>
        <p:nvSpPr>
          <p:cNvPr id="15" name="">
            <a:extLst xmlns:a="http://schemas.openxmlformats.org/drawingml/2006/main">
              <a:ext uri="{FF2B5EF4-FFF2-40B4-BE49-F238E27FC236}">
                <a16:creationId xmlns:a16="http://schemas.microsoft.com/office/drawing/2014/main" id="{6FE9CC35-572F-48A1-8DD9-5FAA6D25B359}"/>
              </a:ext>
            </a:extLst>
          </p:cNvPr>
          <p:cNvSpPr>
            <a:spLocks xmlns:a="http://schemas.openxmlformats.org/drawingml/2006/main" noGrp="1"/>
          </p:cNvSpPr>
          <p:nvPr/>
        </p:nvSpPr>
        <p:spPr>
          <a:xfrm xmlns:a="http://schemas.openxmlformats.org/drawingml/2006/main">
            <a:off x="6143625" y="39624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007A7A"/>
                </a:solidFill>
              </a:defRPr>
            </a:defPPr>
            <a:lvl1pPr>
              <a:defRPr sz="1725" b="1">
                <a:solidFill>
                  <a:srgbClr val="007A7A"/>
                </a:solidFill>
              </a:defRPr>
            </a:lvl1pPr>
            <a:lvl2pPr>
              <a:defRPr sz="1725" b="1">
                <a:solidFill>
                  <a:srgbClr val="007A7A"/>
                </a:solidFill>
              </a:defRPr>
            </a:lvl2pPr>
            <a:lvl3pPr>
              <a:defRPr sz="1725" b="1">
                <a:solidFill>
                  <a:srgbClr val="007A7A"/>
                </a:solidFill>
              </a:defRPr>
            </a:lvl3pPr>
            <a:lvl4pPr>
              <a:defRPr sz="1725" b="1">
                <a:solidFill>
                  <a:srgbClr val="007A7A"/>
                </a:solidFill>
              </a:defRPr>
            </a:lvl4pPr>
            <a:lvl5pPr>
              <a:defRPr sz="1725" b="1">
                <a:solidFill>
                  <a:srgbClr val="007A7A"/>
                </a:solidFill>
              </a:defRPr>
            </a:lvl5pPr>
            <a:lvl6pPr>
              <a:defRPr sz="1725" b="1">
                <a:solidFill>
                  <a:srgbClr val="007A7A"/>
                </a:solidFill>
              </a:defRPr>
            </a:lvl6pPr>
            <a:lvl7pPr>
              <a:defRPr sz="1725" b="1">
                <a:solidFill>
                  <a:srgbClr val="007A7A"/>
                </a:solidFill>
              </a:defRPr>
            </a:lvl7pPr>
            <a:lvl8pPr>
              <a:defRPr sz="1725" b="1">
                <a:solidFill>
                  <a:srgbClr val="007A7A"/>
                </a:solidFill>
              </a:defRPr>
            </a:lvl8pPr>
            <a:lvl9pPr>
              <a:defRPr sz="1725" b="1">
                <a:solidFill>
                  <a:srgbClr val="007A7A"/>
                </a:solidFill>
              </a:defRPr>
            </a:lvl9pPr>
          </a:lstStyle>
          <a:p xmlns:a="http://schemas.openxmlformats.org/drawingml/2006/main">
            <a:pPr>
              <a:defRPr sz="1725" b="1">
                <a:solidFill>
                  <a:srgbClr val="007A7A"/>
                </a:solidFill>
              </a:defRPr>
            </a:pPr>
            <a:r>
              <a:rPr sz="1725" b="1">
                <a:solidFill>
                  <a:srgbClr val="007A7A"/>
                </a:solidFill>
              </a:rPr>
              <a:t>Grid signal</a:t>
            </a:r>
          </a:p>
        </p:txBody>
      </p:sp>
      <p:sp>
        <p:nvSpPr>
          <p:cNvPr id="16" name="">
            <a:extLst xmlns:a="http://schemas.openxmlformats.org/drawingml/2006/main">
              <a:ext uri="{FF2B5EF4-FFF2-40B4-BE49-F238E27FC236}">
                <a16:creationId xmlns:a16="http://schemas.microsoft.com/office/drawing/2014/main" id="{B7A2BF53-6645-4143-804A-A349739956BA}"/>
              </a:ext>
            </a:extLst>
          </p:cNvPr>
          <p:cNvSpPr>
            <a:spLocks xmlns:a="http://schemas.openxmlformats.org/drawingml/2006/main" noGrp="1"/>
          </p:cNvSpPr>
          <p:nvPr/>
        </p:nvSpPr>
        <p:spPr>
          <a:xfrm xmlns:a="http://schemas.openxmlformats.org/drawingml/2006/main">
            <a:off x="6143625" y="4391025"/>
            <a:ext cx="46672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52F34"/>
                </a:solidFill>
              </a:defRPr>
            </a:defPPr>
            <a:lvl1pPr>
              <a:defRPr sz="1575" b="0">
                <a:solidFill>
                  <a:srgbClr val="152F34"/>
                </a:solidFill>
              </a:defRPr>
            </a:lvl1pPr>
            <a:lvl2pPr>
              <a:defRPr sz="1575" b="0">
                <a:solidFill>
                  <a:srgbClr val="152F34"/>
                </a:solidFill>
              </a:defRPr>
            </a:lvl2pPr>
            <a:lvl3pPr>
              <a:defRPr sz="1575" b="0">
                <a:solidFill>
                  <a:srgbClr val="152F34"/>
                </a:solidFill>
              </a:defRPr>
            </a:lvl3pPr>
            <a:lvl4pPr>
              <a:defRPr sz="1575" b="0">
                <a:solidFill>
                  <a:srgbClr val="152F34"/>
                </a:solidFill>
              </a:defRPr>
            </a:lvl4pPr>
            <a:lvl5pPr>
              <a:defRPr sz="1575" b="0">
                <a:solidFill>
                  <a:srgbClr val="152F34"/>
                </a:solidFill>
              </a:defRPr>
            </a:lvl5pPr>
            <a:lvl6pPr>
              <a:defRPr sz="1575" b="0">
                <a:solidFill>
                  <a:srgbClr val="152F34"/>
                </a:solidFill>
              </a:defRPr>
            </a:lvl6pPr>
            <a:lvl7pPr>
              <a:defRPr sz="1575" b="0">
                <a:solidFill>
                  <a:srgbClr val="152F34"/>
                </a:solidFill>
              </a:defRPr>
            </a:lvl7pPr>
            <a:lvl8pPr>
              <a:defRPr sz="1575" b="0">
                <a:solidFill>
                  <a:srgbClr val="152F34"/>
                </a:solidFill>
              </a:defRPr>
            </a:lvl8pPr>
            <a:lvl9pPr>
              <a:defRPr sz="1575" b="0">
                <a:solidFill>
                  <a:srgbClr val="152F34"/>
                </a:solidFill>
              </a:defRPr>
            </a:lvl9pPr>
          </a:lstStyle>
          <a:p xmlns:a="http://schemas.openxmlformats.org/drawingml/2006/main">
            <a:pPr>
              <a:defRPr sz="1575" b="0">
                <a:solidFill>
                  <a:srgbClr val="152F34"/>
                </a:solidFill>
              </a:defRPr>
            </a:pPr>
            <a:r>
              <a:rPr sz="1575" b="0">
                <a:solidFill>
                  <a:srgbClr val="152F34"/>
                </a:solidFill>
              </a:rPr>
              <a:t>Public ECON-PowerCI country data from 2022–24, one value per day.</a:t>
            </a:r>
          </a:p>
        </p:txBody>
      </p:sp>
      <p:sp>
        <p:nvSpPr>
          <p:cNvPr id="17" name="">
            <a:extLst xmlns:a="http://schemas.openxmlformats.org/drawingml/2006/main">
              <a:ext uri="{FF2B5EF4-FFF2-40B4-BE49-F238E27FC236}">
                <a16:creationId xmlns:a16="http://schemas.microsoft.com/office/drawing/2014/main" id="{6D66BCEE-61C9-4854-8EF6-636573B2CDC5}"/>
              </a:ext>
            </a:extLst>
          </p:cNvPr>
          <p:cNvSpPr>
            <a:spLocks xmlns:a="http://schemas.openxmlformats.org/drawingml/2006/main" noGrp="1"/>
          </p:cNvSpPr>
          <p:nvPr/>
        </p:nvSpPr>
        <p:spPr>
          <a:xfrm xmlns:a="http://schemas.openxmlformats.org/drawingml/2006/main">
            <a:off x="762000" y="5581650"/>
            <a:ext cx="102870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1">
                <a:solidFill>
                  <a:srgbClr val="C95C43"/>
                </a:solidFill>
              </a:defRPr>
            </a:defPPr>
            <a:lvl1pPr>
              <a:defRPr sz="1350" b="1">
                <a:solidFill>
                  <a:srgbClr val="C95C43"/>
                </a:solidFill>
              </a:defRPr>
            </a:lvl1pPr>
            <a:lvl2pPr>
              <a:defRPr sz="1350" b="1">
                <a:solidFill>
                  <a:srgbClr val="C95C43"/>
                </a:solidFill>
              </a:defRPr>
            </a:lvl2pPr>
            <a:lvl3pPr>
              <a:defRPr sz="1350" b="1">
                <a:solidFill>
                  <a:srgbClr val="C95C43"/>
                </a:solidFill>
              </a:defRPr>
            </a:lvl3pPr>
            <a:lvl4pPr>
              <a:defRPr sz="1350" b="1">
                <a:solidFill>
                  <a:srgbClr val="C95C43"/>
                </a:solidFill>
              </a:defRPr>
            </a:lvl4pPr>
            <a:lvl5pPr>
              <a:defRPr sz="1350" b="1">
                <a:solidFill>
                  <a:srgbClr val="C95C43"/>
                </a:solidFill>
              </a:defRPr>
            </a:lvl5pPr>
            <a:lvl6pPr>
              <a:defRPr sz="1350" b="1">
                <a:solidFill>
                  <a:srgbClr val="C95C43"/>
                </a:solidFill>
              </a:defRPr>
            </a:lvl6pPr>
            <a:lvl7pPr>
              <a:defRPr sz="1350" b="1">
                <a:solidFill>
                  <a:srgbClr val="C95C43"/>
                </a:solidFill>
              </a:defRPr>
            </a:lvl7pPr>
            <a:lvl8pPr>
              <a:defRPr sz="1350" b="1">
                <a:solidFill>
                  <a:srgbClr val="C95C43"/>
                </a:solidFill>
              </a:defRPr>
            </a:lvl8pPr>
            <a:lvl9pPr>
              <a:defRPr sz="1350" b="1">
                <a:solidFill>
                  <a:srgbClr val="C95C43"/>
                </a:solidFill>
              </a:defRPr>
            </a:lvl9pPr>
          </a:lstStyle>
          <a:p xmlns:a="http://schemas.openxmlformats.org/drawingml/2006/main">
            <a:pPr>
              <a:defRPr sz="1350" b="1">
                <a:solidFill>
                  <a:srgbClr val="C95C43"/>
                </a:solidFill>
              </a:defRPr>
            </a:pPr>
            <a:r>
              <a:rPr sz="1350" b="1">
                <a:solidFill>
                  <a:srgbClr val="C95C43"/>
                </a:solidFill>
              </a:rPr>
              <a:t>Dates are matched by season and weekday for a counterfactual replay. The 2005 network did not operate on the 2022–24 grid.</a:t>
            </a:r>
          </a:p>
        </p:txBody>
      </p:sp>
    </p:spTree>
    <p:extLst>
      <p:ext uri="{BB962C8B-B14F-4D97-AF65-F5344CB8AC3E}">
        <p14:creationId xmlns:p14="http://schemas.microsoft.com/office/powerpoint/2010/main" val="1576142145"/>
      </p:ext>
    </p:extLst>
  </p:cSld>
</p:sld>
</file>

<file path=ppt/slides/slide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72BD16A-06C3-48C3-BF0F-4CCB3F9CDF86}"/>
              </a:ext>
            </a:extLst>
          </p:cNvPr>
          <p:cNvSpPr>
            <a:spLocks xmlns:a="http://schemas.openxmlformats.org/drawingml/2006/main" noGrp="1"/>
          </p:cNvSpPr>
          <p:nvPr/>
        </p:nvSpPr>
        <p:spPr>
          <a:xfrm xmlns:a="http://schemas.openxmlformats.org/drawingml/2006/main">
            <a:off x="647700" y="30480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6D"/>
                </a:solidFill>
              </a:defRPr>
            </a:defPPr>
            <a:lvl1pPr>
              <a:defRPr sz="1050" b="1">
                <a:solidFill>
                  <a:srgbClr val="536A6D"/>
                </a:solidFill>
              </a:defRPr>
            </a:lvl1pPr>
            <a:lvl2pPr>
              <a:defRPr sz="1050" b="1">
                <a:solidFill>
                  <a:srgbClr val="536A6D"/>
                </a:solidFill>
              </a:defRPr>
            </a:lvl2pPr>
            <a:lvl3pPr>
              <a:defRPr sz="1050" b="1">
                <a:solidFill>
                  <a:srgbClr val="536A6D"/>
                </a:solidFill>
              </a:defRPr>
            </a:lvl3pPr>
            <a:lvl4pPr>
              <a:defRPr sz="1050" b="1">
                <a:solidFill>
                  <a:srgbClr val="536A6D"/>
                </a:solidFill>
              </a:defRPr>
            </a:lvl4pPr>
            <a:lvl5pPr>
              <a:defRPr sz="1050" b="1">
                <a:solidFill>
                  <a:srgbClr val="536A6D"/>
                </a:solidFill>
              </a:defRPr>
            </a:lvl5pPr>
            <a:lvl6pPr>
              <a:defRPr sz="1050" b="1">
                <a:solidFill>
                  <a:srgbClr val="536A6D"/>
                </a:solidFill>
              </a:defRPr>
            </a:lvl6pPr>
            <a:lvl7pPr>
              <a:defRPr sz="1050" b="1">
                <a:solidFill>
                  <a:srgbClr val="536A6D"/>
                </a:solidFill>
              </a:defRPr>
            </a:lvl7pPr>
            <a:lvl8pPr>
              <a:defRPr sz="1050" b="1">
                <a:solidFill>
                  <a:srgbClr val="536A6D"/>
                </a:solidFill>
              </a:defRPr>
            </a:lvl8pPr>
            <a:lvl9pPr>
              <a:defRPr sz="1050" b="1">
                <a:solidFill>
                  <a:srgbClr val="536A6D"/>
                </a:solidFill>
              </a:defRPr>
            </a:lvl9pPr>
          </a:lstStyle>
          <a:p xmlns:a="http://schemas.openxmlformats.org/drawingml/2006/main">
            <a:pPr>
              <a:defRPr sz="1050" b="1">
                <a:solidFill>
                  <a:srgbClr val="536A6D"/>
                </a:solidFill>
              </a:defRPr>
            </a:pPr>
            <a:r>
              <a:rPr sz="1050" b="1">
                <a:solidFill>
                  <a:srgbClr val="536A6D"/>
                </a:solidFill>
              </a:rPr>
              <a:t>METHODOLOGY</a:t>
            </a:r>
          </a:p>
        </p:txBody>
      </p:sp>
      <p:sp>
        <p:nvSpPr>
          <p:cNvPr id="2" name="">
            <a:extLst xmlns:a="http://schemas.openxmlformats.org/drawingml/2006/main">
              <a:ext uri="{FF2B5EF4-FFF2-40B4-BE49-F238E27FC236}">
                <a16:creationId xmlns:a16="http://schemas.microsoft.com/office/drawing/2014/main" id="{F4900398-6BB5-4B0A-B004-CDDA38F9231B}"/>
              </a:ext>
            </a:extLst>
          </p:cNvPr>
          <p:cNvSpPr>
            <a:spLocks xmlns:a="http://schemas.openxmlformats.org/drawingml/2006/main" noGrp="1"/>
          </p:cNvSpPr>
          <p:nvPr/>
        </p:nvSpPr>
        <p:spPr>
          <a:xfrm xmlns:a="http://schemas.openxmlformats.org/drawingml/2006/main">
            <a:off x="647700" y="723900"/>
            <a:ext cx="10763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152F34"/>
                </a:solidFill>
              </a:defRPr>
            </a:defPPr>
            <a:lvl1pPr>
              <a:defRPr sz="2775" b="1">
                <a:solidFill>
                  <a:srgbClr val="152F34"/>
                </a:solidFill>
              </a:defRPr>
            </a:lvl1pPr>
            <a:lvl2pPr>
              <a:defRPr sz="2775" b="1">
                <a:solidFill>
                  <a:srgbClr val="152F34"/>
                </a:solidFill>
              </a:defRPr>
            </a:lvl2pPr>
            <a:lvl3pPr>
              <a:defRPr sz="2775" b="1">
                <a:solidFill>
                  <a:srgbClr val="152F34"/>
                </a:solidFill>
              </a:defRPr>
            </a:lvl3pPr>
            <a:lvl4pPr>
              <a:defRPr sz="2775" b="1">
                <a:solidFill>
                  <a:srgbClr val="152F34"/>
                </a:solidFill>
              </a:defRPr>
            </a:lvl4pPr>
            <a:lvl5pPr>
              <a:defRPr sz="2775" b="1">
                <a:solidFill>
                  <a:srgbClr val="152F34"/>
                </a:solidFill>
              </a:defRPr>
            </a:lvl5pPr>
            <a:lvl6pPr>
              <a:defRPr sz="2775" b="1">
                <a:solidFill>
                  <a:srgbClr val="152F34"/>
                </a:solidFill>
              </a:defRPr>
            </a:lvl6pPr>
            <a:lvl7pPr>
              <a:defRPr sz="2775" b="1">
                <a:solidFill>
                  <a:srgbClr val="152F34"/>
                </a:solidFill>
              </a:defRPr>
            </a:lvl7pPr>
            <a:lvl8pPr>
              <a:defRPr sz="2775" b="1">
                <a:solidFill>
                  <a:srgbClr val="152F34"/>
                </a:solidFill>
              </a:defRPr>
            </a:lvl8pPr>
            <a:lvl9pPr>
              <a:defRPr sz="2775" b="1">
                <a:solidFill>
                  <a:srgbClr val="152F34"/>
                </a:solidFill>
              </a:defRPr>
            </a:lvl9pPr>
          </a:lstStyle>
          <a:p xmlns:a="http://schemas.openxmlformats.org/drawingml/2006/main">
            <a:pPr>
              <a:defRPr sz="2775" b="1">
                <a:solidFill>
                  <a:srgbClr val="152F34"/>
                </a:solidFill>
              </a:defRPr>
            </a:pPr>
            <a:r>
              <a:rPr sz="2775" b="1">
                <a:solidFill>
                  <a:srgbClr val="152F34"/>
                </a:solidFill>
              </a:rPr>
              <a:t>A forecast informs each 15-minute route decision</a:t>
            </a:r>
          </a:p>
        </p:txBody>
      </p:sp>
      <p:sp>
        <p:nvSpPr>
          <p:cNvPr id="3" name="">
            <a:extLst xmlns:a="http://schemas.openxmlformats.org/drawingml/2006/main">
              <a:ext uri="{FF2B5EF4-FFF2-40B4-BE49-F238E27FC236}">
                <a16:creationId xmlns:a16="http://schemas.microsoft.com/office/drawing/2014/main" id="{4E654445-8C1F-46B9-B78A-F10B177D6D51}"/>
              </a:ext>
            </a:extLst>
          </p:cNvPr>
          <p:cNvSpPr>
            <a:spLocks xmlns:a="http://schemas.openxmlformats.org/drawingml/2006/main" noGrp="1"/>
          </p:cNvSpPr>
          <p:nvPr/>
        </p:nvSpPr>
        <p:spPr>
          <a:xfrm xmlns:a="http://schemas.openxmlformats.org/drawingml/2006/main">
            <a:off x="647700" y="1562100"/>
            <a:ext cx="10896600" cy="19050"/>
          </a:xfrm>
          <a:prstGeom xmlns:a="http://schemas.openxmlformats.org/drawingml/2006/main" prst="rect">
            <a:avLst/>
          </a:prstGeom>
          <a:solidFill xmlns:a="http://schemas.openxmlformats.org/drawingml/2006/main">
            <a:srgbClr val="C9D5D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A87BFBE-5A46-4166-9BEE-688569758FAB}"/>
              </a:ext>
            </a:extLst>
          </p:cNvPr>
          <p:cNvSpPr>
            <a:spLocks xmlns:a="http://schemas.openxmlformats.org/drawingml/2006/main" noGrp="1"/>
          </p:cNvSpPr>
          <p:nvPr/>
        </p:nvSpPr>
        <p:spPr>
          <a:xfrm xmlns:a="http://schemas.openxmlformats.org/drawingml/2006/main">
            <a:off x="647700" y="6467475"/>
            <a:ext cx="6667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536A6D"/>
                </a:solidFill>
              </a:defRPr>
            </a:defPPr>
            <a:lvl1pPr>
              <a:defRPr sz="900" b="1">
                <a:solidFill>
                  <a:srgbClr val="536A6D"/>
                </a:solidFill>
              </a:defRPr>
            </a:lvl1pPr>
            <a:lvl2pPr>
              <a:defRPr sz="900" b="1">
                <a:solidFill>
                  <a:srgbClr val="536A6D"/>
                </a:solidFill>
              </a:defRPr>
            </a:lvl2pPr>
            <a:lvl3pPr>
              <a:defRPr sz="900" b="1">
                <a:solidFill>
                  <a:srgbClr val="536A6D"/>
                </a:solidFill>
              </a:defRPr>
            </a:lvl3pPr>
            <a:lvl4pPr>
              <a:defRPr sz="900" b="1">
                <a:solidFill>
                  <a:srgbClr val="536A6D"/>
                </a:solidFill>
              </a:defRPr>
            </a:lvl4pPr>
            <a:lvl5pPr>
              <a:defRPr sz="900" b="1">
                <a:solidFill>
                  <a:srgbClr val="536A6D"/>
                </a:solidFill>
              </a:defRPr>
            </a:lvl5pPr>
            <a:lvl6pPr>
              <a:defRPr sz="900" b="1">
                <a:solidFill>
                  <a:srgbClr val="536A6D"/>
                </a:solidFill>
              </a:defRPr>
            </a:lvl6pPr>
            <a:lvl7pPr>
              <a:defRPr sz="900" b="1">
                <a:solidFill>
                  <a:srgbClr val="536A6D"/>
                </a:solidFill>
              </a:defRPr>
            </a:lvl7pPr>
            <a:lvl8pPr>
              <a:defRPr sz="900" b="1">
                <a:solidFill>
                  <a:srgbClr val="536A6D"/>
                </a:solidFill>
              </a:defRPr>
            </a:lvl8pPr>
            <a:lvl9pPr>
              <a:defRPr sz="900" b="1">
                <a:solidFill>
                  <a:srgbClr val="536A6D"/>
                </a:solidFill>
              </a:defRPr>
            </a:lvl9pPr>
          </a:lstStyle>
          <a:p xmlns:a="http://schemas.openxmlformats.org/drawingml/2006/main">
            <a:pPr>
              <a:defRPr sz="900" b="1">
                <a:solidFill>
                  <a:srgbClr val="536A6D"/>
                </a:solidFill>
              </a:defRPr>
            </a:pPr>
            <a:r>
              <a:rPr sz="900" b="1">
                <a:solidFill>
                  <a:srgbClr val="536A6D"/>
                </a:solidFill>
              </a:rPr>
              <a:t>CARBONROUTE  /  REVIEW 1</a:t>
            </a:r>
          </a:p>
        </p:txBody>
      </p:sp>
      <p:sp>
        <p:nvSpPr>
          <p:cNvPr id="5" name="">
            <a:extLst xmlns:a="http://schemas.openxmlformats.org/drawingml/2006/main">
              <a:ext uri="{FF2B5EF4-FFF2-40B4-BE49-F238E27FC236}">
                <a16:creationId xmlns:a16="http://schemas.microsoft.com/office/drawing/2014/main" id="{B98C2DEB-3063-47AE-91FD-DCFCEA90ABDC}"/>
              </a:ext>
            </a:extLst>
          </p:cNvPr>
          <p:cNvSpPr>
            <a:spLocks xmlns:a="http://schemas.openxmlformats.org/drawingml/2006/main" noGrp="1"/>
          </p:cNvSpPr>
          <p:nvPr/>
        </p:nvSpPr>
        <p:spPr>
          <a:xfrm xmlns:a="http://schemas.openxmlformats.org/drawingml/2006/main">
            <a:off x="11077575" y="6448425"/>
            <a:ext cx="4476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36A6D"/>
                </a:solidFill>
              </a:defRPr>
            </a:defPPr>
            <a:lvl1pPr>
              <a:defRPr sz="975" b="1">
                <a:solidFill>
                  <a:srgbClr val="536A6D"/>
                </a:solidFill>
              </a:defRPr>
            </a:lvl1pPr>
            <a:lvl2pPr>
              <a:defRPr sz="975" b="1">
                <a:solidFill>
                  <a:srgbClr val="536A6D"/>
                </a:solidFill>
              </a:defRPr>
            </a:lvl2pPr>
            <a:lvl3pPr>
              <a:defRPr sz="975" b="1">
                <a:solidFill>
                  <a:srgbClr val="536A6D"/>
                </a:solidFill>
              </a:defRPr>
            </a:lvl3pPr>
            <a:lvl4pPr>
              <a:defRPr sz="975" b="1">
                <a:solidFill>
                  <a:srgbClr val="536A6D"/>
                </a:solidFill>
              </a:defRPr>
            </a:lvl4pPr>
            <a:lvl5pPr>
              <a:defRPr sz="975" b="1">
                <a:solidFill>
                  <a:srgbClr val="536A6D"/>
                </a:solidFill>
              </a:defRPr>
            </a:lvl5pPr>
            <a:lvl6pPr>
              <a:defRPr sz="975" b="1">
                <a:solidFill>
                  <a:srgbClr val="536A6D"/>
                </a:solidFill>
              </a:defRPr>
            </a:lvl6pPr>
            <a:lvl7pPr>
              <a:defRPr sz="975" b="1">
                <a:solidFill>
                  <a:srgbClr val="536A6D"/>
                </a:solidFill>
              </a:defRPr>
            </a:lvl7pPr>
            <a:lvl8pPr>
              <a:defRPr sz="975" b="1">
                <a:solidFill>
                  <a:srgbClr val="536A6D"/>
                </a:solidFill>
              </a:defRPr>
            </a:lvl8pPr>
            <a:lvl9pPr>
              <a:defRPr sz="975" b="1">
                <a:solidFill>
                  <a:srgbClr val="536A6D"/>
                </a:solidFill>
              </a:defRPr>
            </a:lvl9pPr>
          </a:lstStyle>
          <a:p xmlns:a="http://schemas.openxmlformats.org/drawingml/2006/main">
            <a:pPr>
              <a:defRPr sz="975" b="1">
                <a:solidFill>
                  <a:srgbClr val="536A6D"/>
                </a:solidFill>
              </a:defRPr>
            </a:pPr>
            <a:r>
              <a:rPr sz="975" b="1">
                <a:solidFill>
                  <a:srgbClr val="536A6D"/>
                </a:solidFill>
              </a:rPr>
              <a:t>05</a:t>
            </a:r>
          </a:p>
        </p:txBody>
      </p:sp>
      <p:sp>
        <p:nvSpPr>
          <p:cNvPr id="6" name="">
            <a:extLst xmlns:a="http://schemas.openxmlformats.org/drawingml/2006/main">
              <a:ext uri="{FF2B5EF4-FFF2-40B4-BE49-F238E27FC236}">
                <a16:creationId xmlns:a16="http://schemas.microsoft.com/office/drawing/2014/main" id="{871A52B3-1102-481A-9D16-7E39DFE88AE2}"/>
              </a:ext>
            </a:extLst>
          </p:cNvPr>
          <p:cNvSpPr>
            <a:spLocks xmlns:a="http://schemas.openxmlformats.org/drawingml/2006/main" noGrp="1"/>
          </p:cNvSpPr>
          <p:nvPr/>
        </p:nvSpPr>
        <p:spPr>
          <a:xfrm xmlns:a="http://schemas.openxmlformats.org/drawingml/2006/main">
            <a:off x="781050" y="1924050"/>
            <a:ext cx="76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007A7A"/>
                </a:solidFill>
              </a:defRPr>
            </a:defPPr>
            <a:lvl1pPr>
              <a:defRPr sz="2625" b="1">
                <a:solidFill>
                  <a:srgbClr val="007A7A"/>
                </a:solidFill>
              </a:defRPr>
            </a:lvl1pPr>
            <a:lvl2pPr>
              <a:defRPr sz="2625" b="1">
                <a:solidFill>
                  <a:srgbClr val="007A7A"/>
                </a:solidFill>
              </a:defRPr>
            </a:lvl2pPr>
            <a:lvl3pPr>
              <a:defRPr sz="2625" b="1">
                <a:solidFill>
                  <a:srgbClr val="007A7A"/>
                </a:solidFill>
              </a:defRPr>
            </a:lvl3pPr>
            <a:lvl4pPr>
              <a:defRPr sz="2625" b="1">
                <a:solidFill>
                  <a:srgbClr val="007A7A"/>
                </a:solidFill>
              </a:defRPr>
            </a:lvl4pPr>
            <a:lvl5pPr>
              <a:defRPr sz="2625" b="1">
                <a:solidFill>
                  <a:srgbClr val="007A7A"/>
                </a:solidFill>
              </a:defRPr>
            </a:lvl5pPr>
            <a:lvl6pPr>
              <a:defRPr sz="2625" b="1">
                <a:solidFill>
                  <a:srgbClr val="007A7A"/>
                </a:solidFill>
              </a:defRPr>
            </a:lvl6pPr>
            <a:lvl7pPr>
              <a:defRPr sz="2625" b="1">
                <a:solidFill>
                  <a:srgbClr val="007A7A"/>
                </a:solidFill>
              </a:defRPr>
            </a:lvl7pPr>
            <a:lvl8pPr>
              <a:defRPr sz="2625" b="1">
                <a:solidFill>
                  <a:srgbClr val="007A7A"/>
                </a:solidFill>
              </a:defRPr>
            </a:lvl8pPr>
            <a:lvl9pPr>
              <a:defRPr sz="2625" b="1">
                <a:solidFill>
                  <a:srgbClr val="007A7A"/>
                </a:solidFill>
              </a:defRPr>
            </a:lvl9pPr>
          </a:lstStyle>
          <a:p xmlns:a="http://schemas.openxmlformats.org/drawingml/2006/main">
            <a:pPr>
              <a:defRPr sz="2625" b="1">
                <a:solidFill>
                  <a:srgbClr val="007A7A"/>
                </a:solidFill>
              </a:defRPr>
            </a:pPr>
            <a:r>
              <a:rPr sz="2625" b="1">
                <a:solidFill>
                  <a:srgbClr val="007A7A"/>
                </a:solidFill>
              </a:rPr>
              <a:t>01</a:t>
            </a:r>
          </a:p>
        </p:txBody>
      </p:sp>
      <p:sp>
        <p:nvSpPr>
          <p:cNvPr id="7" name="">
            <a:extLst xmlns:a="http://schemas.openxmlformats.org/drawingml/2006/main">
              <a:ext uri="{FF2B5EF4-FFF2-40B4-BE49-F238E27FC236}">
                <a16:creationId xmlns:a16="http://schemas.microsoft.com/office/drawing/2014/main" id="{1D44394C-1E9D-4076-81A8-CA7A12E85AA8}"/>
              </a:ext>
            </a:extLst>
          </p:cNvPr>
          <p:cNvSpPr>
            <a:spLocks xmlns:a="http://schemas.openxmlformats.org/drawingml/2006/main" noGrp="1"/>
          </p:cNvSpPr>
          <p:nvPr/>
        </p:nvSpPr>
        <p:spPr>
          <a:xfrm xmlns:a="http://schemas.openxmlformats.org/drawingml/2006/main">
            <a:off x="1676400" y="1924050"/>
            <a:ext cx="2333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152F34"/>
                </a:solidFill>
              </a:defRPr>
            </a:defPPr>
            <a:lvl1pPr>
              <a:defRPr sz="1875" b="1">
                <a:solidFill>
                  <a:srgbClr val="152F34"/>
                </a:solidFill>
              </a:defRPr>
            </a:lvl1pPr>
            <a:lvl2pPr>
              <a:defRPr sz="1875" b="1">
                <a:solidFill>
                  <a:srgbClr val="152F34"/>
                </a:solidFill>
              </a:defRPr>
            </a:lvl2pPr>
            <a:lvl3pPr>
              <a:defRPr sz="1875" b="1">
                <a:solidFill>
                  <a:srgbClr val="152F34"/>
                </a:solidFill>
              </a:defRPr>
            </a:lvl3pPr>
            <a:lvl4pPr>
              <a:defRPr sz="1875" b="1">
                <a:solidFill>
                  <a:srgbClr val="152F34"/>
                </a:solidFill>
              </a:defRPr>
            </a:lvl4pPr>
            <a:lvl5pPr>
              <a:defRPr sz="1875" b="1">
                <a:solidFill>
                  <a:srgbClr val="152F34"/>
                </a:solidFill>
              </a:defRPr>
            </a:lvl5pPr>
            <a:lvl6pPr>
              <a:defRPr sz="1875" b="1">
                <a:solidFill>
                  <a:srgbClr val="152F34"/>
                </a:solidFill>
              </a:defRPr>
            </a:lvl6pPr>
            <a:lvl7pPr>
              <a:defRPr sz="1875" b="1">
                <a:solidFill>
                  <a:srgbClr val="152F34"/>
                </a:solidFill>
              </a:defRPr>
            </a:lvl7pPr>
            <a:lvl8pPr>
              <a:defRPr sz="1875" b="1">
                <a:solidFill>
                  <a:srgbClr val="152F34"/>
                </a:solidFill>
              </a:defRPr>
            </a:lvl8pPr>
            <a:lvl9pPr>
              <a:defRPr sz="1875" b="1">
                <a:solidFill>
                  <a:srgbClr val="152F34"/>
                </a:solidFill>
              </a:defRPr>
            </a:lvl9pPr>
          </a:lstStyle>
          <a:p xmlns:a="http://schemas.openxmlformats.org/drawingml/2006/main">
            <a:pPr>
              <a:defRPr sz="1875" b="1">
                <a:solidFill>
                  <a:srgbClr val="152F34"/>
                </a:solidFill>
              </a:defRPr>
            </a:pPr>
            <a:r>
              <a:rPr sz="1875" b="1">
                <a:solidFill>
                  <a:srgbClr val="152F34"/>
                </a:solidFill>
              </a:rPr>
              <a:t>Observe</a:t>
            </a:r>
          </a:p>
        </p:txBody>
      </p:sp>
      <p:sp>
        <p:nvSpPr>
          <p:cNvPr id="8" name="">
            <a:extLst xmlns:a="http://schemas.openxmlformats.org/drawingml/2006/main">
              <a:ext uri="{FF2B5EF4-FFF2-40B4-BE49-F238E27FC236}">
                <a16:creationId xmlns:a16="http://schemas.microsoft.com/office/drawing/2014/main" id="{34E6437B-FA77-4297-914B-FB991860E254}"/>
              </a:ext>
            </a:extLst>
          </p:cNvPr>
          <p:cNvSpPr>
            <a:spLocks xmlns:a="http://schemas.openxmlformats.org/drawingml/2006/main" noGrp="1"/>
          </p:cNvSpPr>
          <p:nvPr/>
        </p:nvSpPr>
        <p:spPr>
          <a:xfrm xmlns:a="http://schemas.openxmlformats.org/drawingml/2006/main">
            <a:off x="3971925" y="1924050"/>
            <a:ext cx="693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52F34"/>
                </a:solidFill>
              </a:defRPr>
            </a:defPPr>
            <a:lvl1pPr>
              <a:defRPr sz="1575" b="0">
                <a:solidFill>
                  <a:srgbClr val="152F34"/>
                </a:solidFill>
              </a:defRPr>
            </a:lvl1pPr>
            <a:lvl2pPr>
              <a:defRPr sz="1575" b="0">
                <a:solidFill>
                  <a:srgbClr val="152F34"/>
                </a:solidFill>
              </a:defRPr>
            </a:lvl2pPr>
            <a:lvl3pPr>
              <a:defRPr sz="1575" b="0">
                <a:solidFill>
                  <a:srgbClr val="152F34"/>
                </a:solidFill>
              </a:defRPr>
            </a:lvl3pPr>
            <a:lvl4pPr>
              <a:defRPr sz="1575" b="0">
                <a:solidFill>
                  <a:srgbClr val="152F34"/>
                </a:solidFill>
              </a:defRPr>
            </a:lvl4pPr>
            <a:lvl5pPr>
              <a:defRPr sz="1575" b="0">
                <a:solidFill>
                  <a:srgbClr val="152F34"/>
                </a:solidFill>
              </a:defRPr>
            </a:lvl5pPr>
            <a:lvl6pPr>
              <a:defRPr sz="1575" b="0">
                <a:solidFill>
                  <a:srgbClr val="152F34"/>
                </a:solidFill>
              </a:defRPr>
            </a:lvl6pPr>
            <a:lvl7pPr>
              <a:defRPr sz="1575" b="0">
                <a:solidFill>
                  <a:srgbClr val="152F34"/>
                </a:solidFill>
              </a:defRPr>
            </a:lvl7pPr>
            <a:lvl8pPr>
              <a:defRPr sz="1575" b="0">
                <a:solidFill>
                  <a:srgbClr val="152F34"/>
                </a:solidFill>
              </a:defRPr>
            </a:lvl8pPr>
            <a:lvl9pPr>
              <a:defRPr sz="1575" b="0">
                <a:solidFill>
                  <a:srgbClr val="152F34"/>
                </a:solidFill>
              </a:defRPr>
            </a:lvl9pPr>
          </a:lstStyle>
          <a:p xmlns:a="http://schemas.openxmlformats.org/drawingml/2006/main">
            <a:pPr>
              <a:defRPr sz="1575" b="0">
                <a:solidFill>
                  <a:srgbClr val="152F34"/>
                </a:solidFill>
              </a:defRPr>
            </a:pPr>
            <a:r>
              <a:rPr sz="1575" b="0">
                <a:solidFill>
                  <a:srgbClr val="152F34"/>
                </a:solidFill>
              </a:rPr>
              <a:t>Past OD traffic and the current daily country carbon signal</a:t>
            </a:r>
          </a:p>
        </p:txBody>
      </p:sp>
      <p:sp>
        <p:nvSpPr>
          <p:cNvPr id="9" name="">
            <a:extLst xmlns:a="http://schemas.openxmlformats.org/drawingml/2006/main">
              <a:ext uri="{FF2B5EF4-FFF2-40B4-BE49-F238E27FC236}">
                <a16:creationId xmlns:a16="http://schemas.microsoft.com/office/drawing/2014/main" id="{41B4E1CA-C862-4680-BB8F-5C3DF2BBB1FA}"/>
              </a:ext>
            </a:extLst>
          </p:cNvPr>
          <p:cNvSpPr>
            <a:spLocks xmlns:a="http://schemas.openxmlformats.org/drawingml/2006/main" noGrp="1"/>
          </p:cNvSpPr>
          <p:nvPr/>
        </p:nvSpPr>
        <p:spPr>
          <a:xfrm xmlns:a="http://schemas.openxmlformats.org/drawingml/2006/main">
            <a:off x="1676400" y="2752725"/>
            <a:ext cx="9210675" cy="9525"/>
          </a:xfrm>
          <a:prstGeom xmlns:a="http://schemas.openxmlformats.org/drawingml/2006/main" prst="rect">
            <a:avLst/>
          </a:prstGeom>
          <a:solidFill xmlns:a="http://schemas.openxmlformats.org/drawingml/2006/main">
            <a:srgbClr val="C9D5D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F401B96-FBA5-4B42-A392-2D42961323D1}"/>
              </a:ext>
            </a:extLst>
          </p:cNvPr>
          <p:cNvSpPr>
            <a:spLocks xmlns:a="http://schemas.openxmlformats.org/drawingml/2006/main" noGrp="1"/>
          </p:cNvSpPr>
          <p:nvPr/>
        </p:nvSpPr>
        <p:spPr>
          <a:xfrm xmlns:a="http://schemas.openxmlformats.org/drawingml/2006/main">
            <a:off x="781050" y="2905125"/>
            <a:ext cx="76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007A7A"/>
                </a:solidFill>
              </a:defRPr>
            </a:defPPr>
            <a:lvl1pPr>
              <a:defRPr sz="2625" b="1">
                <a:solidFill>
                  <a:srgbClr val="007A7A"/>
                </a:solidFill>
              </a:defRPr>
            </a:lvl1pPr>
            <a:lvl2pPr>
              <a:defRPr sz="2625" b="1">
                <a:solidFill>
                  <a:srgbClr val="007A7A"/>
                </a:solidFill>
              </a:defRPr>
            </a:lvl2pPr>
            <a:lvl3pPr>
              <a:defRPr sz="2625" b="1">
                <a:solidFill>
                  <a:srgbClr val="007A7A"/>
                </a:solidFill>
              </a:defRPr>
            </a:lvl3pPr>
            <a:lvl4pPr>
              <a:defRPr sz="2625" b="1">
                <a:solidFill>
                  <a:srgbClr val="007A7A"/>
                </a:solidFill>
              </a:defRPr>
            </a:lvl4pPr>
            <a:lvl5pPr>
              <a:defRPr sz="2625" b="1">
                <a:solidFill>
                  <a:srgbClr val="007A7A"/>
                </a:solidFill>
              </a:defRPr>
            </a:lvl5pPr>
            <a:lvl6pPr>
              <a:defRPr sz="2625" b="1">
                <a:solidFill>
                  <a:srgbClr val="007A7A"/>
                </a:solidFill>
              </a:defRPr>
            </a:lvl6pPr>
            <a:lvl7pPr>
              <a:defRPr sz="2625" b="1">
                <a:solidFill>
                  <a:srgbClr val="007A7A"/>
                </a:solidFill>
              </a:defRPr>
            </a:lvl7pPr>
            <a:lvl8pPr>
              <a:defRPr sz="2625" b="1">
                <a:solidFill>
                  <a:srgbClr val="007A7A"/>
                </a:solidFill>
              </a:defRPr>
            </a:lvl8pPr>
            <a:lvl9pPr>
              <a:defRPr sz="2625" b="1">
                <a:solidFill>
                  <a:srgbClr val="007A7A"/>
                </a:solidFill>
              </a:defRPr>
            </a:lvl9pPr>
          </a:lstStyle>
          <a:p xmlns:a="http://schemas.openxmlformats.org/drawingml/2006/main">
            <a:pPr>
              <a:defRPr sz="2625" b="1">
                <a:solidFill>
                  <a:srgbClr val="007A7A"/>
                </a:solidFill>
              </a:defRPr>
            </a:pPr>
            <a:r>
              <a:rPr sz="2625" b="1">
                <a:solidFill>
                  <a:srgbClr val="007A7A"/>
                </a:solidFill>
              </a:rPr>
              <a:t>02</a:t>
            </a:r>
          </a:p>
        </p:txBody>
      </p:sp>
      <p:sp>
        <p:nvSpPr>
          <p:cNvPr id="11" name="">
            <a:extLst xmlns:a="http://schemas.openxmlformats.org/drawingml/2006/main">
              <a:ext uri="{FF2B5EF4-FFF2-40B4-BE49-F238E27FC236}">
                <a16:creationId xmlns:a16="http://schemas.microsoft.com/office/drawing/2014/main" id="{FD87882D-C8FB-43BC-B642-E9174C8B2E98}"/>
              </a:ext>
            </a:extLst>
          </p:cNvPr>
          <p:cNvSpPr>
            <a:spLocks xmlns:a="http://schemas.openxmlformats.org/drawingml/2006/main" noGrp="1"/>
          </p:cNvSpPr>
          <p:nvPr/>
        </p:nvSpPr>
        <p:spPr>
          <a:xfrm xmlns:a="http://schemas.openxmlformats.org/drawingml/2006/main">
            <a:off x="1676400" y="2905125"/>
            <a:ext cx="2333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152F34"/>
                </a:solidFill>
              </a:defRPr>
            </a:defPPr>
            <a:lvl1pPr>
              <a:defRPr sz="1875" b="1">
                <a:solidFill>
                  <a:srgbClr val="152F34"/>
                </a:solidFill>
              </a:defRPr>
            </a:lvl1pPr>
            <a:lvl2pPr>
              <a:defRPr sz="1875" b="1">
                <a:solidFill>
                  <a:srgbClr val="152F34"/>
                </a:solidFill>
              </a:defRPr>
            </a:lvl2pPr>
            <a:lvl3pPr>
              <a:defRPr sz="1875" b="1">
                <a:solidFill>
                  <a:srgbClr val="152F34"/>
                </a:solidFill>
              </a:defRPr>
            </a:lvl3pPr>
            <a:lvl4pPr>
              <a:defRPr sz="1875" b="1">
                <a:solidFill>
                  <a:srgbClr val="152F34"/>
                </a:solidFill>
              </a:defRPr>
            </a:lvl4pPr>
            <a:lvl5pPr>
              <a:defRPr sz="1875" b="1">
                <a:solidFill>
                  <a:srgbClr val="152F34"/>
                </a:solidFill>
              </a:defRPr>
            </a:lvl5pPr>
            <a:lvl6pPr>
              <a:defRPr sz="1875" b="1">
                <a:solidFill>
                  <a:srgbClr val="152F34"/>
                </a:solidFill>
              </a:defRPr>
            </a:lvl6pPr>
            <a:lvl7pPr>
              <a:defRPr sz="1875" b="1">
                <a:solidFill>
                  <a:srgbClr val="152F34"/>
                </a:solidFill>
              </a:defRPr>
            </a:lvl7pPr>
            <a:lvl8pPr>
              <a:defRPr sz="1875" b="1">
                <a:solidFill>
                  <a:srgbClr val="152F34"/>
                </a:solidFill>
              </a:defRPr>
            </a:lvl8pPr>
            <a:lvl9pPr>
              <a:defRPr sz="1875" b="1">
                <a:solidFill>
                  <a:srgbClr val="152F34"/>
                </a:solidFill>
              </a:defRPr>
            </a:lvl9pPr>
          </a:lstStyle>
          <a:p xmlns:a="http://schemas.openxmlformats.org/drawingml/2006/main">
            <a:pPr>
              <a:defRPr sz="1875" b="1">
                <a:solidFill>
                  <a:srgbClr val="152F34"/>
                </a:solidFill>
              </a:defRPr>
            </a:pPr>
            <a:r>
              <a:rPr sz="1875" b="1">
                <a:solidFill>
                  <a:srgbClr val="152F34"/>
                </a:solidFill>
              </a:rPr>
              <a:t>Forecast</a:t>
            </a:r>
          </a:p>
        </p:txBody>
      </p:sp>
      <p:sp>
        <p:nvSpPr>
          <p:cNvPr id="12" name="">
            <a:extLst xmlns:a="http://schemas.openxmlformats.org/drawingml/2006/main">
              <a:ext uri="{FF2B5EF4-FFF2-40B4-BE49-F238E27FC236}">
                <a16:creationId xmlns:a16="http://schemas.microsoft.com/office/drawing/2014/main" id="{CEEF8FAB-CA44-4DA3-88FC-0AEAD84BEB36}"/>
              </a:ext>
            </a:extLst>
          </p:cNvPr>
          <p:cNvSpPr>
            <a:spLocks xmlns:a="http://schemas.openxmlformats.org/drawingml/2006/main" noGrp="1"/>
          </p:cNvSpPr>
          <p:nvPr/>
        </p:nvSpPr>
        <p:spPr>
          <a:xfrm xmlns:a="http://schemas.openxmlformats.org/drawingml/2006/main">
            <a:off x="3971925" y="2905125"/>
            <a:ext cx="693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52F34"/>
                </a:solidFill>
              </a:defRPr>
            </a:defPPr>
            <a:lvl1pPr>
              <a:defRPr sz="1575" b="0">
                <a:solidFill>
                  <a:srgbClr val="152F34"/>
                </a:solidFill>
              </a:defRPr>
            </a:lvl1pPr>
            <a:lvl2pPr>
              <a:defRPr sz="1575" b="0">
                <a:solidFill>
                  <a:srgbClr val="152F34"/>
                </a:solidFill>
              </a:defRPr>
            </a:lvl2pPr>
            <a:lvl3pPr>
              <a:defRPr sz="1575" b="0">
                <a:solidFill>
                  <a:srgbClr val="152F34"/>
                </a:solidFill>
              </a:defRPr>
            </a:lvl3pPr>
            <a:lvl4pPr>
              <a:defRPr sz="1575" b="0">
                <a:solidFill>
                  <a:srgbClr val="152F34"/>
                </a:solidFill>
              </a:defRPr>
            </a:lvl4pPr>
            <a:lvl5pPr>
              <a:defRPr sz="1575" b="0">
                <a:solidFill>
                  <a:srgbClr val="152F34"/>
                </a:solidFill>
              </a:defRPr>
            </a:lvl5pPr>
            <a:lvl6pPr>
              <a:defRPr sz="1575" b="0">
                <a:solidFill>
                  <a:srgbClr val="152F34"/>
                </a:solidFill>
              </a:defRPr>
            </a:lvl6pPr>
            <a:lvl7pPr>
              <a:defRPr sz="1575" b="0">
                <a:solidFill>
                  <a:srgbClr val="152F34"/>
                </a:solidFill>
              </a:defRPr>
            </a:lvl7pPr>
            <a:lvl8pPr>
              <a:defRPr sz="1575" b="0">
                <a:solidFill>
                  <a:srgbClr val="152F34"/>
                </a:solidFill>
              </a:defRPr>
            </a:lvl8pPr>
            <a:lvl9pPr>
              <a:defRPr sz="1575" b="0">
                <a:solidFill>
                  <a:srgbClr val="152F34"/>
                </a:solidFill>
              </a:defRPr>
            </a:lvl9pPr>
          </a:lstStyle>
          <a:p xmlns:a="http://schemas.openxmlformats.org/drawingml/2006/main">
            <a:pPr>
              <a:defRPr sz="1575" b="0">
                <a:solidFill>
                  <a:srgbClr val="152F34"/>
                </a:solidFill>
              </a:defRPr>
            </a:pPr>
            <a:r>
              <a:rPr sz="1575" b="0">
                <a:solidFill>
                  <a:srgbClr val="152F34"/>
                </a:solidFill>
              </a:rPr>
              <a:t>Estimate demand 15, 30 and 45 minutes ahead</a:t>
            </a:r>
          </a:p>
        </p:txBody>
      </p:sp>
      <p:sp>
        <p:nvSpPr>
          <p:cNvPr id="13" name="">
            <a:extLst xmlns:a="http://schemas.openxmlformats.org/drawingml/2006/main">
              <a:ext uri="{FF2B5EF4-FFF2-40B4-BE49-F238E27FC236}">
                <a16:creationId xmlns:a16="http://schemas.microsoft.com/office/drawing/2014/main" id="{491F1377-8DB0-41E8-9AE8-20E22C89773B}"/>
              </a:ext>
            </a:extLst>
          </p:cNvPr>
          <p:cNvSpPr>
            <a:spLocks xmlns:a="http://schemas.openxmlformats.org/drawingml/2006/main" noGrp="1"/>
          </p:cNvSpPr>
          <p:nvPr/>
        </p:nvSpPr>
        <p:spPr>
          <a:xfrm xmlns:a="http://schemas.openxmlformats.org/drawingml/2006/main">
            <a:off x="1676400" y="3733800"/>
            <a:ext cx="9210675" cy="9525"/>
          </a:xfrm>
          <a:prstGeom xmlns:a="http://schemas.openxmlformats.org/drawingml/2006/main" prst="rect">
            <a:avLst/>
          </a:prstGeom>
          <a:solidFill xmlns:a="http://schemas.openxmlformats.org/drawingml/2006/main">
            <a:srgbClr val="C9D5D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0DEEA43-2056-466A-9506-5D0CADD946CE}"/>
              </a:ext>
            </a:extLst>
          </p:cNvPr>
          <p:cNvSpPr>
            <a:spLocks xmlns:a="http://schemas.openxmlformats.org/drawingml/2006/main" noGrp="1"/>
          </p:cNvSpPr>
          <p:nvPr/>
        </p:nvSpPr>
        <p:spPr>
          <a:xfrm xmlns:a="http://schemas.openxmlformats.org/drawingml/2006/main">
            <a:off x="781050" y="3886200"/>
            <a:ext cx="76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007A7A"/>
                </a:solidFill>
              </a:defRPr>
            </a:defPPr>
            <a:lvl1pPr>
              <a:defRPr sz="2625" b="1">
                <a:solidFill>
                  <a:srgbClr val="007A7A"/>
                </a:solidFill>
              </a:defRPr>
            </a:lvl1pPr>
            <a:lvl2pPr>
              <a:defRPr sz="2625" b="1">
                <a:solidFill>
                  <a:srgbClr val="007A7A"/>
                </a:solidFill>
              </a:defRPr>
            </a:lvl2pPr>
            <a:lvl3pPr>
              <a:defRPr sz="2625" b="1">
                <a:solidFill>
                  <a:srgbClr val="007A7A"/>
                </a:solidFill>
              </a:defRPr>
            </a:lvl3pPr>
            <a:lvl4pPr>
              <a:defRPr sz="2625" b="1">
                <a:solidFill>
                  <a:srgbClr val="007A7A"/>
                </a:solidFill>
              </a:defRPr>
            </a:lvl4pPr>
            <a:lvl5pPr>
              <a:defRPr sz="2625" b="1">
                <a:solidFill>
                  <a:srgbClr val="007A7A"/>
                </a:solidFill>
              </a:defRPr>
            </a:lvl5pPr>
            <a:lvl6pPr>
              <a:defRPr sz="2625" b="1">
                <a:solidFill>
                  <a:srgbClr val="007A7A"/>
                </a:solidFill>
              </a:defRPr>
            </a:lvl6pPr>
            <a:lvl7pPr>
              <a:defRPr sz="2625" b="1">
                <a:solidFill>
                  <a:srgbClr val="007A7A"/>
                </a:solidFill>
              </a:defRPr>
            </a:lvl7pPr>
            <a:lvl8pPr>
              <a:defRPr sz="2625" b="1">
                <a:solidFill>
                  <a:srgbClr val="007A7A"/>
                </a:solidFill>
              </a:defRPr>
            </a:lvl8pPr>
            <a:lvl9pPr>
              <a:defRPr sz="2625" b="1">
                <a:solidFill>
                  <a:srgbClr val="007A7A"/>
                </a:solidFill>
              </a:defRPr>
            </a:lvl9pPr>
          </a:lstStyle>
          <a:p xmlns:a="http://schemas.openxmlformats.org/drawingml/2006/main">
            <a:pPr>
              <a:defRPr sz="2625" b="1">
                <a:solidFill>
                  <a:srgbClr val="007A7A"/>
                </a:solidFill>
              </a:defRPr>
            </a:pPr>
            <a:r>
              <a:rPr sz="2625" b="1">
                <a:solidFill>
                  <a:srgbClr val="007A7A"/>
                </a:solidFill>
              </a:rPr>
              <a:t>03</a:t>
            </a:r>
          </a:p>
        </p:txBody>
      </p:sp>
      <p:sp>
        <p:nvSpPr>
          <p:cNvPr id="15" name="">
            <a:extLst xmlns:a="http://schemas.openxmlformats.org/drawingml/2006/main">
              <a:ext uri="{FF2B5EF4-FFF2-40B4-BE49-F238E27FC236}">
                <a16:creationId xmlns:a16="http://schemas.microsoft.com/office/drawing/2014/main" id="{35979EF8-7337-428F-B007-BAFEDA7490F2}"/>
              </a:ext>
            </a:extLst>
          </p:cNvPr>
          <p:cNvSpPr>
            <a:spLocks xmlns:a="http://schemas.openxmlformats.org/drawingml/2006/main" noGrp="1"/>
          </p:cNvSpPr>
          <p:nvPr/>
        </p:nvSpPr>
        <p:spPr>
          <a:xfrm xmlns:a="http://schemas.openxmlformats.org/drawingml/2006/main">
            <a:off x="1676400" y="3886200"/>
            <a:ext cx="2333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152F34"/>
                </a:solidFill>
              </a:defRPr>
            </a:defPPr>
            <a:lvl1pPr>
              <a:defRPr sz="1875" b="1">
                <a:solidFill>
                  <a:srgbClr val="152F34"/>
                </a:solidFill>
              </a:defRPr>
            </a:lvl1pPr>
            <a:lvl2pPr>
              <a:defRPr sz="1875" b="1">
                <a:solidFill>
                  <a:srgbClr val="152F34"/>
                </a:solidFill>
              </a:defRPr>
            </a:lvl2pPr>
            <a:lvl3pPr>
              <a:defRPr sz="1875" b="1">
                <a:solidFill>
                  <a:srgbClr val="152F34"/>
                </a:solidFill>
              </a:defRPr>
            </a:lvl3pPr>
            <a:lvl4pPr>
              <a:defRPr sz="1875" b="1">
                <a:solidFill>
                  <a:srgbClr val="152F34"/>
                </a:solidFill>
              </a:defRPr>
            </a:lvl4pPr>
            <a:lvl5pPr>
              <a:defRPr sz="1875" b="1">
                <a:solidFill>
                  <a:srgbClr val="152F34"/>
                </a:solidFill>
              </a:defRPr>
            </a:lvl5pPr>
            <a:lvl6pPr>
              <a:defRPr sz="1875" b="1">
                <a:solidFill>
                  <a:srgbClr val="152F34"/>
                </a:solidFill>
              </a:defRPr>
            </a:lvl6pPr>
            <a:lvl7pPr>
              <a:defRPr sz="1875" b="1">
                <a:solidFill>
                  <a:srgbClr val="152F34"/>
                </a:solidFill>
              </a:defRPr>
            </a:lvl7pPr>
            <a:lvl8pPr>
              <a:defRPr sz="1875" b="1">
                <a:solidFill>
                  <a:srgbClr val="152F34"/>
                </a:solidFill>
              </a:defRPr>
            </a:lvl8pPr>
            <a:lvl9pPr>
              <a:defRPr sz="1875" b="1">
                <a:solidFill>
                  <a:srgbClr val="152F34"/>
                </a:solidFill>
              </a:defRPr>
            </a:lvl9pPr>
          </a:lstStyle>
          <a:p xmlns:a="http://schemas.openxmlformats.org/drawingml/2006/main">
            <a:pPr>
              <a:defRPr sz="1875" b="1">
                <a:solidFill>
                  <a:srgbClr val="152F34"/>
                </a:solidFill>
              </a:defRPr>
            </a:pPr>
            <a:r>
              <a:rPr sz="1875" b="1">
                <a:solidFill>
                  <a:srgbClr val="152F34"/>
                </a:solidFill>
              </a:rPr>
              <a:t>Plan</a:t>
            </a:r>
          </a:p>
        </p:txBody>
      </p:sp>
      <p:sp>
        <p:nvSpPr>
          <p:cNvPr id="16" name="">
            <a:extLst xmlns:a="http://schemas.openxmlformats.org/drawingml/2006/main">
              <a:ext uri="{FF2B5EF4-FFF2-40B4-BE49-F238E27FC236}">
                <a16:creationId xmlns:a16="http://schemas.microsoft.com/office/drawing/2014/main" id="{22BFBA4F-4276-4B77-9542-7DDB6D2ADE39}"/>
              </a:ext>
            </a:extLst>
          </p:cNvPr>
          <p:cNvSpPr>
            <a:spLocks xmlns:a="http://schemas.openxmlformats.org/drawingml/2006/main" noGrp="1"/>
          </p:cNvSpPr>
          <p:nvPr/>
        </p:nvSpPr>
        <p:spPr>
          <a:xfrm xmlns:a="http://schemas.openxmlformats.org/drawingml/2006/main">
            <a:off x="3971925" y="3886200"/>
            <a:ext cx="693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52F34"/>
                </a:solidFill>
              </a:defRPr>
            </a:defPPr>
            <a:lvl1pPr>
              <a:defRPr sz="1575" b="0">
                <a:solidFill>
                  <a:srgbClr val="152F34"/>
                </a:solidFill>
              </a:defRPr>
            </a:lvl1pPr>
            <a:lvl2pPr>
              <a:defRPr sz="1575" b="0">
                <a:solidFill>
                  <a:srgbClr val="152F34"/>
                </a:solidFill>
              </a:defRPr>
            </a:lvl2pPr>
            <a:lvl3pPr>
              <a:defRPr sz="1575" b="0">
                <a:solidFill>
                  <a:srgbClr val="152F34"/>
                </a:solidFill>
              </a:defRPr>
            </a:lvl3pPr>
            <a:lvl4pPr>
              <a:defRPr sz="1575" b="0">
                <a:solidFill>
                  <a:srgbClr val="152F34"/>
                </a:solidFill>
              </a:defRPr>
            </a:lvl4pPr>
            <a:lvl5pPr>
              <a:defRPr sz="1575" b="0">
                <a:solidFill>
                  <a:srgbClr val="152F34"/>
                </a:solidFill>
              </a:defRPr>
            </a:lvl5pPr>
            <a:lvl6pPr>
              <a:defRPr sz="1575" b="0">
                <a:solidFill>
                  <a:srgbClr val="152F34"/>
                </a:solidFill>
              </a:defRPr>
            </a:lvl6pPr>
            <a:lvl7pPr>
              <a:defRPr sz="1575" b="0">
                <a:solidFill>
                  <a:srgbClr val="152F34"/>
                </a:solidFill>
              </a:defRPr>
            </a:lvl7pPr>
            <a:lvl8pPr>
              <a:defRPr sz="1575" b="0">
                <a:solidFill>
                  <a:srgbClr val="152F34"/>
                </a:solidFill>
              </a:defRPr>
            </a:lvl8pPr>
            <a:lvl9pPr>
              <a:defRPr sz="1575" b="0">
                <a:solidFill>
                  <a:srgbClr val="152F34"/>
                </a:solidFill>
              </a:defRPr>
            </a:lvl9pPr>
          </a:lstStyle>
          <a:p xmlns:a="http://schemas.openxmlformats.org/drawingml/2006/main">
            <a:pPr>
              <a:defRPr sz="1575" b="0">
                <a:solidFill>
                  <a:srgbClr val="152F34"/>
                </a:solidFill>
              </a:defRPr>
            </a:pPr>
            <a:r>
              <a:rPr sz="1575" b="0">
                <a:solidFill>
                  <a:srgbClr val="152F34"/>
                </a:solidFill>
              </a:rPr>
              <a:t>Reserve link capacity and select one path for each OD flow</a:t>
            </a:r>
          </a:p>
        </p:txBody>
      </p:sp>
      <p:sp>
        <p:nvSpPr>
          <p:cNvPr id="17" name="">
            <a:extLst xmlns:a="http://schemas.openxmlformats.org/drawingml/2006/main">
              <a:ext uri="{FF2B5EF4-FFF2-40B4-BE49-F238E27FC236}">
                <a16:creationId xmlns:a16="http://schemas.microsoft.com/office/drawing/2014/main" id="{99A71CCC-0B59-4350-ACBD-489DDFC73C3B}"/>
              </a:ext>
            </a:extLst>
          </p:cNvPr>
          <p:cNvSpPr>
            <a:spLocks xmlns:a="http://schemas.openxmlformats.org/drawingml/2006/main" noGrp="1"/>
          </p:cNvSpPr>
          <p:nvPr/>
        </p:nvSpPr>
        <p:spPr>
          <a:xfrm xmlns:a="http://schemas.openxmlformats.org/drawingml/2006/main">
            <a:off x="1676400" y="4714875"/>
            <a:ext cx="9210675" cy="9525"/>
          </a:xfrm>
          <a:prstGeom xmlns:a="http://schemas.openxmlformats.org/drawingml/2006/main" prst="rect">
            <a:avLst/>
          </a:prstGeom>
          <a:solidFill xmlns:a="http://schemas.openxmlformats.org/drawingml/2006/main">
            <a:srgbClr val="C9D5D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8E6B49B-5F6A-4902-BC28-745E8D3A3A75}"/>
              </a:ext>
            </a:extLst>
          </p:cNvPr>
          <p:cNvSpPr>
            <a:spLocks xmlns:a="http://schemas.openxmlformats.org/drawingml/2006/main" noGrp="1"/>
          </p:cNvSpPr>
          <p:nvPr/>
        </p:nvSpPr>
        <p:spPr>
          <a:xfrm xmlns:a="http://schemas.openxmlformats.org/drawingml/2006/main">
            <a:off x="781050" y="4867275"/>
            <a:ext cx="762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007A7A"/>
                </a:solidFill>
              </a:defRPr>
            </a:defPPr>
            <a:lvl1pPr>
              <a:defRPr sz="2625" b="1">
                <a:solidFill>
                  <a:srgbClr val="007A7A"/>
                </a:solidFill>
              </a:defRPr>
            </a:lvl1pPr>
            <a:lvl2pPr>
              <a:defRPr sz="2625" b="1">
                <a:solidFill>
                  <a:srgbClr val="007A7A"/>
                </a:solidFill>
              </a:defRPr>
            </a:lvl2pPr>
            <a:lvl3pPr>
              <a:defRPr sz="2625" b="1">
                <a:solidFill>
                  <a:srgbClr val="007A7A"/>
                </a:solidFill>
              </a:defRPr>
            </a:lvl3pPr>
            <a:lvl4pPr>
              <a:defRPr sz="2625" b="1">
                <a:solidFill>
                  <a:srgbClr val="007A7A"/>
                </a:solidFill>
              </a:defRPr>
            </a:lvl4pPr>
            <a:lvl5pPr>
              <a:defRPr sz="2625" b="1">
                <a:solidFill>
                  <a:srgbClr val="007A7A"/>
                </a:solidFill>
              </a:defRPr>
            </a:lvl5pPr>
            <a:lvl6pPr>
              <a:defRPr sz="2625" b="1">
                <a:solidFill>
                  <a:srgbClr val="007A7A"/>
                </a:solidFill>
              </a:defRPr>
            </a:lvl6pPr>
            <a:lvl7pPr>
              <a:defRPr sz="2625" b="1">
                <a:solidFill>
                  <a:srgbClr val="007A7A"/>
                </a:solidFill>
              </a:defRPr>
            </a:lvl7pPr>
            <a:lvl8pPr>
              <a:defRPr sz="2625" b="1">
                <a:solidFill>
                  <a:srgbClr val="007A7A"/>
                </a:solidFill>
              </a:defRPr>
            </a:lvl8pPr>
            <a:lvl9pPr>
              <a:defRPr sz="2625" b="1">
                <a:solidFill>
                  <a:srgbClr val="007A7A"/>
                </a:solidFill>
              </a:defRPr>
            </a:lvl9pPr>
          </a:lstStyle>
          <a:p xmlns:a="http://schemas.openxmlformats.org/drawingml/2006/main">
            <a:pPr>
              <a:defRPr sz="2625" b="1">
                <a:solidFill>
                  <a:srgbClr val="007A7A"/>
                </a:solidFill>
              </a:defRPr>
            </a:pPr>
            <a:r>
              <a:rPr sz="2625" b="1">
                <a:solidFill>
                  <a:srgbClr val="007A7A"/>
                </a:solidFill>
              </a:rPr>
              <a:t>04</a:t>
            </a:r>
          </a:p>
        </p:txBody>
      </p:sp>
      <p:sp>
        <p:nvSpPr>
          <p:cNvPr id="19" name="">
            <a:extLst xmlns:a="http://schemas.openxmlformats.org/drawingml/2006/main">
              <a:ext uri="{FF2B5EF4-FFF2-40B4-BE49-F238E27FC236}">
                <a16:creationId xmlns:a16="http://schemas.microsoft.com/office/drawing/2014/main" id="{3DA3E3DF-5AAC-453F-9CD8-AD286BAF7B1B}"/>
              </a:ext>
            </a:extLst>
          </p:cNvPr>
          <p:cNvSpPr>
            <a:spLocks xmlns:a="http://schemas.openxmlformats.org/drawingml/2006/main" noGrp="1"/>
          </p:cNvSpPr>
          <p:nvPr/>
        </p:nvSpPr>
        <p:spPr>
          <a:xfrm xmlns:a="http://schemas.openxmlformats.org/drawingml/2006/main">
            <a:off x="1676400" y="4867275"/>
            <a:ext cx="2333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152F34"/>
                </a:solidFill>
              </a:defRPr>
            </a:defPPr>
            <a:lvl1pPr>
              <a:defRPr sz="1875" b="1">
                <a:solidFill>
                  <a:srgbClr val="152F34"/>
                </a:solidFill>
              </a:defRPr>
            </a:lvl1pPr>
            <a:lvl2pPr>
              <a:defRPr sz="1875" b="1">
                <a:solidFill>
                  <a:srgbClr val="152F34"/>
                </a:solidFill>
              </a:defRPr>
            </a:lvl2pPr>
            <a:lvl3pPr>
              <a:defRPr sz="1875" b="1">
                <a:solidFill>
                  <a:srgbClr val="152F34"/>
                </a:solidFill>
              </a:defRPr>
            </a:lvl3pPr>
            <a:lvl4pPr>
              <a:defRPr sz="1875" b="1">
                <a:solidFill>
                  <a:srgbClr val="152F34"/>
                </a:solidFill>
              </a:defRPr>
            </a:lvl4pPr>
            <a:lvl5pPr>
              <a:defRPr sz="1875" b="1">
                <a:solidFill>
                  <a:srgbClr val="152F34"/>
                </a:solidFill>
              </a:defRPr>
            </a:lvl5pPr>
            <a:lvl6pPr>
              <a:defRPr sz="1875" b="1">
                <a:solidFill>
                  <a:srgbClr val="152F34"/>
                </a:solidFill>
              </a:defRPr>
            </a:lvl6pPr>
            <a:lvl7pPr>
              <a:defRPr sz="1875" b="1">
                <a:solidFill>
                  <a:srgbClr val="152F34"/>
                </a:solidFill>
              </a:defRPr>
            </a:lvl7pPr>
            <a:lvl8pPr>
              <a:defRPr sz="1875" b="1">
                <a:solidFill>
                  <a:srgbClr val="152F34"/>
                </a:solidFill>
              </a:defRPr>
            </a:lvl8pPr>
            <a:lvl9pPr>
              <a:defRPr sz="1875" b="1">
                <a:solidFill>
                  <a:srgbClr val="152F34"/>
                </a:solidFill>
              </a:defRPr>
            </a:lvl9pPr>
          </a:lstStyle>
          <a:p xmlns:a="http://schemas.openxmlformats.org/drawingml/2006/main">
            <a:pPr>
              <a:defRPr sz="1875" b="1">
                <a:solidFill>
                  <a:srgbClr val="152F34"/>
                </a:solidFill>
              </a:defRPr>
            </a:pPr>
            <a:r>
              <a:rPr sz="1875" b="1">
                <a:solidFill>
                  <a:srgbClr val="152F34"/>
                </a:solidFill>
              </a:rPr>
              <a:t>Replay</a:t>
            </a:r>
          </a:p>
        </p:txBody>
      </p:sp>
      <p:sp>
        <p:nvSpPr>
          <p:cNvPr id="20" name="">
            <a:extLst xmlns:a="http://schemas.openxmlformats.org/drawingml/2006/main">
              <a:ext uri="{FF2B5EF4-FFF2-40B4-BE49-F238E27FC236}">
                <a16:creationId xmlns:a16="http://schemas.microsoft.com/office/drawing/2014/main" id="{F1DA3855-D108-475D-8B4F-33108C71C783}"/>
              </a:ext>
            </a:extLst>
          </p:cNvPr>
          <p:cNvSpPr>
            <a:spLocks xmlns:a="http://schemas.openxmlformats.org/drawingml/2006/main" noGrp="1"/>
          </p:cNvSpPr>
          <p:nvPr/>
        </p:nvSpPr>
        <p:spPr>
          <a:xfrm xmlns:a="http://schemas.openxmlformats.org/drawingml/2006/main">
            <a:off x="3971925" y="4867275"/>
            <a:ext cx="6934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152F34"/>
                </a:solidFill>
              </a:defRPr>
            </a:defPPr>
            <a:lvl1pPr>
              <a:defRPr sz="1575" b="0">
                <a:solidFill>
                  <a:srgbClr val="152F34"/>
                </a:solidFill>
              </a:defRPr>
            </a:lvl1pPr>
            <a:lvl2pPr>
              <a:defRPr sz="1575" b="0">
                <a:solidFill>
                  <a:srgbClr val="152F34"/>
                </a:solidFill>
              </a:defRPr>
            </a:lvl2pPr>
            <a:lvl3pPr>
              <a:defRPr sz="1575" b="0">
                <a:solidFill>
                  <a:srgbClr val="152F34"/>
                </a:solidFill>
              </a:defRPr>
            </a:lvl3pPr>
            <a:lvl4pPr>
              <a:defRPr sz="1575" b="0">
                <a:solidFill>
                  <a:srgbClr val="152F34"/>
                </a:solidFill>
              </a:defRPr>
            </a:lvl4pPr>
            <a:lvl5pPr>
              <a:defRPr sz="1575" b="0">
                <a:solidFill>
                  <a:srgbClr val="152F34"/>
                </a:solidFill>
              </a:defRPr>
            </a:lvl5pPr>
            <a:lvl6pPr>
              <a:defRPr sz="1575" b="0">
                <a:solidFill>
                  <a:srgbClr val="152F34"/>
                </a:solidFill>
              </a:defRPr>
            </a:lvl6pPr>
            <a:lvl7pPr>
              <a:defRPr sz="1575" b="0">
                <a:solidFill>
                  <a:srgbClr val="152F34"/>
                </a:solidFill>
              </a:defRPr>
            </a:lvl7pPr>
            <a:lvl8pPr>
              <a:defRPr sz="1575" b="0">
                <a:solidFill>
                  <a:srgbClr val="152F34"/>
                </a:solidFill>
              </a:defRPr>
            </a:lvl8pPr>
            <a:lvl9pPr>
              <a:defRPr sz="1575" b="0">
                <a:solidFill>
                  <a:srgbClr val="152F34"/>
                </a:solidFill>
              </a:defRPr>
            </a:lvl9pPr>
          </a:lstStyle>
          <a:p xmlns:a="http://schemas.openxmlformats.org/drawingml/2006/main">
            <a:pPr>
              <a:defRPr sz="1575" b="0">
                <a:solidFill>
                  <a:srgbClr val="152F34"/>
                </a:solidFill>
              </a:defRPr>
            </a:pPr>
            <a:r>
              <a:rPr sz="1575" b="0">
                <a:solidFill>
                  <a:srgbClr val="152F34"/>
                </a:solidFill>
              </a:rPr>
              <a:t>Reveal actual trace demand; record overload, service and carbon score</a:t>
            </a:r>
          </a:p>
        </p:txBody>
      </p:sp>
      <p:sp>
        <p:nvSpPr>
          <p:cNvPr id="21" name="">
            <a:extLst xmlns:a="http://schemas.openxmlformats.org/drawingml/2006/main">
              <a:ext uri="{FF2B5EF4-FFF2-40B4-BE49-F238E27FC236}">
                <a16:creationId xmlns:a16="http://schemas.microsoft.com/office/drawing/2014/main" id="{628E195A-DFAE-4D72-B364-FA0B4F01F174}"/>
              </a:ext>
            </a:extLst>
          </p:cNvPr>
          <p:cNvSpPr>
            <a:spLocks xmlns:a="http://schemas.openxmlformats.org/drawingml/2006/main" noGrp="1"/>
          </p:cNvSpPr>
          <p:nvPr/>
        </p:nvSpPr>
        <p:spPr>
          <a:xfrm xmlns:a="http://schemas.openxmlformats.org/drawingml/2006/main">
            <a:off x="781050" y="5934075"/>
            <a:ext cx="10429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b="0">
                <a:solidFill>
                  <a:srgbClr val="536A6D"/>
                </a:solidFill>
              </a:defRPr>
            </a:defPPr>
            <a:lvl1pPr>
              <a:defRPr sz="1350" b="0">
                <a:solidFill>
                  <a:srgbClr val="536A6D"/>
                </a:solidFill>
              </a:defRPr>
            </a:lvl1pPr>
            <a:lvl2pPr>
              <a:defRPr sz="1350" b="0">
                <a:solidFill>
                  <a:srgbClr val="536A6D"/>
                </a:solidFill>
              </a:defRPr>
            </a:lvl2pPr>
            <a:lvl3pPr>
              <a:defRPr sz="1350" b="0">
                <a:solidFill>
                  <a:srgbClr val="536A6D"/>
                </a:solidFill>
              </a:defRPr>
            </a:lvl3pPr>
            <a:lvl4pPr>
              <a:defRPr sz="1350" b="0">
                <a:solidFill>
                  <a:srgbClr val="536A6D"/>
                </a:solidFill>
              </a:defRPr>
            </a:lvl4pPr>
            <a:lvl5pPr>
              <a:defRPr sz="1350" b="0">
                <a:solidFill>
                  <a:srgbClr val="536A6D"/>
                </a:solidFill>
              </a:defRPr>
            </a:lvl5pPr>
            <a:lvl6pPr>
              <a:defRPr sz="1350" b="0">
                <a:solidFill>
                  <a:srgbClr val="536A6D"/>
                </a:solidFill>
              </a:defRPr>
            </a:lvl6pPr>
            <a:lvl7pPr>
              <a:defRPr sz="1350" b="0">
                <a:solidFill>
                  <a:srgbClr val="536A6D"/>
                </a:solidFill>
              </a:defRPr>
            </a:lvl7pPr>
            <a:lvl8pPr>
              <a:defRPr sz="1350" b="0">
                <a:solidFill>
                  <a:srgbClr val="536A6D"/>
                </a:solidFill>
              </a:defRPr>
            </a:lvl8pPr>
            <a:lvl9pPr>
              <a:defRPr sz="1350" b="0">
                <a:solidFill>
                  <a:srgbClr val="536A6D"/>
                </a:solidFill>
              </a:defRPr>
            </a:lvl9pPr>
          </a:lstStyle>
          <a:p xmlns:a="http://schemas.openxmlformats.org/drawingml/2006/main">
            <a:pPr>
              <a:defRPr sz="1350" b="0">
                <a:solidFill>
                  <a:srgbClr val="536A6D"/>
                </a:solidFill>
              </a:defRPr>
            </a:pPr>
            <a:r>
              <a:rPr sz="1350" b="0">
                <a:solidFill>
                  <a:srgbClr val="536A6D"/>
                </a:solidFill>
              </a:rPr>
              <a:t>SDN means software-defined networking: one controller computes routes from a network-wide view.</a:t>
            </a:r>
          </a:p>
        </p:txBody>
      </p:sp>
    </p:spTree>
    <p:extLst>
      <p:ext uri="{BB962C8B-B14F-4D97-AF65-F5344CB8AC3E}">
        <p14:creationId xmlns:p14="http://schemas.microsoft.com/office/powerpoint/2010/main" val="441332213"/>
      </p:ext>
    </p:extLst>
  </p:cSld>
</p:sld>
</file>

<file path=ppt/slides/slide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2EC6BB1-4098-4D79-AD60-5B03100DDC51}"/>
              </a:ext>
            </a:extLst>
          </p:cNvPr>
          <p:cNvSpPr>
            <a:spLocks xmlns:a="http://schemas.openxmlformats.org/drawingml/2006/main" noGrp="1"/>
          </p:cNvSpPr>
          <p:nvPr/>
        </p:nvSpPr>
        <p:spPr>
          <a:xfrm xmlns:a="http://schemas.openxmlformats.org/drawingml/2006/main">
            <a:off x="647700" y="30480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6D"/>
                </a:solidFill>
              </a:defRPr>
            </a:defPPr>
            <a:lvl1pPr>
              <a:defRPr sz="1050" b="1">
                <a:solidFill>
                  <a:srgbClr val="536A6D"/>
                </a:solidFill>
              </a:defRPr>
            </a:lvl1pPr>
            <a:lvl2pPr>
              <a:defRPr sz="1050" b="1">
                <a:solidFill>
                  <a:srgbClr val="536A6D"/>
                </a:solidFill>
              </a:defRPr>
            </a:lvl2pPr>
            <a:lvl3pPr>
              <a:defRPr sz="1050" b="1">
                <a:solidFill>
                  <a:srgbClr val="536A6D"/>
                </a:solidFill>
              </a:defRPr>
            </a:lvl3pPr>
            <a:lvl4pPr>
              <a:defRPr sz="1050" b="1">
                <a:solidFill>
                  <a:srgbClr val="536A6D"/>
                </a:solidFill>
              </a:defRPr>
            </a:lvl4pPr>
            <a:lvl5pPr>
              <a:defRPr sz="1050" b="1">
                <a:solidFill>
                  <a:srgbClr val="536A6D"/>
                </a:solidFill>
              </a:defRPr>
            </a:lvl5pPr>
            <a:lvl6pPr>
              <a:defRPr sz="1050" b="1">
                <a:solidFill>
                  <a:srgbClr val="536A6D"/>
                </a:solidFill>
              </a:defRPr>
            </a:lvl6pPr>
            <a:lvl7pPr>
              <a:defRPr sz="1050" b="1">
                <a:solidFill>
                  <a:srgbClr val="536A6D"/>
                </a:solidFill>
              </a:defRPr>
            </a:lvl7pPr>
            <a:lvl8pPr>
              <a:defRPr sz="1050" b="1">
                <a:solidFill>
                  <a:srgbClr val="536A6D"/>
                </a:solidFill>
              </a:defRPr>
            </a:lvl8pPr>
            <a:lvl9pPr>
              <a:defRPr sz="1050" b="1">
                <a:solidFill>
                  <a:srgbClr val="536A6D"/>
                </a:solidFill>
              </a:defRPr>
            </a:lvl9pPr>
          </a:lstStyle>
          <a:p xmlns:a="http://schemas.openxmlformats.org/drawingml/2006/main">
            <a:pPr>
              <a:defRPr sz="1050" b="1">
                <a:solidFill>
                  <a:srgbClr val="536A6D"/>
                </a:solidFill>
              </a:defRPr>
            </a:pPr>
            <a:r>
              <a:rPr sz="1050" b="1">
                <a:solidFill>
                  <a:srgbClr val="536A6D"/>
                </a:solidFill>
              </a:rPr>
              <a:t>MACHINE LEARNING</a:t>
            </a:r>
          </a:p>
        </p:txBody>
      </p:sp>
      <p:sp>
        <p:nvSpPr>
          <p:cNvPr id="2" name="">
            <a:extLst xmlns:a="http://schemas.openxmlformats.org/drawingml/2006/main">
              <a:ext uri="{FF2B5EF4-FFF2-40B4-BE49-F238E27FC236}">
                <a16:creationId xmlns:a16="http://schemas.microsoft.com/office/drawing/2014/main" id="{2B9F4336-586E-45C1-A938-B6F1CAAB1BBE}"/>
              </a:ext>
            </a:extLst>
          </p:cNvPr>
          <p:cNvSpPr>
            <a:spLocks xmlns:a="http://schemas.openxmlformats.org/drawingml/2006/main" noGrp="1"/>
          </p:cNvSpPr>
          <p:nvPr/>
        </p:nvSpPr>
        <p:spPr>
          <a:xfrm xmlns:a="http://schemas.openxmlformats.org/drawingml/2006/main">
            <a:off x="647700" y="723900"/>
            <a:ext cx="10763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152F34"/>
                </a:solidFill>
              </a:defRPr>
            </a:defPPr>
            <a:lvl1pPr>
              <a:defRPr sz="2775" b="1">
                <a:solidFill>
                  <a:srgbClr val="152F34"/>
                </a:solidFill>
              </a:defRPr>
            </a:lvl1pPr>
            <a:lvl2pPr>
              <a:defRPr sz="2775" b="1">
                <a:solidFill>
                  <a:srgbClr val="152F34"/>
                </a:solidFill>
              </a:defRPr>
            </a:lvl2pPr>
            <a:lvl3pPr>
              <a:defRPr sz="2775" b="1">
                <a:solidFill>
                  <a:srgbClr val="152F34"/>
                </a:solidFill>
              </a:defRPr>
            </a:lvl3pPr>
            <a:lvl4pPr>
              <a:defRPr sz="2775" b="1">
                <a:solidFill>
                  <a:srgbClr val="152F34"/>
                </a:solidFill>
              </a:defRPr>
            </a:lvl4pPr>
            <a:lvl5pPr>
              <a:defRPr sz="2775" b="1">
                <a:solidFill>
                  <a:srgbClr val="152F34"/>
                </a:solidFill>
              </a:defRPr>
            </a:lvl5pPr>
            <a:lvl6pPr>
              <a:defRPr sz="2775" b="1">
                <a:solidFill>
                  <a:srgbClr val="152F34"/>
                </a:solidFill>
              </a:defRPr>
            </a:lvl6pPr>
            <a:lvl7pPr>
              <a:defRPr sz="2775" b="1">
                <a:solidFill>
                  <a:srgbClr val="152F34"/>
                </a:solidFill>
              </a:defRPr>
            </a:lvl7pPr>
            <a:lvl8pPr>
              <a:defRPr sz="2775" b="1">
                <a:solidFill>
                  <a:srgbClr val="152F34"/>
                </a:solidFill>
              </a:defRPr>
            </a:lvl8pPr>
            <a:lvl9pPr>
              <a:defRPr sz="2775" b="1">
                <a:solidFill>
                  <a:srgbClr val="152F34"/>
                </a:solidFill>
              </a:defRPr>
            </a:lvl9pPr>
          </a:lstStyle>
          <a:p xmlns:a="http://schemas.openxmlformats.org/drawingml/2006/main">
            <a:pPr>
              <a:defRPr sz="2775" b="1">
                <a:solidFill>
                  <a:srgbClr val="152F34"/>
                </a:solidFill>
              </a:defRPr>
            </a:pPr>
            <a:r>
              <a:rPr sz="2775" b="1">
                <a:solidFill>
                  <a:srgbClr val="152F34"/>
                </a:solidFill>
              </a:rPr>
              <a:t>The model predicts demand; guardrails handle its errors</a:t>
            </a:r>
          </a:p>
        </p:txBody>
      </p:sp>
      <p:sp>
        <p:nvSpPr>
          <p:cNvPr id="3" name="">
            <a:extLst xmlns:a="http://schemas.openxmlformats.org/drawingml/2006/main">
              <a:ext uri="{FF2B5EF4-FFF2-40B4-BE49-F238E27FC236}">
                <a16:creationId xmlns:a16="http://schemas.microsoft.com/office/drawing/2014/main" id="{849BFB93-F208-4FEB-99E0-DB16840DA2BF}"/>
              </a:ext>
            </a:extLst>
          </p:cNvPr>
          <p:cNvSpPr>
            <a:spLocks xmlns:a="http://schemas.openxmlformats.org/drawingml/2006/main" noGrp="1"/>
          </p:cNvSpPr>
          <p:nvPr/>
        </p:nvSpPr>
        <p:spPr>
          <a:xfrm xmlns:a="http://schemas.openxmlformats.org/drawingml/2006/main">
            <a:off x="647700" y="1562100"/>
            <a:ext cx="10896600" cy="19050"/>
          </a:xfrm>
          <a:prstGeom xmlns:a="http://schemas.openxmlformats.org/drawingml/2006/main" prst="rect">
            <a:avLst/>
          </a:prstGeom>
          <a:solidFill xmlns:a="http://schemas.openxmlformats.org/drawingml/2006/main">
            <a:srgbClr val="C9D5D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5E5690E-F5B7-4635-8EFA-491AD6A04674}"/>
              </a:ext>
            </a:extLst>
          </p:cNvPr>
          <p:cNvSpPr>
            <a:spLocks xmlns:a="http://schemas.openxmlformats.org/drawingml/2006/main" noGrp="1"/>
          </p:cNvSpPr>
          <p:nvPr/>
        </p:nvSpPr>
        <p:spPr>
          <a:xfrm xmlns:a="http://schemas.openxmlformats.org/drawingml/2006/main">
            <a:off x="647700" y="6467475"/>
            <a:ext cx="6667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536A6D"/>
                </a:solidFill>
              </a:defRPr>
            </a:defPPr>
            <a:lvl1pPr>
              <a:defRPr sz="900" b="1">
                <a:solidFill>
                  <a:srgbClr val="536A6D"/>
                </a:solidFill>
              </a:defRPr>
            </a:lvl1pPr>
            <a:lvl2pPr>
              <a:defRPr sz="900" b="1">
                <a:solidFill>
                  <a:srgbClr val="536A6D"/>
                </a:solidFill>
              </a:defRPr>
            </a:lvl2pPr>
            <a:lvl3pPr>
              <a:defRPr sz="900" b="1">
                <a:solidFill>
                  <a:srgbClr val="536A6D"/>
                </a:solidFill>
              </a:defRPr>
            </a:lvl3pPr>
            <a:lvl4pPr>
              <a:defRPr sz="900" b="1">
                <a:solidFill>
                  <a:srgbClr val="536A6D"/>
                </a:solidFill>
              </a:defRPr>
            </a:lvl4pPr>
            <a:lvl5pPr>
              <a:defRPr sz="900" b="1">
                <a:solidFill>
                  <a:srgbClr val="536A6D"/>
                </a:solidFill>
              </a:defRPr>
            </a:lvl5pPr>
            <a:lvl6pPr>
              <a:defRPr sz="900" b="1">
                <a:solidFill>
                  <a:srgbClr val="536A6D"/>
                </a:solidFill>
              </a:defRPr>
            </a:lvl6pPr>
            <a:lvl7pPr>
              <a:defRPr sz="900" b="1">
                <a:solidFill>
                  <a:srgbClr val="536A6D"/>
                </a:solidFill>
              </a:defRPr>
            </a:lvl7pPr>
            <a:lvl8pPr>
              <a:defRPr sz="900" b="1">
                <a:solidFill>
                  <a:srgbClr val="536A6D"/>
                </a:solidFill>
              </a:defRPr>
            </a:lvl8pPr>
            <a:lvl9pPr>
              <a:defRPr sz="900" b="1">
                <a:solidFill>
                  <a:srgbClr val="536A6D"/>
                </a:solidFill>
              </a:defRPr>
            </a:lvl9pPr>
          </a:lstStyle>
          <a:p xmlns:a="http://schemas.openxmlformats.org/drawingml/2006/main">
            <a:pPr>
              <a:defRPr sz="900" b="1">
                <a:solidFill>
                  <a:srgbClr val="536A6D"/>
                </a:solidFill>
              </a:defRPr>
            </a:pPr>
            <a:r>
              <a:rPr sz="900" b="1">
                <a:solidFill>
                  <a:srgbClr val="536A6D"/>
                </a:solidFill>
              </a:rPr>
              <a:t>CARBONROUTE  /  REVIEW 1</a:t>
            </a:r>
          </a:p>
        </p:txBody>
      </p:sp>
      <p:sp>
        <p:nvSpPr>
          <p:cNvPr id="5" name="">
            <a:extLst xmlns:a="http://schemas.openxmlformats.org/drawingml/2006/main">
              <a:ext uri="{FF2B5EF4-FFF2-40B4-BE49-F238E27FC236}">
                <a16:creationId xmlns:a16="http://schemas.microsoft.com/office/drawing/2014/main" id="{74F62C71-A1D4-477E-97BB-FA5BA1F030BE}"/>
              </a:ext>
            </a:extLst>
          </p:cNvPr>
          <p:cNvSpPr>
            <a:spLocks xmlns:a="http://schemas.openxmlformats.org/drawingml/2006/main" noGrp="1"/>
          </p:cNvSpPr>
          <p:nvPr/>
        </p:nvSpPr>
        <p:spPr>
          <a:xfrm xmlns:a="http://schemas.openxmlformats.org/drawingml/2006/main">
            <a:off x="11077575" y="6448425"/>
            <a:ext cx="4476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36A6D"/>
                </a:solidFill>
              </a:defRPr>
            </a:defPPr>
            <a:lvl1pPr>
              <a:defRPr sz="975" b="1">
                <a:solidFill>
                  <a:srgbClr val="536A6D"/>
                </a:solidFill>
              </a:defRPr>
            </a:lvl1pPr>
            <a:lvl2pPr>
              <a:defRPr sz="975" b="1">
                <a:solidFill>
                  <a:srgbClr val="536A6D"/>
                </a:solidFill>
              </a:defRPr>
            </a:lvl2pPr>
            <a:lvl3pPr>
              <a:defRPr sz="975" b="1">
                <a:solidFill>
                  <a:srgbClr val="536A6D"/>
                </a:solidFill>
              </a:defRPr>
            </a:lvl3pPr>
            <a:lvl4pPr>
              <a:defRPr sz="975" b="1">
                <a:solidFill>
                  <a:srgbClr val="536A6D"/>
                </a:solidFill>
              </a:defRPr>
            </a:lvl4pPr>
            <a:lvl5pPr>
              <a:defRPr sz="975" b="1">
                <a:solidFill>
                  <a:srgbClr val="536A6D"/>
                </a:solidFill>
              </a:defRPr>
            </a:lvl5pPr>
            <a:lvl6pPr>
              <a:defRPr sz="975" b="1">
                <a:solidFill>
                  <a:srgbClr val="536A6D"/>
                </a:solidFill>
              </a:defRPr>
            </a:lvl6pPr>
            <a:lvl7pPr>
              <a:defRPr sz="975" b="1">
                <a:solidFill>
                  <a:srgbClr val="536A6D"/>
                </a:solidFill>
              </a:defRPr>
            </a:lvl7pPr>
            <a:lvl8pPr>
              <a:defRPr sz="975" b="1">
                <a:solidFill>
                  <a:srgbClr val="536A6D"/>
                </a:solidFill>
              </a:defRPr>
            </a:lvl8pPr>
            <a:lvl9pPr>
              <a:defRPr sz="975" b="1">
                <a:solidFill>
                  <a:srgbClr val="536A6D"/>
                </a:solidFill>
              </a:defRPr>
            </a:lvl9pPr>
          </a:lstStyle>
          <a:p xmlns:a="http://schemas.openxmlformats.org/drawingml/2006/main">
            <a:pPr>
              <a:defRPr sz="975" b="1">
                <a:solidFill>
                  <a:srgbClr val="536A6D"/>
                </a:solidFill>
              </a:defRPr>
            </a:pPr>
            <a:r>
              <a:rPr sz="975" b="1">
                <a:solidFill>
                  <a:srgbClr val="536A6D"/>
                </a:solidFill>
              </a:rPr>
              <a:t>06</a:t>
            </a:r>
          </a:p>
        </p:txBody>
      </p:sp>
      <p:sp>
        <p:nvSpPr>
          <p:cNvPr id="6" name="">
            <a:extLst xmlns:a="http://schemas.openxmlformats.org/drawingml/2006/main">
              <a:ext uri="{FF2B5EF4-FFF2-40B4-BE49-F238E27FC236}">
                <a16:creationId xmlns:a16="http://schemas.microsoft.com/office/drawing/2014/main" id="{EC2911B2-29A2-4ED8-9A4A-200D86881288}"/>
              </a:ext>
            </a:extLst>
          </p:cNvPr>
          <p:cNvSpPr>
            <a:spLocks xmlns:a="http://schemas.openxmlformats.org/drawingml/2006/main" noGrp="1"/>
          </p:cNvSpPr>
          <p:nvPr/>
        </p:nvSpPr>
        <p:spPr>
          <a:xfrm xmlns:a="http://schemas.openxmlformats.org/drawingml/2006/main">
            <a:off x="742950" y="2047875"/>
            <a:ext cx="2000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007A7A"/>
                </a:solidFill>
              </a:defRPr>
            </a:defPPr>
            <a:lvl1pPr>
              <a:defRPr sz="2325" b="1">
                <a:solidFill>
                  <a:srgbClr val="007A7A"/>
                </a:solidFill>
              </a:defRPr>
            </a:lvl1pPr>
            <a:lvl2pPr>
              <a:defRPr sz="2325" b="1">
                <a:solidFill>
                  <a:srgbClr val="007A7A"/>
                </a:solidFill>
              </a:defRPr>
            </a:lvl2pPr>
            <a:lvl3pPr>
              <a:defRPr sz="2325" b="1">
                <a:solidFill>
                  <a:srgbClr val="007A7A"/>
                </a:solidFill>
              </a:defRPr>
            </a:lvl3pPr>
            <a:lvl4pPr>
              <a:defRPr sz="2325" b="1">
                <a:solidFill>
                  <a:srgbClr val="007A7A"/>
                </a:solidFill>
              </a:defRPr>
            </a:lvl4pPr>
            <a:lvl5pPr>
              <a:defRPr sz="2325" b="1">
                <a:solidFill>
                  <a:srgbClr val="007A7A"/>
                </a:solidFill>
              </a:defRPr>
            </a:lvl5pPr>
            <a:lvl6pPr>
              <a:defRPr sz="2325" b="1">
                <a:solidFill>
                  <a:srgbClr val="007A7A"/>
                </a:solidFill>
              </a:defRPr>
            </a:lvl6pPr>
            <a:lvl7pPr>
              <a:defRPr sz="2325" b="1">
                <a:solidFill>
                  <a:srgbClr val="007A7A"/>
                </a:solidFill>
              </a:defRPr>
            </a:lvl7pPr>
            <a:lvl8pPr>
              <a:defRPr sz="2325" b="1">
                <a:solidFill>
                  <a:srgbClr val="007A7A"/>
                </a:solidFill>
              </a:defRPr>
            </a:lvl8pPr>
            <a:lvl9pPr>
              <a:defRPr sz="2325" b="1">
                <a:solidFill>
                  <a:srgbClr val="007A7A"/>
                </a:solidFill>
              </a:defRPr>
            </a:lvl9pPr>
          </a:lstStyle>
          <a:p xmlns:a="http://schemas.openxmlformats.org/drawingml/2006/main">
            <a:pPr>
              <a:defRPr sz="2325" b="1">
                <a:solidFill>
                  <a:srgbClr val="007A7A"/>
                </a:solidFill>
              </a:defRPr>
            </a:pPr>
            <a:r>
              <a:rPr sz="2325" b="1">
                <a:solidFill>
                  <a:srgbClr val="007A7A"/>
                </a:solidFill>
              </a:rPr>
              <a:t>GCN</a:t>
            </a:r>
          </a:p>
        </p:txBody>
      </p:sp>
      <p:sp>
        <p:nvSpPr>
          <p:cNvPr id="7" name="">
            <a:extLst xmlns:a="http://schemas.openxmlformats.org/drawingml/2006/main">
              <a:ext uri="{FF2B5EF4-FFF2-40B4-BE49-F238E27FC236}">
                <a16:creationId xmlns:a16="http://schemas.microsoft.com/office/drawing/2014/main" id="{ED96CB6A-5944-4EEE-A541-E547C341C2AB}"/>
              </a:ext>
            </a:extLst>
          </p:cNvPr>
          <p:cNvSpPr>
            <a:spLocks xmlns:a="http://schemas.openxmlformats.org/drawingml/2006/main" noGrp="1"/>
          </p:cNvSpPr>
          <p:nvPr/>
        </p:nvSpPr>
        <p:spPr>
          <a:xfrm xmlns:a="http://schemas.openxmlformats.org/drawingml/2006/main">
            <a:off x="742950" y="2524125"/>
            <a:ext cx="4429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52F34"/>
                </a:solidFill>
              </a:defRPr>
            </a:defPPr>
            <a:lvl1pPr>
              <a:defRPr sz="1650" b="0">
                <a:solidFill>
                  <a:srgbClr val="152F34"/>
                </a:solidFill>
              </a:defRPr>
            </a:lvl1pPr>
            <a:lvl2pPr>
              <a:defRPr sz="1650" b="0">
                <a:solidFill>
                  <a:srgbClr val="152F34"/>
                </a:solidFill>
              </a:defRPr>
            </a:lvl2pPr>
            <a:lvl3pPr>
              <a:defRPr sz="1650" b="0">
                <a:solidFill>
                  <a:srgbClr val="152F34"/>
                </a:solidFill>
              </a:defRPr>
            </a:lvl3pPr>
            <a:lvl4pPr>
              <a:defRPr sz="1650" b="0">
                <a:solidFill>
                  <a:srgbClr val="152F34"/>
                </a:solidFill>
              </a:defRPr>
            </a:lvl4pPr>
            <a:lvl5pPr>
              <a:defRPr sz="1650" b="0">
                <a:solidFill>
                  <a:srgbClr val="152F34"/>
                </a:solidFill>
              </a:defRPr>
            </a:lvl5pPr>
            <a:lvl6pPr>
              <a:defRPr sz="1650" b="0">
                <a:solidFill>
                  <a:srgbClr val="152F34"/>
                </a:solidFill>
              </a:defRPr>
            </a:lvl6pPr>
            <a:lvl7pPr>
              <a:defRPr sz="1650" b="0">
                <a:solidFill>
                  <a:srgbClr val="152F34"/>
                </a:solidFill>
              </a:defRPr>
            </a:lvl7pPr>
            <a:lvl8pPr>
              <a:defRPr sz="1650" b="0">
                <a:solidFill>
                  <a:srgbClr val="152F34"/>
                </a:solidFill>
              </a:defRPr>
            </a:lvl8pPr>
            <a:lvl9pPr>
              <a:defRPr sz="1650" b="0">
                <a:solidFill>
                  <a:srgbClr val="152F34"/>
                </a:solidFill>
              </a:defRPr>
            </a:lvl9pPr>
          </a:lstStyle>
          <a:p xmlns:a="http://schemas.openxmlformats.org/drawingml/2006/main">
            <a:pPr>
              <a:defRPr sz="1650" b="0">
                <a:solidFill>
                  <a:srgbClr val="152F34"/>
                </a:solidFill>
              </a:defRPr>
            </a:pPr>
            <a:r>
              <a:rPr sz="1650" b="0">
                <a:solidFill>
                  <a:srgbClr val="152F34"/>
                </a:solidFill>
              </a:rPr>
              <a:t>shares information across connected routers</a:t>
            </a:r>
          </a:p>
        </p:txBody>
      </p:sp>
      <p:sp>
        <p:nvSpPr>
          <p:cNvPr id="8" name="">
            <a:extLst xmlns:a="http://schemas.openxmlformats.org/drawingml/2006/main">
              <a:ext uri="{FF2B5EF4-FFF2-40B4-BE49-F238E27FC236}">
                <a16:creationId xmlns:a16="http://schemas.microsoft.com/office/drawing/2014/main" id="{E987D025-A034-4E49-B6B7-FAB7F269004F}"/>
              </a:ext>
            </a:extLst>
          </p:cNvPr>
          <p:cNvSpPr>
            <a:spLocks xmlns:a="http://schemas.openxmlformats.org/drawingml/2006/main" noGrp="1"/>
          </p:cNvSpPr>
          <p:nvPr/>
        </p:nvSpPr>
        <p:spPr>
          <a:xfrm xmlns:a="http://schemas.openxmlformats.org/drawingml/2006/main">
            <a:off x="6086475" y="2047875"/>
            <a:ext cx="2000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325" b="1">
                <a:solidFill>
                  <a:srgbClr val="007A7A"/>
                </a:solidFill>
              </a:defRPr>
            </a:defPPr>
            <a:lvl1pPr>
              <a:defRPr sz="2325" b="1">
                <a:solidFill>
                  <a:srgbClr val="007A7A"/>
                </a:solidFill>
              </a:defRPr>
            </a:lvl1pPr>
            <a:lvl2pPr>
              <a:defRPr sz="2325" b="1">
                <a:solidFill>
                  <a:srgbClr val="007A7A"/>
                </a:solidFill>
              </a:defRPr>
            </a:lvl2pPr>
            <a:lvl3pPr>
              <a:defRPr sz="2325" b="1">
                <a:solidFill>
                  <a:srgbClr val="007A7A"/>
                </a:solidFill>
              </a:defRPr>
            </a:lvl3pPr>
            <a:lvl4pPr>
              <a:defRPr sz="2325" b="1">
                <a:solidFill>
                  <a:srgbClr val="007A7A"/>
                </a:solidFill>
              </a:defRPr>
            </a:lvl4pPr>
            <a:lvl5pPr>
              <a:defRPr sz="2325" b="1">
                <a:solidFill>
                  <a:srgbClr val="007A7A"/>
                </a:solidFill>
              </a:defRPr>
            </a:lvl5pPr>
            <a:lvl6pPr>
              <a:defRPr sz="2325" b="1">
                <a:solidFill>
                  <a:srgbClr val="007A7A"/>
                </a:solidFill>
              </a:defRPr>
            </a:lvl6pPr>
            <a:lvl7pPr>
              <a:defRPr sz="2325" b="1">
                <a:solidFill>
                  <a:srgbClr val="007A7A"/>
                </a:solidFill>
              </a:defRPr>
            </a:lvl7pPr>
            <a:lvl8pPr>
              <a:defRPr sz="2325" b="1">
                <a:solidFill>
                  <a:srgbClr val="007A7A"/>
                </a:solidFill>
              </a:defRPr>
            </a:lvl8pPr>
            <a:lvl9pPr>
              <a:defRPr sz="2325" b="1">
                <a:solidFill>
                  <a:srgbClr val="007A7A"/>
                </a:solidFill>
              </a:defRPr>
            </a:lvl9pPr>
          </a:lstStyle>
          <a:p xmlns:a="http://schemas.openxmlformats.org/drawingml/2006/main">
            <a:pPr>
              <a:defRPr sz="2325" b="1">
                <a:solidFill>
                  <a:srgbClr val="007A7A"/>
                </a:solidFill>
              </a:defRPr>
            </a:pPr>
            <a:r>
              <a:rPr sz="2325" b="1">
                <a:solidFill>
                  <a:srgbClr val="007A7A"/>
                </a:solidFill>
              </a:rPr>
              <a:t>GRU</a:t>
            </a:r>
          </a:p>
        </p:txBody>
      </p:sp>
      <p:sp>
        <p:nvSpPr>
          <p:cNvPr id="9" name="">
            <a:extLst xmlns:a="http://schemas.openxmlformats.org/drawingml/2006/main">
              <a:ext uri="{FF2B5EF4-FFF2-40B4-BE49-F238E27FC236}">
                <a16:creationId xmlns:a16="http://schemas.microsoft.com/office/drawing/2014/main" id="{98BC8573-964B-47F3-B746-A8CC29047D42}"/>
              </a:ext>
            </a:extLst>
          </p:cNvPr>
          <p:cNvSpPr>
            <a:spLocks xmlns:a="http://schemas.openxmlformats.org/drawingml/2006/main" noGrp="1"/>
          </p:cNvSpPr>
          <p:nvPr/>
        </p:nvSpPr>
        <p:spPr>
          <a:xfrm xmlns:a="http://schemas.openxmlformats.org/drawingml/2006/main">
            <a:off x="6086475" y="2524125"/>
            <a:ext cx="4724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52F34"/>
                </a:solidFill>
              </a:defRPr>
            </a:defPPr>
            <a:lvl1pPr>
              <a:defRPr sz="1650" b="0">
                <a:solidFill>
                  <a:srgbClr val="152F34"/>
                </a:solidFill>
              </a:defRPr>
            </a:lvl1pPr>
            <a:lvl2pPr>
              <a:defRPr sz="1650" b="0">
                <a:solidFill>
                  <a:srgbClr val="152F34"/>
                </a:solidFill>
              </a:defRPr>
            </a:lvl2pPr>
            <a:lvl3pPr>
              <a:defRPr sz="1650" b="0">
                <a:solidFill>
                  <a:srgbClr val="152F34"/>
                </a:solidFill>
              </a:defRPr>
            </a:lvl3pPr>
            <a:lvl4pPr>
              <a:defRPr sz="1650" b="0">
                <a:solidFill>
                  <a:srgbClr val="152F34"/>
                </a:solidFill>
              </a:defRPr>
            </a:lvl4pPr>
            <a:lvl5pPr>
              <a:defRPr sz="1650" b="0">
                <a:solidFill>
                  <a:srgbClr val="152F34"/>
                </a:solidFill>
              </a:defRPr>
            </a:lvl5pPr>
            <a:lvl6pPr>
              <a:defRPr sz="1650" b="0">
                <a:solidFill>
                  <a:srgbClr val="152F34"/>
                </a:solidFill>
              </a:defRPr>
            </a:lvl6pPr>
            <a:lvl7pPr>
              <a:defRPr sz="1650" b="0">
                <a:solidFill>
                  <a:srgbClr val="152F34"/>
                </a:solidFill>
              </a:defRPr>
            </a:lvl7pPr>
            <a:lvl8pPr>
              <a:defRPr sz="1650" b="0">
                <a:solidFill>
                  <a:srgbClr val="152F34"/>
                </a:solidFill>
              </a:defRPr>
            </a:lvl8pPr>
            <a:lvl9pPr>
              <a:defRPr sz="1650" b="0">
                <a:solidFill>
                  <a:srgbClr val="152F34"/>
                </a:solidFill>
              </a:defRPr>
            </a:lvl9pPr>
          </a:lstStyle>
          <a:p xmlns:a="http://schemas.openxmlformats.org/drawingml/2006/main">
            <a:pPr>
              <a:defRPr sz="1650" b="0">
                <a:solidFill>
                  <a:srgbClr val="152F34"/>
                </a:solidFill>
              </a:defRPr>
            </a:pPr>
            <a:r>
              <a:rPr sz="1650" b="0">
                <a:solidFill>
                  <a:srgbClr val="152F34"/>
                </a:solidFill>
              </a:rPr>
              <a:t>learns patterns across successive 15-minute observations</a:t>
            </a:r>
          </a:p>
        </p:txBody>
      </p:sp>
      <p:sp>
        <p:nvSpPr>
          <p:cNvPr id="10" name="">
            <a:extLst xmlns:a="http://schemas.openxmlformats.org/drawingml/2006/main">
              <a:ext uri="{FF2B5EF4-FFF2-40B4-BE49-F238E27FC236}">
                <a16:creationId xmlns:a16="http://schemas.microsoft.com/office/drawing/2014/main" id="{0DD5AD3B-A96F-4AC4-8025-F3E9E599A323}"/>
              </a:ext>
            </a:extLst>
          </p:cNvPr>
          <p:cNvSpPr>
            <a:spLocks xmlns:a="http://schemas.openxmlformats.org/drawingml/2006/main" noGrp="1"/>
          </p:cNvSpPr>
          <p:nvPr/>
        </p:nvSpPr>
        <p:spPr>
          <a:xfrm xmlns:a="http://schemas.openxmlformats.org/drawingml/2006/main">
            <a:off x="742950" y="3609975"/>
            <a:ext cx="10239375" cy="19050"/>
          </a:xfrm>
          <a:prstGeom xmlns:a="http://schemas.openxmlformats.org/drawingml/2006/main" prst="rect">
            <a:avLst/>
          </a:prstGeom>
          <a:solidFill xmlns:a="http://schemas.openxmlformats.org/drawingml/2006/main">
            <a:srgbClr val="C9D5D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DEB2D46-4080-4780-8164-56D73C3F7D20}"/>
              </a:ext>
            </a:extLst>
          </p:cNvPr>
          <p:cNvSpPr>
            <a:spLocks xmlns:a="http://schemas.openxmlformats.org/drawingml/2006/main" noGrp="1"/>
          </p:cNvSpPr>
          <p:nvPr/>
        </p:nvSpPr>
        <p:spPr>
          <a:xfrm xmlns:a="http://schemas.openxmlformats.org/drawingml/2006/main">
            <a:off x="742950" y="3914775"/>
            <a:ext cx="10001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152F34"/>
                </a:solidFill>
              </a:defRPr>
            </a:defPPr>
            <a:lvl1pPr>
              <a:defRPr sz="1875" b="1">
                <a:solidFill>
                  <a:srgbClr val="152F34"/>
                </a:solidFill>
              </a:defRPr>
            </a:lvl1pPr>
            <a:lvl2pPr>
              <a:defRPr sz="1875" b="1">
                <a:solidFill>
                  <a:srgbClr val="152F34"/>
                </a:solidFill>
              </a:defRPr>
            </a:lvl2pPr>
            <a:lvl3pPr>
              <a:defRPr sz="1875" b="1">
                <a:solidFill>
                  <a:srgbClr val="152F34"/>
                </a:solidFill>
              </a:defRPr>
            </a:lvl3pPr>
            <a:lvl4pPr>
              <a:defRPr sz="1875" b="1">
                <a:solidFill>
                  <a:srgbClr val="152F34"/>
                </a:solidFill>
              </a:defRPr>
            </a:lvl4pPr>
            <a:lvl5pPr>
              <a:defRPr sz="1875" b="1">
                <a:solidFill>
                  <a:srgbClr val="152F34"/>
                </a:solidFill>
              </a:defRPr>
            </a:lvl5pPr>
            <a:lvl6pPr>
              <a:defRPr sz="1875" b="1">
                <a:solidFill>
                  <a:srgbClr val="152F34"/>
                </a:solidFill>
              </a:defRPr>
            </a:lvl6pPr>
            <a:lvl7pPr>
              <a:defRPr sz="1875" b="1">
                <a:solidFill>
                  <a:srgbClr val="152F34"/>
                </a:solidFill>
              </a:defRPr>
            </a:lvl7pPr>
            <a:lvl8pPr>
              <a:defRPr sz="1875" b="1">
                <a:solidFill>
                  <a:srgbClr val="152F34"/>
                </a:solidFill>
              </a:defRPr>
            </a:lvl8pPr>
            <a:lvl9pPr>
              <a:defRPr sz="1875" b="1">
                <a:solidFill>
                  <a:srgbClr val="152F34"/>
                </a:solidFill>
              </a:defRPr>
            </a:lvl9pPr>
          </a:lstStyle>
          <a:p xmlns:a="http://schemas.openxmlformats.org/drawingml/2006/main">
            <a:pPr>
              <a:defRPr sz="1875" b="1">
                <a:solidFill>
                  <a:srgbClr val="152F34"/>
                </a:solidFill>
              </a:defRPr>
            </a:pPr>
            <a:r>
              <a:rPr sz="1875" b="1">
                <a:solidFill>
                  <a:srgbClr val="152F34"/>
                </a:solidFill>
              </a:rPr>
              <a:t>The decision layer uses three safeguards</a:t>
            </a:r>
          </a:p>
        </p:txBody>
      </p:sp>
      <p:sp>
        <p:nvSpPr>
          <p:cNvPr id="12" name="">
            <a:extLst xmlns:a="http://schemas.openxmlformats.org/drawingml/2006/main">
              <a:ext uri="{FF2B5EF4-FFF2-40B4-BE49-F238E27FC236}">
                <a16:creationId xmlns:a16="http://schemas.microsoft.com/office/drawing/2014/main" id="{C674A75D-FB7A-45B4-B6F5-A9FE5BE15250}"/>
              </a:ext>
            </a:extLst>
          </p:cNvPr>
          <p:cNvSpPr>
            <a:spLocks xmlns:a="http://schemas.openxmlformats.org/drawingml/2006/main" noGrp="1"/>
          </p:cNvSpPr>
          <p:nvPr/>
        </p:nvSpPr>
        <p:spPr>
          <a:xfrm xmlns:a="http://schemas.openxmlformats.org/drawingml/2006/main">
            <a:off x="742950" y="4495800"/>
            <a:ext cx="4838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A7A"/>
                </a:solidFill>
              </a:defRPr>
            </a:defPPr>
            <a:lvl1pPr>
              <a:defRPr sz="1500" b="1">
                <a:solidFill>
                  <a:srgbClr val="007A7A"/>
                </a:solidFill>
              </a:defRPr>
            </a:lvl1pPr>
            <a:lvl2pPr>
              <a:defRPr sz="1500" b="1">
                <a:solidFill>
                  <a:srgbClr val="007A7A"/>
                </a:solidFill>
              </a:defRPr>
            </a:lvl2pPr>
            <a:lvl3pPr>
              <a:defRPr sz="1500" b="1">
                <a:solidFill>
                  <a:srgbClr val="007A7A"/>
                </a:solidFill>
              </a:defRPr>
            </a:lvl3pPr>
            <a:lvl4pPr>
              <a:defRPr sz="1500" b="1">
                <a:solidFill>
                  <a:srgbClr val="007A7A"/>
                </a:solidFill>
              </a:defRPr>
            </a:lvl4pPr>
            <a:lvl5pPr>
              <a:defRPr sz="1500" b="1">
                <a:solidFill>
                  <a:srgbClr val="007A7A"/>
                </a:solidFill>
              </a:defRPr>
            </a:lvl5pPr>
            <a:lvl6pPr>
              <a:defRPr sz="1500" b="1">
                <a:solidFill>
                  <a:srgbClr val="007A7A"/>
                </a:solidFill>
              </a:defRPr>
            </a:lvl6pPr>
            <a:lvl7pPr>
              <a:defRPr sz="1500" b="1">
                <a:solidFill>
                  <a:srgbClr val="007A7A"/>
                </a:solidFill>
              </a:defRPr>
            </a:lvl7pPr>
            <a:lvl8pPr>
              <a:defRPr sz="1500" b="1">
                <a:solidFill>
                  <a:srgbClr val="007A7A"/>
                </a:solidFill>
              </a:defRPr>
            </a:lvl8pPr>
            <a:lvl9pPr>
              <a:defRPr sz="1500" b="1">
                <a:solidFill>
                  <a:srgbClr val="007A7A"/>
                </a:solidFill>
              </a:defRPr>
            </a:lvl9pPr>
          </a:lstStyle>
          <a:p xmlns:a="http://schemas.openxmlformats.org/drawingml/2006/main">
            <a:pPr>
              <a:defRPr sz="1500" b="1">
                <a:solidFill>
                  <a:srgbClr val="007A7A"/>
                </a:solidFill>
              </a:defRPr>
            </a:pPr>
            <a:r>
              <a:rPr sz="1500" b="1">
                <a:solidFill>
                  <a:srgbClr val="007A7A"/>
                </a:solidFill>
              </a:rPr>
              <a:t>90th-percentile forecast-error margin</a:t>
            </a:r>
          </a:p>
        </p:txBody>
      </p:sp>
      <p:sp>
        <p:nvSpPr>
          <p:cNvPr id="13" name="">
            <a:extLst xmlns:a="http://schemas.openxmlformats.org/drawingml/2006/main">
              <a:ext uri="{FF2B5EF4-FFF2-40B4-BE49-F238E27FC236}">
                <a16:creationId xmlns:a16="http://schemas.microsoft.com/office/drawing/2014/main" id="{D201E364-304F-4DB1-8483-DD2C3DD71C85}"/>
              </a:ext>
            </a:extLst>
          </p:cNvPr>
          <p:cNvSpPr>
            <a:spLocks xmlns:a="http://schemas.openxmlformats.org/drawingml/2006/main" noGrp="1"/>
          </p:cNvSpPr>
          <p:nvPr/>
        </p:nvSpPr>
        <p:spPr>
          <a:xfrm xmlns:a="http://schemas.openxmlformats.org/drawingml/2006/main">
            <a:off x="742950" y="4905375"/>
            <a:ext cx="52673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A7A"/>
                </a:solidFill>
              </a:defRPr>
            </a:defPPr>
            <a:lvl1pPr>
              <a:defRPr sz="1500" b="1">
                <a:solidFill>
                  <a:srgbClr val="007A7A"/>
                </a:solidFill>
              </a:defRPr>
            </a:lvl1pPr>
            <a:lvl2pPr>
              <a:defRPr sz="1500" b="1">
                <a:solidFill>
                  <a:srgbClr val="007A7A"/>
                </a:solidFill>
              </a:defRPr>
            </a:lvl2pPr>
            <a:lvl3pPr>
              <a:defRPr sz="1500" b="1">
                <a:solidFill>
                  <a:srgbClr val="007A7A"/>
                </a:solidFill>
              </a:defRPr>
            </a:lvl3pPr>
            <a:lvl4pPr>
              <a:defRPr sz="1500" b="1">
                <a:solidFill>
                  <a:srgbClr val="007A7A"/>
                </a:solidFill>
              </a:defRPr>
            </a:lvl4pPr>
            <a:lvl5pPr>
              <a:defRPr sz="1500" b="1">
                <a:solidFill>
                  <a:srgbClr val="007A7A"/>
                </a:solidFill>
              </a:defRPr>
            </a:lvl5pPr>
            <a:lvl6pPr>
              <a:defRPr sz="1500" b="1">
                <a:solidFill>
                  <a:srgbClr val="007A7A"/>
                </a:solidFill>
              </a:defRPr>
            </a:lvl6pPr>
            <a:lvl7pPr>
              <a:defRPr sz="1500" b="1">
                <a:solidFill>
                  <a:srgbClr val="007A7A"/>
                </a:solidFill>
              </a:defRPr>
            </a:lvl7pPr>
            <a:lvl8pPr>
              <a:defRPr sz="1500" b="1">
                <a:solidFill>
                  <a:srgbClr val="007A7A"/>
                </a:solidFill>
              </a:defRPr>
            </a:lvl8pPr>
            <a:lvl9pPr>
              <a:defRPr sz="1500" b="1">
                <a:solidFill>
                  <a:srgbClr val="007A7A"/>
                </a:solidFill>
              </a:defRPr>
            </a:lvl9pPr>
          </a:lstStyle>
          <a:p xmlns:a="http://schemas.openxmlformats.org/drawingml/2006/main">
            <a:pPr>
              <a:defRPr sz="1500" b="1">
                <a:solidFill>
                  <a:srgbClr val="007A7A"/>
                </a:solidFill>
              </a:defRPr>
            </a:pPr>
            <a:r>
              <a:rPr sz="1500" b="1">
                <a:solidFill>
                  <a:srgbClr val="007A7A"/>
                </a:solidFill>
              </a:rPr>
              <a:t>Shared capacity reserved across three horizons</a:t>
            </a:r>
          </a:p>
        </p:txBody>
      </p:sp>
      <p:sp>
        <p:nvSpPr>
          <p:cNvPr id="14" name="">
            <a:extLst xmlns:a="http://schemas.openxmlformats.org/drawingml/2006/main">
              <a:ext uri="{FF2B5EF4-FFF2-40B4-BE49-F238E27FC236}">
                <a16:creationId xmlns:a16="http://schemas.microsoft.com/office/drawing/2014/main" id="{988C9017-9A2C-4601-A30C-B3303920E028}"/>
              </a:ext>
            </a:extLst>
          </p:cNvPr>
          <p:cNvSpPr>
            <a:spLocks xmlns:a="http://schemas.openxmlformats.org/drawingml/2006/main" noGrp="1"/>
          </p:cNvSpPr>
          <p:nvPr/>
        </p:nvSpPr>
        <p:spPr>
          <a:xfrm xmlns:a="http://schemas.openxmlformats.org/drawingml/2006/main">
            <a:off x="6086475" y="4495800"/>
            <a:ext cx="4810125"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007A7A"/>
                </a:solidFill>
              </a:defRPr>
            </a:defPPr>
            <a:lvl1pPr>
              <a:defRPr sz="1500" b="1">
                <a:solidFill>
                  <a:srgbClr val="007A7A"/>
                </a:solidFill>
              </a:defRPr>
            </a:lvl1pPr>
            <a:lvl2pPr>
              <a:defRPr sz="1500" b="1">
                <a:solidFill>
                  <a:srgbClr val="007A7A"/>
                </a:solidFill>
              </a:defRPr>
            </a:lvl2pPr>
            <a:lvl3pPr>
              <a:defRPr sz="1500" b="1">
                <a:solidFill>
                  <a:srgbClr val="007A7A"/>
                </a:solidFill>
              </a:defRPr>
            </a:lvl3pPr>
            <a:lvl4pPr>
              <a:defRPr sz="1500" b="1">
                <a:solidFill>
                  <a:srgbClr val="007A7A"/>
                </a:solidFill>
              </a:defRPr>
            </a:lvl4pPr>
            <a:lvl5pPr>
              <a:defRPr sz="1500" b="1">
                <a:solidFill>
                  <a:srgbClr val="007A7A"/>
                </a:solidFill>
              </a:defRPr>
            </a:lvl5pPr>
            <a:lvl6pPr>
              <a:defRPr sz="1500" b="1">
                <a:solidFill>
                  <a:srgbClr val="007A7A"/>
                </a:solidFill>
              </a:defRPr>
            </a:lvl6pPr>
            <a:lvl7pPr>
              <a:defRPr sz="1500" b="1">
                <a:solidFill>
                  <a:srgbClr val="007A7A"/>
                </a:solidFill>
              </a:defRPr>
            </a:lvl7pPr>
            <a:lvl8pPr>
              <a:defRPr sz="1500" b="1">
                <a:solidFill>
                  <a:srgbClr val="007A7A"/>
                </a:solidFill>
              </a:defRPr>
            </a:lvl8pPr>
            <a:lvl9pPr>
              <a:defRPr sz="1500" b="1">
                <a:solidFill>
                  <a:srgbClr val="007A7A"/>
                </a:solidFill>
              </a:defRPr>
            </a:lvl9pPr>
          </a:lstStyle>
          <a:p xmlns:a="http://schemas.openxmlformats.org/drawingml/2006/main">
            <a:pPr>
              <a:defRPr sz="1500" b="1">
                <a:solidFill>
                  <a:srgbClr val="007A7A"/>
                </a:solidFill>
              </a:defRPr>
            </a:pPr>
            <a:r>
              <a:rPr sz="1500" b="1">
                <a:solidFill>
                  <a:srgbClr val="007A7A"/>
                </a:solidFill>
              </a:rPr>
              <a:t>80% planning utilization; 5% improvement and 30-minute hold to limit route flaps</a:t>
            </a:r>
          </a:p>
        </p:txBody>
      </p:sp>
    </p:spTree>
    <p:extLst>
      <p:ext uri="{BB962C8B-B14F-4D97-AF65-F5344CB8AC3E}">
        <p14:creationId xmlns:p14="http://schemas.microsoft.com/office/powerpoint/2010/main" val="1895296365"/>
      </p:ext>
    </p:extLst>
  </p:cSld>
</p:sld>
</file>

<file path=ppt/slides/slide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8BBBE61-A014-4DAD-AE1B-9E0595BB9AD2}"/>
              </a:ext>
            </a:extLst>
          </p:cNvPr>
          <p:cNvSpPr>
            <a:spLocks xmlns:a="http://schemas.openxmlformats.org/drawingml/2006/main" noGrp="1"/>
          </p:cNvSpPr>
          <p:nvPr/>
        </p:nvSpPr>
        <p:spPr>
          <a:xfrm xmlns:a="http://schemas.openxmlformats.org/drawingml/2006/main">
            <a:off x="647700" y="30480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6D"/>
                </a:solidFill>
              </a:defRPr>
            </a:defPPr>
            <a:lvl1pPr>
              <a:defRPr sz="1050" b="1">
                <a:solidFill>
                  <a:srgbClr val="536A6D"/>
                </a:solidFill>
              </a:defRPr>
            </a:lvl1pPr>
            <a:lvl2pPr>
              <a:defRPr sz="1050" b="1">
                <a:solidFill>
                  <a:srgbClr val="536A6D"/>
                </a:solidFill>
              </a:defRPr>
            </a:lvl2pPr>
            <a:lvl3pPr>
              <a:defRPr sz="1050" b="1">
                <a:solidFill>
                  <a:srgbClr val="536A6D"/>
                </a:solidFill>
              </a:defRPr>
            </a:lvl3pPr>
            <a:lvl4pPr>
              <a:defRPr sz="1050" b="1">
                <a:solidFill>
                  <a:srgbClr val="536A6D"/>
                </a:solidFill>
              </a:defRPr>
            </a:lvl4pPr>
            <a:lvl5pPr>
              <a:defRPr sz="1050" b="1">
                <a:solidFill>
                  <a:srgbClr val="536A6D"/>
                </a:solidFill>
              </a:defRPr>
            </a:lvl5pPr>
            <a:lvl6pPr>
              <a:defRPr sz="1050" b="1">
                <a:solidFill>
                  <a:srgbClr val="536A6D"/>
                </a:solidFill>
              </a:defRPr>
            </a:lvl6pPr>
            <a:lvl7pPr>
              <a:defRPr sz="1050" b="1">
                <a:solidFill>
                  <a:srgbClr val="536A6D"/>
                </a:solidFill>
              </a:defRPr>
            </a:lvl7pPr>
            <a:lvl8pPr>
              <a:defRPr sz="1050" b="1">
                <a:solidFill>
                  <a:srgbClr val="536A6D"/>
                </a:solidFill>
              </a:defRPr>
            </a:lvl8pPr>
            <a:lvl9pPr>
              <a:defRPr sz="1050" b="1">
                <a:solidFill>
                  <a:srgbClr val="536A6D"/>
                </a:solidFill>
              </a:defRPr>
            </a:lvl9pPr>
          </a:lstStyle>
          <a:p xmlns:a="http://schemas.openxmlformats.org/drawingml/2006/main">
            <a:pPr>
              <a:defRPr sz="1050" b="1">
                <a:solidFill>
                  <a:srgbClr val="536A6D"/>
                </a:solidFill>
              </a:defRPr>
            </a:pPr>
            <a:r>
              <a:rPr sz="1050" b="1">
                <a:solidFill>
                  <a:srgbClr val="536A6D"/>
                </a:solidFill>
              </a:rPr>
              <a:t>ROUTING METHODS</a:t>
            </a:r>
          </a:p>
        </p:txBody>
      </p:sp>
      <p:sp>
        <p:nvSpPr>
          <p:cNvPr id="2" name="">
            <a:extLst xmlns:a="http://schemas.openxmlformats.org/drawingml/2006/main">
              <a:ext uri="{FF2B5EF4-FFF2-40B4-BE49-F238E27FC236}">
                <a16:creationId xmlns:a16="http://schemas.microsoft.com/office/drawing/2014/main" id="{960C5C4B-FB67-450F-B359-8717CA18996F}"/>
              </a:ext>
            </a:extLst>
          </p:cNvPr>
          <p:cNvSpPr>
            <a:spLocks xmlns:a="http://schemas.openxmlformats.org/drawingml/2006/main" noGrp="1"/>
          </p:cNvSpPr>
          <p:nvPr/>
        </p:nvSpPr>
        <p:spPr>
          <a:xfrm xmlns:a="http://schemas.openxmlformats.org/drawingml/2006/main">
            <a:off x="647700" y="723900"/>
            <a:ext cx="10763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152F34"/>
                </a:solidFill>
              </a:defRPr>
            </a:defPPr>
            <a:lvl1pPr>
              <a:defRPr sz="2775" b="1">
                <a:solidFill>
                  <a:srgbClr val="152F34"/>
                </a:solidFill>
              </a:defRPr>
            </a:lvl1pPr>
            <a:lvl2pPr>
              <a:defRPr sz="2775" b="1">
                <a:solidFill>
                  <a:srgbClr val="152F34"/>
                </a:solidFill>
              </a:defRPr>
            </a:lvl2pPr>
            <a:lvl3pPr>
              <a:defRPr sz="2775" b="1">
                <a:solidFill>
                  <a:srgbClr val="152F34"/>
                </a:solidFill>
              </a:defRPr>
            </a:lvl3pPr>
            <a:lvl4pPr>
              <a:defRPr sz="2775" b="1">
                <a:solidFill>
                  <a:srgbClr val="152F34"/>
                </a:solidFill>
              </a:defRPr>
            </a:lvl4pPr>
            <a:lvl5pPr>
              <a:defRPr sz="2775" b="1">
                <a:solidFill>
                  <a:srgbClr val="152F34"/>
                </a:solidFill>
              </a:defRPr>
            </a:lvl5pPr>
            <a:lvl6pPr>
              <a:defRPr sz="2775" b="1">
                <a:solidFill>
                  <a:srgbClr val="152F34"/>
                </a:solidFill>
              </a:defRPr>
            </a:lvl6pPr>
            <a:lvl7pPr>
              <a:defRPr sz="2775" b="1">
                <a:solidFill>
                  <a:srgbClr val="152F34"/>
                </a:solidFill>
              </a:defRPr>
            </a:lvl7pPr>
            <a:lvl8pPr>
              <a:defRPr sz="2775" b="1">
                <a:solidFill>
                  <a:srgbClr val="152F34"/>
                </a:solidFill>
              </a:defRPr>
            </a:lvl8pPr>
            <a:lvl9pPr>
              <a:defRPr sz="2775" b="1">
                <a:solidFill>
                  <a:srgbClr val="152F34"/>
                </a:solidFill>
              </a:defRPr>
            </a:lvl9pPr>
          </a:lstStyle>
          <a:p xmlns:a="http://schemas.openxmlformats.org/drawingml/2006/main">
            <a:pPr>
              <a:defRPr sz="2775" b="1">
                <a:solidFill>
                  <a:srgbClr val="152F34"/>
                </a:solidFill>
              </a:defRPr>
            </a:pPr>
            <a:r>
              <a:rPr sz="2775" b="1">
                <a:solidFill>
                  <a:srgbClr val="152F34"/>
                </a:solidFill>
              </a:rPr>
              <a:t>We test two ways to turn forecasts into paths</a:t>
            </a:r>
          </a:p>
        </p:txBody>
      </p:sp>
      <p:sp>
        <p:nvSpPr>
          <p:cNvPr id="3" name="">
            <a:extLst xmlns:a="http://schemas.openxmlformats.org/drawingml/2006/main">
              <a:ext uri="{FF2B5EF4-FFF2-40B4-BE49-F238E27FC236}">
                <a16:creationId xmlns:a16="http://schemas.microsoft.com/office/drawing/2014/main" id="{0BB1AFA5-3B08-4057-BD78-C8EFE3947BD5}"/>
              </a:ext>
            </a:extLst>
          </p:cNvPr>
          <p:cNvSpPr>
            <a:spLocks xmlns:a="http://schemas.openxmlformats.org/drawingml/2006/main" noGrp="1"/>
          </p:cNvSpPr>
          <p:nvPr/>
        </p:nvSpPr>
        <p:spPr>
          <a:xfrm xmlns:a="http://schemas.openxmlformats.org/drawingml/2006/main">
            <a:off x="647700" y="1562100"/>
            <a:ext cx="10896600" cy="19050"/>
          </a:xfrm>
          <a:prstGeom xmlns:a="http://schemas.openxmlformats.org/drawingml/2006/main" prst="rect">
            <a:avLst/>
          </a:prstGeom>
          <a:solidFill xmlns:a="http://schemas.openxmlformats.org/drawingml/2006/main">
            <a:srgbClr val="C9D5D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B3310BB-4D72-45CA-BEF7-49C3AFCC0940}"/>
              </a:ext>
            </a:extLst>
          </p:cNvPr>
          <p:cNvSpPr>
            <a:spLocks xmlns:a="http://schemas.openxmlformats.org/drawingml/2006/main" noGrp="1"/>
          </p:cNvSpPr>
          <p:nvPr/>
        </p:nvSpPr>
        <p:spPr>
          <a:xfrm xmlns:a="http://schemas.openxmlformats.org/drawingml/2006/main">
            <a:off x="647700" y="6467475"/>
            <a:ext cx="6667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536A6D"/>
                </a:solidFill>
              </a:defRPr>
            </a:defPPr>
            <a:lvl1pPr>
              <a:defRPr sz="900" b="1">
                <a:solidFill>
                  <a:srgbClr val="536A6D"/>
                </a:solidFill>
              </a:defRPr>
            </a:lvl1pPr>
            <a:lvl2pPr>
              <a:defRPr sz="900" b="1">
                <a:solidFill>
                  <a:srgbClr val="536A6D"/>
                </a:solidFill>
              </a:defRPr>
            </a:lvl2pPr>
            <a:lvl3pPr>
              <a:defRPr sz="900" b="1">
                <a:solidFill>
                  <a:srgbClr val="536A6D"/>
                </a:solidFill>
              </a:defRPr>
            </a:lvl3pPr>
            <a:lvl4pPr>
              <a:defRPr sz="900" b="1">
                <a:solidFill>
                  <a:srgbClr val="536A6D"/>
                </a:solidFill>
              </a:defRPr>
            </a:lvl4pPr>
            <a:lvl5pPr>
              <a:defRPr sz="900" b="1">
                <a:solidFill>
                  <a:srgbClr val="536A6D"/>
                </a:solidFill>
              </a:defRPr>
            </a:lvl5pPr>
            <a:lvl6pPr>
              <a:defRPr sz="900" b="1">
                <a:solidFill>
                  <a:srgbClr val="536A6D"/>
                </a:solidFill>
              </a:defRPr>
            </a:lvl6pPr>
            <a:lvl7pPr>
              <a:defRPr sz="900" b="1">
                <a:solidFill>
                  <a:srgbClr val="536A6D"/>
                </a:solidFill>
              </a:defRPr>
            </a:lvl7pPr>
            <a:lvl8pPr>
              <a:defRPr sz="900" b="1">
                <a:solidFill>
                  <a:srgbClr val="536A6D"/>
                </a:solidFill>
              </a:defRPr>
            </a:lvl8pPr>
            <a:lvl9pPr>
              <a:defRPr sz="900" b="1">
                <a:solidFill>
                  <a:srgbClr val="536A6D"/>
                </a:solidFill>
              </a:defRPr>
            </a:lvl9pPr>
          </a:lstStyle>
          <a:p xmlns:a="http://schemas.openxmlformats.org/drawingml/2006/main">
            <a:pPr>
              <a:defRPr sz="900" b="1">
                <a:solidFill>
                  <a:srgbClr val="536A6D"/>
                </a:solidFill>
              </a:defRPr>
            </a:pPr>
            <a:r>
              <a:rPr sz="900" b="1">
                <a:solidFill>
                  <a:srgbClr val="536A6D"/>
                </a:solidFill>
              </a:rPr>
              <a:t>CARBONROUTE  /  REVIEW 1</a:t>
            </a:r>
          </a:p>
        </p:txBody>
      </p:sp>
      <p:sp>
        <p:nvSpPr>
          <p:cNvPr id="5" name="">
            <a:extLst xmlns:a="http://schemas.openxmlformats.org/drawingml/2006/main">
              <a:ext uri="{FF2B5EF4-FFF2-40B4-BE49-F238E27FC236}">
                <a16:creationId xmlns:a16="http://schemas.microsoft.com/office/drawing/2014/main" id="{D89ECE56-A5B4-47CD-B76C-4E5596B9A660}"/>
              </a:ext>
            </a:extLst>
          </p:cNvPr>
          <p:cNvSpPr>
            <a:spLocks xmlns:a="http://schemas.openxmlformats.org/drawingml/2006/main" noGrp="1"/>
          </p:cNvSpPr>
          <p:nvPr/>
        </p:nvSpPr>
        <p:spPr>
          <a:xfrm xmlns:a="http://schemas.openxmlformats.org/drawingml/2006/main">
            <a:off x="11077575" y="6448425"/>
            <a:ext cx="4476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36A6D"/>
                </a:solidFill>
              </a:defRPr>
            </a:defPPr>
            <a:lvl1pPr>
              <a:defRPr sz="975" b="1">
                <a:solidFill>
                  <a:srgbClr val="536A6D"/>
                </a:solidFill>
              </a:defRPr>
            </a:lvl1pPr>
            <a:lvl2pPr>
              <a:defRPr sz="975" b="1">
                <a:solidFill>
                  <a:srgbClr val="536A6D"/>
                </a:solidFill>
              </a:defRPr>
            </a:lvl2pPr>
            <a:lvl3pPr>
              <a:defRPr sz="975" b="1">
                <a:solidFill>
                  <a:srgbClr val="536A6D"/>
                </a:solidFill>
              </a:defRPr>
            </a:lvl3pPr>
            <a:lvl4pPr>
              <a:defRPr sz="975" b="1">
                <a:solidFill>
                  <a:srgbClr val="536A6D"/>
                </a:solidFill>
              </a:defRPr>
            </a:lvl4pPr>
            <a:lvl5pPr>
              <a:defRPr sz="975" b="1">
                <a:solidFill>
                  <a:srgbClr val="536A6D"/>
                </a:solidFill>
              </a:defRPr>
            </a:lvl5pPr>
            <a:lvl6pPr>
              <a:defRPr sz="975" b="1">
                <a:solidFill>
                  <a:srgbClr val="536A6D"/>
                </a:solidFill>
              </a:defRPr>
            </a:lvl6pPr>
            <a:lvl7pPr>
              <a:defRPr sz="975" b="1">
                <a:solidFill>
                  <a:srgbClr val="536A6D"/>
                </a:solidFill>
              </a:defRPr>
            </a:lvl7pPr>
            <a:lvl8pPr>
              <a:defRPr sz="975" b="1">
                <a:solidFill>
                  <a:srgbClr val="536A6D"/>
                </a:solidFill>
              </a:defRPr>
            </a:lvl8pPr>
            <a:lvl9pPr>
              <a:defRPr sz="975" b="1">
                <a:solidFill>
                  <a:srgbClr val="536A6D"/>
                </a:solidFill>
              </a:defRPr>
            </a:lvl9pPr>
          </a:lstStyle>
          <a:p xmlns:a="http://schemas.openxmlformats.org/drawingml/2006/main">
            <a:pPr>
              <a:defRPr sz="975" b="1">
                <a:solidFill>
                  <a:srgbClr val="536A6D"/>
                </a:solidFill>
              </a:defRPr>
            </a:pPr>
            <a:r>
              <a:rPr sz="975" b="1">
                <a:solidFill>
                  <a:srgbClr val="536A6D"/>
                </a:solidFill>
              </a:rPr>
              <a:t>07</a:t>
            </a:r>
          </a:p>
        </p:txBody>
      </p:sp>
      <p:sp>
        <p:nvSpPr>
          <p:cNvPr id="6" name="">
            <a:extLst xmlns:a="http://schemas.openxmlformats.org/drawingml/2006/main">
              <a:ext uri="{FF2B5EF4-FFF2-40B4-BE49-F238E27FC236}">
                <a16:creationId xmlns:a16="http://schemas.microsoft.com/office/drawing/2014/main" id="{5CE4600D-B149-4FE7-8065-5F31018B7298}"/>
              </a:ext>
            </a:extLst>
          </p:cNvPr>
          <p:cNvSpPr>
            <a:spLocks xmlns:a="http://schemas.openxmlformats.org/drawingml/2006/main" noGrp="1"/>
          </p:cNvSpPr>
          <p:nvPr/>
        </p:nvSpPr>
        <p:spPr>
          <a:xfrm xmlns:a="http://schemas.openxmlformats.org/drawingml/2006/main">
            <a:off x="742950" y="2009775"/>
            <a:ext cx="4572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007A7A"/>
                </a:solidFill>
              </a:defRPr>
            </a:defPPr>
            <a:lvl1pPr>
              <a:defRPr sz="2250" b="1">
                <a:solidFill>
                  <a:srgbClr val="007A7A"/>
                </a:solidFill>
              </a:defRPr>
            </a:lvl1pPr>
            <a:lvl2pPr>
              <a:defRPr sz="2250" b="1">
                <a:solidFill>
                  <a:srgbClr val="007A7A"/>
                </a:solidFill>
              </a:defRPr>
            </a:lvl2pPr>
            <a:lvl3pPr>
              <a:defRPr sz="2250" b="1">
                <a:solidFill>
                  <a:srgbClr val="007A7A"/>
                </a:solidFill>
              </a:defRPr>
            </a:lvl3pPr>
            <a:lvl4pPr>
              <a:defRPr sz="2250" b="1">
                <a:solidFill>
                  <a:srgbClr val="007A7A"/>
                </a:solidFill>
              </a:defRPr>
            </a:lvl4pPr>
            <a:lvl5pPr>
              <a:defRPr sz="2250" b="1">
                <a:solidFill>
                  <a:srgbClr val="007A7A"/>
                </a:solidFill>
              </a:defRPr>
            </a:lvl5pPr>
            <a:lvl6pPr>
              <a:defRPr sz="2250" b="1">
                <a:solidFill>
                  <a:srgbClr val="007A7A"/>
                </a:solidFill>
              </a:defRPr>
            </a:lvl6pPr>
            <a:lvl7pPr>
              <a:defRPr sz="2250" b="1">
                <a:solidFill>
                  <a:srgbClr val="007A7A"/>
                </a:solidFill>
              </a:defRPr>
            </a:lvl7pPr>
            <a:lvl8pPr>
              <a:defRPr sz="2250" b="1">
                <a:solidFill>
                  <a:srgbClr val="007A7A"/>
                </a:solidFill>
              </a:defRPr>
            </a:lvl8pPr>
            <a:lvl9pPr>
              <a:defRPr sz="2250" b="1">
                <a:solidFill>
                  <a:srgbClr val="007A7A"/>
                </a:solidFill>
              </a:defRPr>
            </a:lvl9pPr>
          </a:lstStyle>
          <a:p xmlns:a="http://schemas.openxmlformats.org/drawingml/2006/main">
            <a:pPr>
              <a:defRPr sz="2250" b="1">
                <a:solidFill>
                  <a:srgbClr val="007A7A"/>
                </a:solidFill>
              </a:defRPr>
            </a:pPr>
            <a:r>
              <a:rPr sz="2250" b="1">
                <a:solidFill>
                  <a:srgbClr val="007A7A"/>
                </a:solidFill>
              </a:rPr>
              <a:t>Greedy guarded planner</a:t>
            </a:r>
          </a:p>
        </p:txBody>
      </p:sp>
      <p:sp>
        <p:nvSpPr>
          <p:cNvPr id="7" name="">
            <a:extLst xmlns:a="http://schemas.openxmlformats.org/drawingml/2006/main">
              <a:ext uri="{FF2B5EF4-FFF2-40B4-BE49-F238E27FC236}">
                <a16:creationId xmlns:a16="http://schemas.microsoft.com/office/drawing/2014/main" id="{F7B5ACD3-907D-4A24-8683-6875341BB040}"/>
              </a:ext>
            </a:extLst>
          </p:cNvPr>
          <p:cNvSpPr>
            <a:spLocks xmlns:a="http://schemas.openxmlformats.org/drawingml/2006/main" noGrp="1"/>
          </p:cNvSpPr>
          <p:nvPr/>
        </p:nvSpPr>
        <p:spPr>
          <a:xfrm xmlns:a="http://schemas.openxmlformats.org/drawingml/2006/main">
            <a:off x="742950" y="2581275"/>
            <a:ext cx="4524375" cy="1304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52F34"/>
                </a:solidFill>
              </a:defRPr>
            </a:defPPr>
            <a:lvl1pPr>
              <a:defRPr sz="1650" b="0">
                <a:solidFill>
                  <a:srgbClr val="152F34"/>
                </a:solidFill>
              </a:defRPr>
            </a:lvl1pPr>
            <a:lvl2pPr>
              <a:defRPr sz="1650" b="0">
                <a:solidFill>
                  <a:srgbClr val="152F34"/>
                </a:solidFill>
              </a:defRPr>
            </a:lvl2pPr>
            <a:lvl3pPr>
              <a:defRPr sz="1650" b="0">
                <a:solidFill>
                  <a:srgbClr val="152F34"/>
                </a:solidFill>
              </a:defRPr>
            </a:lvl3pPr>
            <a:lvl4pPr>
              <a:defRPr sz="1650" b="0">
                <a:solidFill>
                  <a:srgbClr val="152F34"/>
                </a:solidFill>
              </a:defRPr>
            </a:lvl4pPr>
            <a:lvl5pPr>
              <a:defRPr sz="1650" b="0">
                <a:solidFill>
                  <a:srgbClr val="152F34"/>
                </a:solidFill>
              </a:defRPr>
            </a:lvl5pPr>
            <a:lvl6pPr>
              <a:defRPr sz="1650" b="0">
                <a:solidFill>
                  <a:srgbClr val="152F34"/>
                </a:solidFill>
              </a:defRPr>
            </a:lvl6pPr>
            <a:lvl7pPr>
              <a:defRPr sz="1650" b="0">
                <a:solidFill>
                  <a:srgbClr val="152F34"/>
                </a:solidFill>
              </a:defRPr>
            </a:lvl7pPr>
            <a:lvl8pPr>
              <a:defRPr sz="1650" b="0">
                <a:solidFill>
                  <a:srgbClr val="152F34"/>
                </a:solidFill>
              </a:defRPr>
            </a:lvl8pPr>
            <a:lvl9pPr>
              <a:defRPr sz="1650" b="0">
                <a:solidFill>
                  <a:srgbClr val="152F34"/>
                </a:solidFill>
              </a:defRPr>
            </a:lvl9pPr>
          </a:lstStyle>
          <a:p xmlns:a="http://schemas.openxmlformats.org/drawingml/2006/main">
            <a:pPr>
              <a:defRPr sz="1650" b="0">
                <a:solidFill>
                  <a:srgbClr val="152F34"/>
                </a:solidFill>
              </a:defRPr>
            </a:pPr>
            <a:r>
              <a:rPr sz="1650" b="0">
                <a:solidFill>
                  <a:srgbClr val="152F34"/>
                </a:solidFill>
              </a:rPr>
              <a:t>Chooses one OD flow at a time. Each selection reserves capacity before the next flow is routed.</a:t>
            </a:r>
          </a:p>
        </p:txBody>
      </p:sp>
      <p:sp>
        <p:nvSpPr>
          <p:cNvPr id="8" name="">
            <a:extLst xmlns:a="http://schemas.openxmlformats.org/drawingml/2006/main">
              <a:ext uri="{FF2B5EF4-FFF2-40B4-BE49-F238E27FC236}">
                <a16:creationId xmlns:a16="http://schemas.microsoft.com/office/drawing/2014/main" id="{B6C67C9C-E483-4D88-962F-1D0B1C3437D3}"/>
              </a:ext>
            </a:extLst>
          </p:cNvPr>
          <p:cNvSpPr>
            <a:spLocks xmlns:a="http://schemas.openxmlformats.org/drawingml/2006/main" noGrp="1"/>
          </p:cNvSpPr>
          <p:nvPr/>
        </p:nvSpPr>
        <p:spPr>
          <a:xfrm xmlns:a="http://schemas.openxmlformats.org/drawingml/2006/main">
            <a:off x="742950" y="4219575"/>
            <a:ext cx="44196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36A6D"/>
                </a:solidFill>
              </a:defRPr>
            </a:defPPr>
            <a:lvl1pPr>
              <a:defRPr sz="1500" b="0">
                <a:solidFill>
                  <a:srgbClr val="536A6D"/>
                </a:solidFill>
              </a:defRPr>
            </a:lvl1pPr>
            <a:lvl2pPr>
              <a:defRPr sz="1500" b="0">
                <a:solidFill>
                  <a:srgbClr val="536A6D"/>
                </a:solidFill>
              </a:defRPr>
            </a:lvl2pPr>
            <a:lvl3pPr>
              <a:defRPr sz="1500" b="0">
                <a:solidFill>
                  <a:srgbClr val="536A6D"/>
                </a:solidFill>
              </a:defRPr>
            </a:lvl3pPr>
            <a:lvl4pPr>
              <a:defRPr sz="1500" b="0">
                <a:solidFill>
                  <a:srgbClr val="536A6D"/>
                </a:solidFill>
              </a:defRPr>
            </a:lvl4pPr>
            <a:lvl5pPr>
              <a:defRPr sz="1500" b="0">
                <a:solidFill>
                  <a:srgbClr val="536A6D"/>
                </a:solidFill>
              </a:defRPr>
            </a:lvl5pPr>
            <a:lvl6pPr>
              <a:defRPr sz="1500" b="0">
                <a:solidFill>
                  <a:srgbClr val="536A6D"/>
                </a:solidFill>
              </a:defRPr>
            </a:lvl6pPr>
            <a:lvl7pPr>
              <a:defRPr sz="1500" b="0">
                <a:solidFill>
                  <a:srgbClr val="536A6D"/>
                </a:solidFill>
              </a:defRPr>
            </a:lvl7pPr>
            <a:lvl8pPr>
              <a:defRPr sz="1500" b="0">
                <a:solidFill>
                  <a:srgbClr val="536A6D"/>
                </a:solidFill>
              </a:defRPr>
            </a:lvl8pPr>
            <a:lvl9pPr>
              <a:defRPr sz="1500" b="0">
                <a:solidFill>
                  <a:srgbClr val="536A6D"/>
                </a:solidFill>
              </a:defRPr>
            </a:lvl9pPr>
          </a:lstStyle>
          <a:p xmlns:a="http://schemas.openxmlformats.org/drawingml/2006/main">
            <a:pPr>
              <a:defRPr sz="1500" b="0">
                <a:solidFill>
                  <a:srgbClr val="536A6D"/>
                </a:solidFill>
              </a:defRPr>
            </a:pPr>
            <a:r>
              <a:rPr sz="1500" b="0">
                <a:solidFill>
                  <a:srgbClr val="536A6D"/>
                </a:solidFill>
              </a:rPr>
              <a:t>Priority: reduce predicted overload with conservative headroom.</a:t>
            </a:r>
          </a:p>
        </p:txBody>
      </p:sp>
      <p:sp>
        <p:nvSpPr>
          <p:cNvPr id="9" name="">
            <a:extLst xmlns:a="http://schemas.openxmlformats.org/drawingml/2006/main">
              <a:ext uri="{FF2B5EF4-FFF2-40B4-BE49-F238E27FC236}">
                <a16:creationId xmlns:a16="http://schemas.microsoft.com/office/drawing/2014/main" id="{CEDAD9E2-8210-4AA5-B2C0-085440D89671}"/>
              </a:ext>
            </a:extLst>
          </p:cNvPr>
          <p:cNvSpPr>
            <a:spLocks xmlns:a="http://schemas.openxmlformats.org/drawingml/2006/main" noGrp="1"/>
          </p:cNvSpPr>
          <p:nvPr/>
        </p:nvSpPr>
        <p:spPr>
          <a:xfrm xmlns:a="http://schemas.openxmlformats.org/drawingml/2006/main">
            <a:off x="5867400" y="2038350"/>
            <a:ext cx="19050" cy="4000500"/>
          </a:xfrm>
          <a:prstGeom xmlns:a="http://schemas.openxmlformats.org/drawingml/2006/main" prst="rect">
            <a:avLst/>
          </a:prstGeom>
          <a:solidFill xmlns:a="http://schemas.openxmlformats.org/drawingml/2006/main">
            <a:srgbClr val="C9D5D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9421032-1741-4814-98F7-BC6827A523B8}"/>
              </a:ext>
            </a:extLst>
          </p:cNvPr>
          <p:cNvSpPr>
            <a:spLocks xmlns:a="http://schemas.openxmlformats.org/drawingml/2006/main" noGrp="1"/>
          </p:cNvSpPr>
          <p:nvPr/>
        </p:nvSpPr>
        <p:spPr>
          <a:xfrm xmlns:a="http://schemas.openxmlformats.org/drawingml/2006/main">
            <a:off x="6334125" y="2009775"/>
            <a:ext cx="47529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C95C43"/>
                </a:solidFill>
              </a:defRPr>
            </a:defPPr>
            <a:lvl1pPr>
              <a:defRPr sz="2250" b="1">
                <a:solidFill>
                  <a:srgbClr val="C95C43"/>
                </a:solidFill>
              </a:defRPr>
            </a:lvl1pPr>
            <a:lvl2pPr>
              <a:defRPr sz="2250" b="1">
                <a:solidFill>
                  <a:srgbClr val="C95C43"/>
                </a:solidFill>
              </a:defRPr>
            </a:lvl2pPr>
            <a:lvl3pPr>
              <a:defRPr sz="2250" b="1">
                <a:solidFill>
                  <a:srgbClr val="C95C43"/>
                </a:solidFill>
              </a:defRPr>
            </a:lvl3pPr>
            <a:lvl4pPr>
              <a:defRPr sz="2250" b="1">
                <a:solidFill>
                  <a:srgbClr val="C95C43"/>
                </a:solidFill>
              </a:defRPr>
            </a:lvl4pPr>
            <a:lvl5pPr>
              <a:defRPr sz="2250" b="1">
                <a:solidFill>
                  <a:srgbClr val="C95C43"/>
                </a:solidFill>
              </a:defRPr>
            </a:lvl5pPr>
            <a:lvl6pPr>
              <a:defRPr sz="2250" b="1">
                <a:solidFill>
                  <a:srgbClr val="C95C43"/>
                </a:solidFill>
              </a:defRPr>
            </a:lvl6pPr>
            <a:lvl7pPr>
              <a:defRPr sz="2250" b="1">
                <a:solidFill>
                  <a:srgbClr val="C95C43"/>
                </a:solidFill>
              </a:defRPr>
            </a:lvl7pPr>
            <a:lvl8pPr>
              <a:defRPr sz="2250" b="1">
                <a:solidFill>
                  <a:srgbClr val="C95C43"/>
                </a:solidFill>
              </a:defRPr>
            </a:lvl8pPr>
            <a:lvl9pPr>
              <a:defRPr sz="2250" b="1">
                <a:solidFill>
                  <a:srgbClr val="C95C43"/>
                </a:solidFill>
              </a:defRPr>
            </a:lvl9pPr>
          </a:lstStyle>
          <a:p xmlns:a="http://schemas.openxmlformats.org/drawingml/2006/main">
            <a:pPr>
              <a:defRPr sz="2250" b="1">
                <a:solidFill>
                  <a:srgbClr val="C95C43"/>
                </a:solidFill>
              </a:defRPr>
            </a:pPr>
            <a:r>
              <a:rPr sz="2250" b="1">
                <a:solidFill>
                  <a:srgbClr val="C95C43"/>
                </a:solidFill>
              </a:rPr>
              <a:t>Joint carbon-budget planner</a:t>
            </a:r>
          </a:p>
        </p:txBody>
      </p:sp>
      <p:sp>
        <p:nvSpPr>
          <p:cNvPr id="11" name="">
            <a:extLst xmlns:a="http://schemas.openxmlformats.org/drawingml/2006/main">
              <a:ext uri="{FF2B5EF4-FFF2-40B4-BE49-F238E27FC236}">
                <a16:creationId xmlns:a16="http://schemas.microsoft.com/office/drawing/2014/main" id="{CBE81401-78CE-449C-9AF6-1D1DCC6D6274}"/>
              </a:ext>
            </a:extLst>
          </p:cNvPr>
          <p:cNvSpPr>
            <a:spLocks xmlns:a="http://schemas.openxmlformats.org/drawingml/2006/main" noGrp="1"/>
          </p:cNvSpPr>
          <p:nvPr/>
        </p:nvSpPr>
        <p:spPr>
          <a:xfrm xmlns:a="http://schemas.openxmlformats.org/drawingml/2006/main">
            <a:off x="6334125" y="2800350"/>
            <a:ext cx="4648200" cy="1323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52F34"/>
                </a:solidFill>
              </a:defRPr>
            </a:defPPr>
            <a:lvl1pPr>
              <a:defRPr sz="1650" b="0">
                <a:solidFill>
                  <a:srgbClr val="152F34"/>
                </a:solidFill>
              </a:defRPr>
            </a:lvl1pPr>
            <a:lvl2pPr>
              <a:defRPr sz="1650" b="0">
                <a:solidFill>
                  <a:srgbClr val="152F34"/>
                </a:solidFill>
              </a:defRPr>
            </a:lvl2pPr>
            <a:lvl3pPr>
              <a:defRPr sz="1650" b="0">
                <a:solidFill>
                  <a:srgbClr val="152F34"/>
                </a:solidFill>
              </a:defRPr>
            </a:lvl3pPr>
            <a:lvl4pPr>
              <a:defRPr sz="1650" b="0">
                <a:solidFill>
                  <a:srgbClr val="152F34"/>
                </a:solidFill>
              </a:defRPr>
            </a:lvl4pPr>
            <a:lvl5pPr>
              <a:defRPr sz="1650" b="0">
                <a:solidFill>
                  <a:srgbClr val="152F34"/>
                </a:solidFill>
              </a:defRPr>
            </a:lvl5pPr>
            <a:lvl6pPr>
              <a:defRPr sz="1650" b="0">
                <a:solidFill>
                  <a:srgbClr val="152F34"/>
                </a:solidFill>
              </a:defRPr>
            </a:lvl6pPr>
            <a:lvl7pPr>
              <a:defRPr sz="1650" b="0">
                <a:solidFill>
                  <a:srgbClr val="152F34"/>
                </a:solidFill>
              </a:defRPr>
            </a:lvl7pPr>
            <a:lvl8pPr>
              <a:defRPr sz="1650" b="0">
                <a:solidFill>
                  <a:srgbClr val="152F34"/>
                </a:solidFill>
              </a:defRPr>
            </a:lvl8pPr>
            <a:lvl9pPr>
              <a:defRPr sz="1650" b="0">
                <a:solidFill>
                  <a:srgbClr val="152F34"/>
                </a:solidFill>
              </a:defRPr>
            </a:lvl9pPr>
          </a:lstStyle>
          <a:p xmlns:a="http://schemas.openxmlformats.org/drawingml/2006/main">
            <a:pPr>
              <a:defRPr sz="1650" b="0">
                <a:solidFill>
                  <a:srgbClr val="152F34"/>
                </a:solidFill>
              </a:defRPr>
            </a:pPr>
            <a:r>
              <a:rPr sz="1650" b="0">
                <a:solidFill>
                  <a:srgbClr val="152F34"/>
                </a:solidFill>
              </a:rPr>
              <a:t>Tests all 64 combinations of two eligible paths for six OD flows, then chooses a whole-network assignment.</a:t>
            </a:r>
          </a:p>
        </p:txBody>
      </p:sp>
      <p:sp>
        <p:nvSpPr>
          <p:cNvPr id="12" name="">
            <a:extLst xmlns:a="http://schemas.openxmlformats.org/drawingml/2006/main">
              <a:ext uri="{FF2B5EF4-FFF2-40B4-BE49-F238E27FC236}">
                <a16:creationId xmlns:a16="http://schemas.microsoft.com/office/drawing/2014/main" id="{27235449-9506-4250-B6CE-8A5E6FAD377F}"/>
              </a:ext>
            </a:extLst>
          </p:cNvPr>
          <p:cNvSpPr>
            <a:spLocks xmlns:a="http://schemas.openxmlformats.org/drawingml/2006/main" noGrp="1"/>
          </p:cNvSpPr>
          <p:nvPr/>
        </p:nvSpPr>
        <p:spPr>
          <a:xfrm xmlns:a="http://schemas.openxmlformats.org/drawingml/2006/main">
            <a:off x="6334125" y="4391025"/>
            <a:ext cx="4619625"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36A6D"/>
                </a:solidFill>
              </a:defRPr>
            </a:defPPr>
            <a:lvl1pPr>
              <a:defRPr sz="1500" b="0">
                <a:solidFill>
                  <a:srgbClr val="536A6D"/>
                </a:solidFill>
              </a:defRPr>
            </a:lvl1pPr>
            <a:lvl2pPr>
              <a:defRPr sz="1500" b="0">
                <a:solidFill>
                  <a:srgbClr val="536A6D"/>
                </a:solidFill>
              </a:defRPr>
            </a:lvl2pPr>
            <a:lvl3pPr>
              <a:defRPr sz="1500" b="0">
                <a:solidFill>
                  <a:srgbClr val="536A6D"/>
                </a:solidFill>
              </a:defRPr>
            </a:lvl3pPr>
            <a:lvl4pPr>
              <a:defRPr sz="1500" b="0">
                <a:solidFill>
                  <a:srgbClr val="536A6D"/>
                </a:solidFill>
              </a:defRPr>
            </a:lvl4pPr>
            <a:lvl5pPr>
              <a:defRPr sz="1500" b="0">
                <a:solidFill>
                  <a:srgbClr val="536A6D"/>
                </a:solidFill>
              </a:defRPr>
            </a:lvl5pPr>
            <a:lvl6pPr>
              <a:defRPr sz="1500" b="0">
                <a:solidFill>
                  <a:srgbClr val="536A6D"/>
                </a:solidFill>
              </a:defRPr>
            </a:lvl6pPr>
            <a:lvl7pPr>
              <a:defRPr sz="1500" b="0">
                <a:solidFill>
                  <a:srgbClr val="536A6D"/>
                </a:solidFill>
              </a:defRPr>
            </a:lvl7pPr>
            <a:lvl8pPr>
              <a:defRPr sz="1500" b="0">
                <a:solidFill>
                  <a:srgbClr val="536A6D"/>
                </a:solidFill>
              </a:defRPr>
            </a:lvl8pPr>
            <a:lvl9pPr>
              <a:defRPr sz="1500" b="0">
                <a:solidFill>
                  <a:srgbClr val="536A6D"/>
                </a:solidFill>
              </a:defRPr>
            </a:lvl9pPr>
          </a:lstStyle>
          <a:p xmlns:a="http://schemas.openxmlformats.org/drawingml/2006/main">
            <a:pPr>
              <a:defRPr sz="1500" b="0">
                <a:solidFill>
                  <a:srgbClr val="536A6D"/>
                </a:solidFill>
              </a:defRPr>
            </a:pPr>
            <a:r>
              <a:rPr sz="1500" b="0">
                <a:solidFill>
                  <a:srgbClr val="536A6D"/>
                </a:solidFill>
              </a:rPr>
              <a:t>Constraint: predicted carbon score stays at or below the reactive reference; objective: lowest worst predicted link utilization.</a:t>
            </a:r>
          </a:p>
        </p:txBody>
      </p:sp>
    </p:spTree>
    <p:extLst>
      <p:ext uri="{BB962C8B-B14F-4D97-AF65-F5344CB8AC3E}">
        <p14:creationId xmlns:p14="http://schemas.microsoft.com/office/powerpoint/2010/main" val="259139531"/>
      </p:ext>
    </p:extLst>
  </p:cSld>
</p:sld>
</file>

<file path=ppt/slides/slide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F537EC3-ACCB-407B-BE1E-3F326BB022CE}"/>
              </a:ext>
            </a:extLst>
          </p:cNvPr>
          <p:cNvSpPr>
            <a:spLocks xmlns:a="http://schemas.openxmlformats.org/drawingml/2006/main" noGrp="1"/>
          </p:cNvSpPr>
          <p:nvPr/>
        </p:nvSpPr>
        <p:spPr>
          <a:xfrm xmlns:a="http://schemas.openxmlformats.org/drawingml/2006/main">
            <a:off x="647700" y="30480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6D"/>
                </a:solidFill>
              </a:defRPr>
            </a:defPPr>
            <a:lvl1pPr>
              <a:defRPr sz="1050" b="1">
                <a:solidFill>
                  <a:srgbClr val="536A6D"/>
                </a:solidFill>
              </a:defRPr>
            </a:lvl1pPr>
            <a:lvl2pPr>
              <a:defRPr sz="1050" b="1">
                <a:solidFill>
                  <a:srgbClr val="536A6D"/>
                </a:solidFill>
              </a:defRPr>
            </a:lvl2pPr>
            <a:lvl3pPr>
              <a:defRPr sz="1050" b="1">
                <a:solidFill>
                  <a:srgbClr val="536A6D"/>
                </a:solidFill>
              </a:defRPr>
            </a:lvl3pPr>
            <a:lvl4pPr>
              <a:defRPr sz="1050" b="1">
                <a:solidFill>
                  <a:srgbClr val="536A6D"/>
                </a:solidFill>
              </a:defRPr>
            </a:lvl4pPr>
            <a:lvl5pPr>
              <a:defRPr sz="1050" b="1">
                <a:solidFill>
                  <a:srgbClr val="536A6D"/>
                </a:solidFill>
              </a:defRPr>
            </a:lvl5pPr>
            <a:lvl6pPr>
              <a:defRPr sz="1050" b="1">
                <a:solidFill>
                  <a:srgbClr val="536A6D"/>
                </a:solidFill>
              </a:defRPr>
            </a:lvl6pPr>
            <a:lvl7pPr>
              <a:defRPr sz="1050" b="1">
                <a:solidFill>
                  <a:srgbClr val="536A6D"/>
                </a:solidFill>
              </a:defRPr>
            </a:lvl7pPr>
            <a:lvl8pPr>
              <a:defRPr sz="1050" b="1">
                <a:solidFill>
                  <a:srgbClr val="536A6D"/>
                </a:solidFill>
              </a:defRPr>
            </a:lvl8pPr>
            <a:lvl9pPr>
              <a:defRPr sz="1050" b="1">
                <a:solidFill>
                  <a:srgbClr val="536A6D"/>
                </a:solidFill>
              </a:defRPr>
            </a:lvl9pPr>
          </a:lstStyle>
          <a:p xmlns:a="http://schemas.openxmlformats.org/drawingml/2006/main">
            <a:pPr>
              <a:defRPr sz="1050" b="1">
                <a:solidFill>
                  <a:srgbClr val="536A6D"/>
                </a:solidFill>
              </a:defRPr>
            </a:pPr>
            <a:r>
              <a:rPr sz="1050" b="1">
                <a:solidFill>
                  <a:srgbClr val="536A6D"/>
                </a:solidFill>
              </a:rPr>
              <a:t>EVALUATION DESIGN</a:t>
            </a:r>
          </a:p>
        </p:txBody>
      </p:sp>
      <p:sp>
        <p:nvSpPr>
          <p:cNvPr id="2" name="">
            <a:extLst xmlns:a="http://schemas.openxmlformats.org/drawingml/2006/main">
              <a:ext uri="{FF2B5EF4-FFF2-40B4-BE49-F238E27FC236}">
                <a16:creationId xmlns:a16="http://schemas.microsoft.com/office/drawing/2014/main" id="{0B49274E-8E98-4D30-9407-5487BAEE1209}"/>
              </a:ext>
            </a:extLst>
          </p:cNvPr>
          <p:cNvSpPr>
            <a:spLocks xmlns:a="http://schemas.openxmlformats.org/drawingml/2006/main" noGrp="1"/>
          </p:cNvSpPr>
          <p:nvPr/>
        </p:nvSpPr>
        <p:spPr>
          <a:xfrm xmlns:a="http://schemas.openxmlformats.org/drawingml/2006/main">
            <a:off x="647700" y="723900"/>
            <a:ext cx="10763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152F34"/>
                </a:solidFill>
              </a:defRPr>
            </a:defPPr>
            <a:lvl1pPr>
              <a:defRPr sz="2775" b="1">
                <a:solidFill>
                  <a:srgbClr val="152F34"/>
                </a:solidFill>
              </a:defRPr>
            </a:lvl1pPr>
            <a:lvl2pPr>
              <a:defRPr sz="2775" b="1">
                <a:solidFill>
                  <a:srgbClr val="152F34"/>
                </a:solidFill>
              </a:defRPr>
            </a:lvl2pPr>
            <a:lvl3pPr>
              <a:defRPr sz="2775" b="1">
                <a:solidFill>
                  <a:srgbClr val="152F34"/>
                </a:solidFill>
              </a:defRPr>
            </a:lvl3pPr>
            <a:lvl4pPr>
              <a:defRPr sz="2775" b="1">
                <a:solidFill>
                  <a:srgbClr val="152F34"/>
                </a:solidFill>
              </a:defRPr>
            </a:lvl4pPr>
            <a:lvl5pPr>
              <a:defRPr sz="2775" b="1">
                <a:solidFill>
                  <a:srgbClr val="152F34"/>
                </a:solidFill>
              </a:defRPr>
            </a:lvl5pPr>
            <a:lvl6pPr>
              <a:defRPr sz="2775" b="1">
                <a:solidFill>
                  <a:srgbClr val="152F34"/>
                </a:solidFill>
              </a:defRPr>
            </a:lvl6pPr>
            <a:lvl7pPr>
              <a:defRPr sz="2775" b="1">
                <a:solidFill>
                  <a:srgbClr val="152F34"/>
                </a:solidFill>
              </a:defRPr>
            </a:lvl7pPr>
            <a:lvl8pPr>
              <a:defRPr sz="2775" b="1">
                <a:solidFill>
                  <a:srgbClr val="152F34"/>
                </a:solidFill>
              </a:defRPr>
            </a:lvl8pPr>
            <a:lvl9pPr>
              <a:defRPr sz="2775" b="1">
                <a:solidFill>
                  <a:srgbClr val="152F34"/>
                </a:solidFill>
              </a:defRPr>
            </a:lvl9pPr>
          </a:lstStyle>
          <a:p xmlns:a="http://schemas.openxmlformats.org/drawingml/2006/main">
            <a:pPr>
              <a:defRPr sz="2775" b="1">
                <a:solidFill>
                  <a:srgbClr val="152F34"/>
                </a:solidFill>
              </a:defRPr>
            </a:pPr>
            <a:r>
              <a:rPr sz="2775" b="1">
                <a:solidFill>
                  <a:srgbClr val="152F34"/>
                </a:solidFill>
              </a:rPr>
              <a:t>We compare with four routing baselines</a:t>
            </a:r>
          </a:p>
        </p:txBody>
      </p:sp>
      <p:sp>
        <p:nvSpPr>
          <p:cNvPr id="3" name="">
            <a:extLst xmlns:a="http://schemas.openxmlformats.org/drawingml/2006/main">
              <a:ext uri="{FF2B5EF4-FFF2-40B4-BE49-F238E27FC236}">
                <a16:creationId xmlns:a16="http://schemas.microsoft.com/office/drawing/2014/main" id="{D8137F9B-35D8-4AD4-9165-46627F117025}"/>
              </a:ext>
            </a:extLst>
          </p:cNvPr>
          <p:cNvSpPr>
            <a:spLocks xmlns:a="http://schemas.openxmlformats.org/drawingml/2006/main" noGrp="1"/>
          </p:cNvSpPr>
          <p:nvPr/>
        </p:nvSpPr>
        <p:spPr>
          <a:xfrm xmlns:a="http://schemas.openxmlformats.org/drawingml/2006/main">
            <a:off x="647700" y="1562100"/>
            <a:ext cx="10896600" cy="19050"/>
          </a:xfrm>
          <a:prstGeom xmlns:a="http://schemas.openxmlformats.org/drawingml/2006/main" prst="rect">
            <a:avLst/>
          </a:prstGeom>
          <a:solidFill xmlns:a="http://schemas.openxmlformats.org/drawingml/2006/main">
            <a:srgbClr val="C9D5D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5038C39-D7A4-427B-9111-9E71AA047697}"/>
              </a:ext>
            </a:extLst>
          </p:cNvPr>
          <p:cNvSpPr>
            <a:spLocks xmlns:a="http://schemas.openxmlformats.org/drawingml/2006/main" noGrp="1"/>
          </p:cNvSpPr>
          <p:nvPr/>
        </p:nvSpPr>
        <p:spPr>
          <a:xfrm xmlns:a="http://schemas.openxmlformats.org/drawingml/2006/main">
            <a:off x="647700" y="6467475"/>
            <a:ext cx="6667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536A6D"/>
                </a:solidFill>
              </a:defRPr>
            </a:defPPr>
            <a:lvl1pPr>
              <a:defRPr sz="900" b="1">
                <a:solidFill>
                  <a:srgbClr val="536A6D"/>
                </a:solidFill>
              </a:defRPr>
            </a:lvl1pPr>
            <a:lvl2pPr>
              <a:defRPr sz="900" b="1">
                <a:solidFill>
                  <a:srgbClr val="536A6D"/>
                </a:solidFill>
              </a:defRPr>
            </a:lvl2pPr>
            <a:lvl3pPr>
              <a:defRPr sz="900" b="1">
                <a:solidFill>
                  <a:srgbClr val="536A6D"/>
                </a:solidFill>
              </a:defRPr>
            </a:lvl3pPr>
            <a:lvl4pPr>
              <a:defRPr sz="900" b="1">
                <a:solidFill>
                  <a:srgbClr val="536A6D"/>
                </a:solidFill>
              </a:defRPr>
            </a:lvl4pPr>
            <a:lvl5pPr>
              <a:defRPr sz="900" b="1">
                <a:solidFill>
                  <a:srgbClr val="536A6D"/>
                </a:solidFill>
              </a:defRPr>
            </a:lvl5pPr>
            <a:lvl6pPr>
              <a:defRPr sz="900" b="1">
                <a:solidFill>
                  <a:srgbClr val="536A6D"/>
                </a:solidFill>
              </a:defRPr>
            </a:lvl6pPr>
            <a:lvl7pPr>
              <a:defRPr sz="900" b="1">
                <a:solidFill>
                  <a:srgbClr val="536A6D"/>
                </a:solidFill>
              </a:defRPr>
            </a:lvl7pPr>
            <a:lvl8pPr>
              <a:defRPr sz="900" b="1">
                <a:solidFill>
                  <a:srgbClr val="536A6D"/>
                </a:solidFill>
              </a:defRPr>
            </a:lvl8pPr>
            <a:lvl9pPr>
              <a:defRPr sz="900" b="1">
                <a:solidFill>
                  <a:srgbClr val="536A6D"/>
                </a:solidFill>
              </a:defRPr>
            </a:lvl9pPr>
          </a:lstStyle>
          <a:p xmlns:a="http://schemas.openxmlformats.org/drawingml/2006/main">
            <a:pPr>
              <a:defRPr sz="900" b="1">
                <a:solidFill>
                  <a:srgbClr val="536A6D"/>
                </a:solidFill>
              </a:defRPr>
            </a:pPr>
            <a:r>
              <a:rPr sz="900" b="1">
                <a:solidFill>
                  <a:srgbClr val="536A6D"/>
                </a:solidFill>
              </a:rPr>
              <a:t>CARBONROUTE  /  REVIEW 1</a:t>
            </a:r>
          </a:p>
        </p:txBody>
      </p:sp>
      <p:sp>
        <p:nvSpPr>
          <p:cNvPr id="5" name="">
            <a:extLst xmlns:a="http://schemas.openxmlformats.org/drawingml/2006/main">
              <a:ext uri="{FF2B5EF4-FFF2-40B4-BE49-F238E27FC236}">
                <a16:creationId xmlns:a16="http://schemas.microsoft.com/office/drawing/2014/main" id="{8DDE0F8A-B67E-493A-AB39-5E6C29C5D78B}"/>
              </a:ext>
            </a:extLst>
          </p:cNvPr>
          <p:cNvSpPr>
            <a:spLocks xmlns:a="http://schemas.openxmlformats.org/drawingml/2006/main" noGrp="1"/>
          </p:cNvSpPr>
          <p:nvPr/>
        </p:nvSpPr>
        <p:spPr>
          <a:xfrm xmlns:a="http://schemas.openxmlformats.org/drawingml/2006/main">
            <a:off x="11077575" y="6448425"/>
            <a:ext cx="4476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36A6D"/>
                </a:solidFill>
              </a:defRPr>
            </a:defPPr>
            <a:lvl1pPr>
              <a:defRPr sz="975" b="1">
                <a:solidFill>
                  <a:srgbClr val="536A6D"/>
                </a:solidFill>
              </a:defRPr>
            </a:lvl1pPr>
            <a:lvl2pPr>
              <a:defRPr sz="975" b="1">
                <a:solidFill>
                  <a:srgbClr val="536A6D"/>
                </a:solidFill>
              </a:defRPr>
            </a:lvl2pPr>
            <a:lvl3pPr>
              <a:defRPr sz="975" b="1">
                <a:solidFill>
                  <a:srgbClr val="536A6D"/>
                </a:solidFill>
              </a:defRPr>
            </a:lvl3pPr>
            <a:lvl4pPr>
              <a:defRPr sz="975" b="1">
                <a:solidFill>
                  <a:srgbClr val="536A6D"/>
                </a:solidFill>
              </a:defRPr>
            </a:lvl4pPr>
            <a:lvl5pPr>
              <a:defRPr sz="975" b="1">
                <a:solidFill>
                  <a:srgbClr val="536A6D"/>
                </a:solidFill>
              </a:defRPr>
            </a:lvl5pPr>
            <a:lvl6pPr>
              <a:defRPr sz="975" b="1">
                <a:solidFill>
                  <a:srgbClr val="536A6D"/>
                </a:solidFill>
              </a:defRPr>
            </a:lvl6pPr>
            <a:lvl7pPr>
              <a:defRPr sz="975" b="1">
                <a:solidFill>
                  <a:srgbClr val="536A6D"/>
                </a:solidFill>
              </a:defRPr>
            </a:lvl7pPr>
            <a:lvl8pPr>
              <a:defRPr sz="975" b="1">
                <a:solidFill>
                  <a:srgbClr val="536A6D"/>
                </a:solidFill>
              </a:defRPr>
            </a:lvl8pPr>
            <a:lvl9pPr>
              <a:defRPr sz="975" b="1">
                <a:solidFill>
                  <a:srgbClr val="536A6D"/>
                </a:solidFill>
              </a:defRPr>
            </a:lvl9pPr>
          </a:lstStyle>
          <a:p xmlns:a="http://schemas.openxmlformats.org/drawingml/2006/main">
            <a:pPr>
              <a:defRPr sz="975" b="1">
                <a:solidFill>
                  <a:srgbClr val="536A6D"/>
                </a:solidFill>
              </a:defRPr>
            </a:pPr>
            <a:r>
              <a:rPr sz="975" b="1">
                <a:solidFill>
                  <a:srgbClr val="536A6D"/>
                </a:solidFill>
              </a:rPr>
              <a:t>08</a:t>
            </a:r>
          </a:p>
        </p:txBody>
      </p:sp>
      <p:sp>
        <p:nvSpPr>
          <p:cNvPr id="6" name="">
            <a:extLst xmlns:a="http://schemas.openxmlformats.org/drawingml/2006/main">
              <a:ext uri="{FF2B5EF4-FFF2-40B4-BE49-F238E27FC236}">
                <a16:creationId xmlns:a16="http://schemas.microsoft.com/office/drawing/2014/main" id="{327B12D8-2FA9-4045-A17D-806C549CBF12}"/>
              </a:ext>
            </a:extLst>
          </p:cNvPr>
          <p:cNvSpPr>
            <a:spLocks xmlns:a="http://schemas.openxmlformats.org/drawingml/2006/main" noGrp="1"/>
          </p:cNvSpPr>
          <p:nvPr/>
        </p:nvSpPr>
        <p:spPr>
          <a:xfrm xmlns:a="http://schemas.openxmlformats.org/drawingml/2006/main">
            <a:off x="742950" y="1924050"/>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07A7A"/>
                </a:solidFill>
              </a:defRPr>
            </a:defPPr>
            <a:lvl1pPr>
              <a:defRPr sz="1650" b="1">
                <a:solidFill>
                  <a:srgbClr val="007A7A"/>
                </a:solidFill>
              </a:defRPr>
            </a:lvl1pPr>
            <a:lvl2pPr>
              <a:defRPr sz="1650" b="1">
                <a:solidFill>
                  <a:srgbClr val="007A7A"/>
                </a:solidFill>
              </a:defRPr>
            </a:lvl2pPr>
            <a:lvl3pPr>
              <a:defRPr sz="1650" b="1">
                <a:solidFill>
                  <a:srgbClr val="007A7A"/>
                </a:solidFill>
              </a:defRPr>
            </a:lvl3pPr>
            <a:lvl4pPr>
              <a:defRPr sz="1650" b="1">
                <a:solidFill>
                  <a:srgbClr val="007A7A"/>
                </a:solidFill>
              </a:defRPr>
            </a:lvl4pPr>
            <a:lvl5pPr>
              <a:defRPr sz="1650" b="1">
                <a:solidFill>
                  <a:srgbClr val="007A7A"/>
                </a:solidFill>
              </a:defRPr>
            </a:lvl5pPr>
            <a:lvl6pPr>
              <a:defRPr sz="1650" b="1">
                <a:solidFill>
                  <a:srgbClr val="007A7A"/>
                </a:solidFill>
              </a:defRPr>
            </a:lvl6pPr>
            <a:lvl7pPr>
              <a:defRPr sz="1650" b="1">
                <a:solidFill>
                  <a:srgbClr val="007A7A"/>
                </a:solidFill>
              </a:defRPr>
            </a:lvl7pPr>
            <a:lvl8pPr>
              <a:defRPr sz="1650" b="1">
                <a:solidFill>
                  <a:srgbClr val="007A7A"/>
                </a:solidFill>
              </a:defRPr>
            </a:lvl8pPr>
            <a:lvl9pPr>
              <a:defRPr sz="1650" b="1">
                <a:solidFill>
                  <a:srgbClr val="007A7A"/>
                </a:solidFill>
              </a:defRPr>
            </a:lvl9pPr>
          </a:lstStyle>
          <a:p xmlns:a="http://schemas.openxmlformats.org/drawingml/2006/main">
            <a:pPr>
              <a:defRPr sz="1650" b="1">
                <a:solidFill>
                  <a:srgbClr val="007A7A"/>
                </a:solidFill>
              </a:defRPr>
            </a:pPr>
            <a:r>
              <a:rPr sz="1650" b="1">
                <a:solidFill>
                  <a:srgbClr val="007A7A"/>
                </a:solidFill>
              </a:rPr>
              <a:t>Shortest path</a:t>
            </a:r>
          </a:p>
        </p:txBody>
      </p:sp>
      <p:sp>
        <p:nvSpPr>
          <p:cNvPr id="7" name="">
            <a:extLst xmlns:a="http://schemas.openxmlformats.org/drawingml/2006/main">
              <a:ext uri="{FF2B5EF4-FFF2-40B4-BE49-F238E27FC236}">
                <a16:creationId xmlns:a16="http://schemas.microsoft.com/office/drawing/2014/main" id="{051F0783-8FF2-4268-A587-5FBE76F11184}"/>
              </a:ext>
            </a:extLst>
          </p:cNvPr>
          <p:cNvSpPr>
            <a:spLocks xmlns:a="http://schemas.openxmlformats.org/drawingml/2006/main" noGrp="1"/>
          </p:cNvSpPr>
          <p:nvPr/>
        </p:nvSpPr>
        <p:spPr>
          <a:xfrm xmlns:a="http://schemas.openxmlformats.org/drawingml/2006/main">
            <a:off x="4629150" y="1924050"/>
            <a:ext cx="63246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2F34"/>
                </a:solidFill>
              </a:defRPr>
            </a:defPPr>
            <a:lvl1pPr>
              <a:defRPr sz="1500" b="0">
                <a:solidFill>
                  <a:srgbClr val="152F34"/>
                </a:solidFill>
              </a:defRPr>
            </a:lvl1pPr>
            <a:lvl2pPr>
              <a:defRPr sz="1500" b="0">
                <a:solidFill>
                  <a:srgbClr val="152F34"/>
                </a:solidFill>
              </a:defRPr>
            </a:lvl2pPr>
            <a:lvl3pPr>
              <a:defRPr sz="1500" b="0">
                <a:solidFill>
                  <a:srgbClr val="152F34"/>
                </a:solidFill>
              </a:defRPr>
            </a:lvl3pPr>
            <a:lvl4pPr>
              <a:defRPr sz="1500" b="0">
                <a:solidFill>
                  <a:srgbClr val="152F34"/>
                </a:solidFill>
              </a:defRPr>
            </a:lvl4pPr>
            <a:lvl5pPr>
              <a:defRPr sz="1500" b="0">
                <a:solidFill>
                  <a:srgbClr val="152F34"/>
                </a:solidFill>
              </a:defRPr>
            </a:lvl5pPr>
            <a:lvl6pPr>
              <a:defRPr sz="1500" b="0">
                <a:solidFill>
                  <a:srgbClr val="152F34"/>
                </a:solidFill>
              </a:defRPr>
            </a:lvl6pPr>
            <a:lvl7pPr>
              <a:defRPr sz="1500" b="0">
                <a:solidFill>
                  <a:srgbClr val="152F34"/>
                </a:solidFill>
              </a:defRPr>
            </a:lvl7pPr>
            <a:lvl8pPr>
              <a:defRPr sz="1500" b="0">
                <a:solidFill>
                  <a:srgbClr val="152F34"/>
                </a:solidFill>
              </a:defRPr>
            </a:lvl8pPr>
            <a:lvl9pPr>
              <a:defRPr sz="1500" b="0">
                <a:solidFill>
                  <a:srgbClr val="152F34"/>
                </a:solidFill>
              </a:defRPr>
            </a:lvl9pPr>
          </a:lstStyle>
          <a:p xmlns:a="http://schemas.openxmlformats.org/drawingml/2006/main">
            <a:pPr>
              <a:defRPr sz="1500" b="0">
                <a:solidFill>
                  <a:srgbClr val="152F34"/>
                </a:solidFill>
              </a:defRPr>
            </a:pPr>
            <a:r>
              <a:rPr sz="1500" b="0">
                <a:solidFill>
                  <a:srgbClr val="152F34"/>
                </a:solidFill>
              </a:rPr>
              <a:t>Choose the least-delay route.</a:t>
            </a:r>
          </a:p>
        </p:txBody>
      </p:sp>
      <p:sp>
        <p:nvSpPr>
          <p:cNvPr id="8" name="">
            <a:extLst xmlns:a="http://schemas.openxmlformats.org/drawingml/2006/main">
              <a:ext uri="{FF2B5EF4-FFF2-40B4-BE49-F238E27FC236}">
                <a16:creationId xmlns:a16="http://schemas.microsoft.com/office/drawing/2014/main" id="{6FD8B508-76C0-4403-90F4-A15906870427}"/>
              </a:ext>
            </a:extLst>
          </p:cNvPr>
          <p:cNvSpPr>
            <a:spLocks xmlns:a="http://schemas.openxmlformats.org/drawingml/2006/main" noGrp="1"/>
          </p:cNvSpPr>
          <p:nvPr/>
        </p:nvSpPr>
        <p:spPr>
          <a:xfrm xmlns:a="http://schemas.openxmlformats.org/drawingml/2006/main">
            <a:off x="742950" y="2590800"/>
            <a:ext cx="10191750" cy="9525"/>
          </a:xfrm>
          <a:prstGeom xmlns:a="http://schemas.openxmlformats.org/drawingml/2006/main" prst="rect">
            <a:avLst/>
          </a:prstGeom>
          <a:solidFill xmlns:a="http://schemas.openxmlformats.org/drawingml/2006/main">
            <a:srgbClr val="C9D5D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5FDC0BC-6598-4DE3-A521-49F224CAC787}"/>
              </a:ext>
            </a:extLst>
          </p:cNvPr>
          <p:cNvSpPr>
            <a:spLocks xmlns:a="http://schemas.openxmlformats.org/drawingml/2006/main" noGrp="1"/>
          </p:cNvSpPr>
          <p:nvPr/>
        </p:nvSpPr>
        <p:spPr>
          <a:xfrm xmlns:a="http://schemas.openxmlformats.org/drawingml/2006/main">
            <a:off x="742950" y="2752725"/>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07A7A"/>
                </a:solidFill>
              </a:defRPr>
            </a:defPPr>
            <a:lvl1pPr>
              <a:defRPr sz="1650" b="1">
                <a:solidFill>
                  <a:srgbClr val="007A7A"/>
                </a:solidFill>
              </a:defRPr>
            </a:lvl1pPr>
            <a:lvl2pPr>
              <a:defRPr sz="1650" b="1">
                <a:solidFill>
                  <a:srgbClr val="007A7A"/>
                </a:solidFill>
              </a:defRPr>
            </a:lvl2pPr>
            <a:lvl3pPr>
              <a:defRPr sz="1650" b="1">
                <a:solidFill>
                  <a:srgbClr val="007A7A"/>
                </a:solidFill>
              </a:defRPr>
            </a:lvl3pPr>
            <a:lvl4pPr>
              <a:defRPr sz="1650" b="1">
                <a:solidFill>
                  <a:srgbClr val="007A7A"/>
                </a:solidFill>
              </a:defRPr>
            </a:lvl4pPr>
            <a:lvl5pPr>
              <a:defRPr sz="1650" b="1">
                <a:solidFill>
                  <a:srgbClr val="007A7A"/>
                </a:solidFill>
              </a:defRPr>
            </a:lvl5pPr>
            <a:lvl6pPr>
              <a:defRPr sz="1650" b="1">
                <a:solidFill>
                  <a:srgbClr val="007A7A"/>
                </a:solidFill>
              </a:defRPr>
            </a:lvl6pPr>
            <a:lvl7pPr>
              <a:defRPr sz="1650" b="1">
                <a:solidFill>
                  <a:srgbClr val="007A7A"/>
                </a:solidFill>
              </a:defRPr>
            </a:lvl7pPr>
            <a:lvl8pPr>
              <a:defRPr sz="1650" b="1">
                <a:solidFill>
                  <a:srgbClr val="007A7A"/>
                </a:solidFill>
              </a:defRPr>
            </a:lvl8pPr>
            <a:lvl9pPr>
              <a:defRPr sz="1650" b="1">
                <a:solidFill>
                  <a:srgbClr val="007A7A"/>
                </a:solidFill>
              </a:defRPr>
            </a:lvl9pPr>
          </a:lstStyle>
          <a:p xmlns:a="http://schemas.openxmlformats.org/drawingml/2006/main">
            <a:pPr>
              <a:defRPr sz="1650" b="1">
                <a:solidFill>
                  <a:srgbClr val="007A7A"/>
                </a:solidFill>
              </a:defRPr>
            </a:pPr>
            <a:r>
              <a:rPr sz="1650" b="1">
                <a:solidFill>
                  <a:srgbClr val="007A7A"/>
                </a:solidFill>
              </a:rPr>
              <a:t>Reactive carbon</a:t>
            </a:r>
          </a:p>
        </p:txBody>
      </p:sp>
      <p:sp>
        <p:nvSpPr>
          <p:cNvPr id="10" name="">
            <a:extLst xmlns:a="http://schemas.openxmlformats.org/drawingml/2006/main">
              <a:ext uri="{FF2B5EF4-FFF2-40B4-BE49-F238E27FC236}">
                <a16:creationId xmlns:a16="http://schemas.microsoft.com/office/drawing/2014/main" id="{28EE95EC-1BB9-4B3F-8DC8-4557CA7A77E0}"/>
              </a:ext>
            </a:extLst>
          </p:cNvPr>
          <p:cNvSpPr>
            <a:spLocks xmlns:a="http://schemas.openxmlformats.org/drawingml/2006/main" noGrp="1"/>
          </p:cNvSpPr>
          <p:nvPr/>
        </p:nvSpPr>
        <p:spPr>
          <a:xfrm xmlns:a="http://schemas.openxmlformats.org/drawingml/2006/main">
            <a:off x="4629150" y="2752725"/>
            <a:ext cx="63246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2F34"/>
                </a:solidFill>
              </a:defRPr>
            </a:defPPr>
            <a:lvl1pPr>
              <a:defRPr sz="1500" b="0">
                <a:solidFill>
                  <a:srgbClr val="152F34"/>
                </a:solidFill>
              </a:defRPr>
            </a:lvl1pPr>
            <a:lvl2pPr>
              <a:defRPr sz="1500" b="0">
                <a:solidFill>
                  <a:srgbClr val="152F34"/>
                </a:solidFill>
              </a:defRPr>
            </a:lvl2pPr>
            <a:lvl3pPr>
              <a:defRPr sz="1500" b="0">
                <a:solidFill>
                  <a:srgbClr val="152F34"/>
                </a:solidFill>
              </a:defRPr>
            </a:lvl3pPr>
            <a:lvl4pPr>
              <a:defRPr sz="1500" b="0">
                <a:solidFill>
                  <a:srgbClr val="152F34"/>
                </a:solidFill>
              </a:defRPr>
            </a:lvl4pPr>
            <a:lvl5pPr>
              <a:defRPr sz="1500" b="0">
                <a:solidFill>
                  <a:srgbClr val="152F34"/>
                </a:solidFill>
              </a:defRPr>
            </a:lvl5pPr>
            <a:lvl6pPr>
              <a:defRPr sz="1500" b="0">
                <a:solidFill>
                  <a:srgbClr val="152F34"/>
                </a:solidFill>
              </a:defRPr>
            </a:lvl6pPr>
            <a:lvl7pPr>
              <a:defRPr sz="1500" b="0">
                <a:solidFill>
                  <a:srgbClr val="152F34"/>
                </a:solidFill>
              </a:defRPr>
            </a:lvl7pPr>
            <a:lvl8pPr>
              <a:defRPr sz="1500" b="0">
                <a:solidFill>
                  <a:srgbClr val="152F34"/>
                </a:solidFill>
              </a:defRPr>
            </a:lvl8pPr>
            <a:lvl9pPr>
              <a:defRPr sz="1500" b="0">
                <a:solidFill>
                  <a:srgbClr val="152F34"/>
                </a:solidFill>
              </a:defRPr>
            </a:lvl9pPr>
          </a:lstStyle>
          <a:p xmlns:a="http://schemas.openxmlformats.org/drawingml/2006/main">
            <a:pPr>
              <a:defRPr sz="1500" b="0">
                <a:solidFill>
                  <a:srgbClr val="152F34"/>
                </a:solidFill>
              </a:defRPr>
            </a:pPr>
            <a:r>
              <a:rPr sz="1500" b="0">
                <a:solidFill>
                  <a:srgbClr val="152F34"/>
                </a:solidFill>
              </a:rPr>
              <a:t>Use the observed carbon signal and current or delayed traffic.</a:t>
            </a:r>
          </a:p>
        </p:txBody>
      </p:sp>
      <p:sp>
        <p:nvSpPr>
          <p:cNvPr id="11" name="">
            <a:extLst xmlns:a="http://schemas.openxmlformats.org/drawingml/2006/main">
              <a:ext uri="{FF2B5EF4-FFF2-40B4-BE49-F238E27FC236}">
                <a16:creationId xmlns:a16="http://schemas.microsoft.com/office/drawing/2014/main" id="{184436C0-3F18-4516-9A7B-4FC357D97EAF}"/>
              </a:ext>
            </a:extLst>
          </p:cNvPr>
          <p:cNvSpPr>
            <a:spLocks xmlns:a="http://schemas.openxmlformats.org/drawingml/2006/main" noGrp="1"/>
          </p:cNvSpPr>
          <p:nvPr/>
        </p:nvSpPr>
        <p:spPr>
          <a:xfrm xmlns:a="http://schemas.openxmlformats.org/drawingml/2006/main">
            <a:off x="742950" y="3419475"/>
            <a:ext cx="10191750" cy="9525"/>
          </a:xfrm>
          <a:prstGeom xmlns:a="http://schemas.openxmlformats.org/drawingml/2006/main" prst="rect">
            <a:avLst/>
          </a:prstGeom>
          <a:solidFill xmlns:a="http://schemas.openxmlformats.org/drawingml/2006/main">
            <a:srgbClr val="C9D5D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7E97FA2-7932-47FD-94D3-E9DDE6708970}"/>
              </a:ext>
            </a:extLst>
          </p:cNvPr>
          <p:cNvSpPr>
            <a:spLocks xmlns:a="http://schemas.openxmlformats.org/drawingml/2006/main" noGrp="1"/>
          </p:cNvSpPr>
          <p:nvPr/>
        </p:nvSpPr>
        <p:spPr>
          <a:xfrm xmlns:a="http://schemas.openxmlformats.org/drawingml/2006/main">
            <a:off x="742950" y="3581400"/>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07A7A"/>
                </a:solidFill>
              </a:defRPr>
            </a:defPPr>
            <a:lvl1pPr>
              <a:defRPr sz="1650" b="1">
                <a:solidFill>
                  <a:srgbClr val="007A7A"/>
                </a:solidFill>
              </a:defRPr>
            </a:lvl1pPr>
            <a:lvl2pPr>
              <a:defRPr sz="1650" b="1">
                <a:solidFill>
                  <a:srgbClr val="007A7A"/>
                </a:solidFill>
              </a:defRPr>
            </a:lvl2pPr>
            <a:lvl3pPr>
              <a:defRPr sz="1650" b="1">
                <a:solidFill>
                  <a:srgbClr val="007A7A"/>
                </a:solidFill>
              </a:defRPr>
            </a:lvl3pPr>
            <a:lvl4pPr>
              <a:defRPr sz="1650" b="1">
                <a:solidFill>
                  <a:srgbClr val="007A7A"/>
                </a:solidFill>
              </a:defRPr>
            </a:lvl4pPr>
            <a:lvl5pPr>
              <a:defRPr sz="1650" b="1">
                <a:solidFill>
                  <a:srgbClr val="007A7A"/>
                </a:solidFill>
              </a:defRPr>
            </a:lvl5pPr>
            <a:lvl6pPr>
              <a:defRPr sz="1650" b="1">
                <a:solidFill>
                  <a:srgbClr val="007A7A"/>
                </a:solidFill>
              </a:defRPr>
            </a:lvl6pPr>
            <a:lvl7pPr>
              <a:defRPr sz="1650" b="1">
                <a:solidFill>
                  <a:srgbClr val="007A7A"/>
                </a:solidFill>
              </a:defRPr>
            </a:lvl7pPr>
            <a:lvl8pPr>
              <a:defRPr sz="1650" b="1">
                <a:solidFill>
                  <a:srgbClr val="007A7A"/>
                </a:solidFill>
              </a:defRPr>
            </a:lvl8pPr>
            <a:lvl9pPr>
              <a:defRPr sz="1650" b="1">
                <a:solidFill>
                  <a:srgbClr val="007A7A"/>
                </a:solidFill>
              </a:defRPr>
            </a:lvl9pPr>
          </a:lstStyle>
          <a:p xmlns:a="http://schemas.openxmlformats.org/drawingml/2006/main">
            <a:pPr>
              <a:defRPr sz="1650" b="1">
                <a:solidFill>
                  <a:srgbClr val="007A7A"/>
                </a:solidFill>
              </a:defRPr>
            </a:pPr>
            <a:r>
              <a:rPr sz="1650" b="1">
                <a:solidFill>
                  <a:srgbClr val="007A7A"/>
                </a:solidFill>
              </a:rPr>
              <a:t>Predictive traffic engineering</a:t>
            </a:r>
          </a:p>
        </p:txBody>
      </p:sp>
      <p:sp>
        <p:nvSpPr>
          <p:cNvPr id="13" name="">
            <a:extLst xmlns:a="http://schemas.openxmlformats.org/drawingml/2006/main">
              <a:ext uri="{FF2B5EF4-FFF2-40B4-BE49-F238E27FC236}">
                <a16:creationId xmlns:a16="http://schemas.microsoft.com/office/drawing/2014/main" id="{4D860360-D5F7-42A9-8AFB-C35D7A315A26}"/>
              </a:ext>
            </a:extLst>
          </p:cNvPr>
          <p:cNvSpPr>
            <a:spLocks xmlns:a="http://schemas.openxmlformats.org/drawingml/2006/main" noGrp="1"/>
          </p:cNvSpPr>
          <p:nvPr/>
        </p:nvSpPr>
        <p:spPr>
          <a:xfrm xmlns:a="http://schemas.openxmlformats.org/drawingml/2006/main">
            <a:off x="4629150" y="3581400"/>
            <a:ext cx="63246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2F34"/>
                </a:solidFill>
              </a:defRPr>
            </a:defPPr>
            <a:lvl1pPr>
              <a:defRPr sz="1500" b="0">
                <a:solidFill>
                  <a:srgbClr val="152F34"/>
                </a:solidFill>
              </a:defRPr>
            </a:lvl1pPr>
            <a:lvl2pPr>
              <a:defRPr sz="1500" b="0">
                <a:solidFill>
                  <a:srgbClr val="152F34"/>
                </a:solidFill>
              </a:defRPr>
            </a:lvl2pPr>
            <a:lvl3pPr>
              <a:defRPr sz="1500" b="0">
                <a:solidFill>
                  <a:srgbClr val="152F34"/>
                </a:solidFill>
              </a:defRPr>
            </a:lvl3pPr>
            <a:lvl4pPr>
              <a:defRPr sz="1500" b="0">
                <a:solidFill>
                  <a:srgbClr val="152F34"/>
                </a:solidFill>
              </a:defRPr>
            </a:lvl4pPr>
            <a:lvl5pPr>
              <a:defRPr sz="1500" b="0">
                <a:solidFill>
                  <a:srgbClr val="152F34"/>
                </a:solidFill>
              </a:defRPr>
            </a:lvl5pPr>
            <a:lvl6pPr>
              <a:defRPr sz="1500" b="0">
                <a:solidFill>
                  <a:srgbClr val="152F34"/>
                </a:solidFill>
              </a:defRPr>
            </a:lvl6pPr>
            <a:lvl7pPr>
              <a:defRPr sz="1500" b="0">
                <a:solidFill>
                  <a:srgbClr val="152F34"/>
                </a:solidFill>
              </a:defRPr>
            </a:lvl7pPr>
            <a:lvl8pPr>
              <a:defRPr sz="1500" b="0">
                <a:solidFill>
                  <a:srgbClr val="152F34"/>
                </a:solidFill>
              </a:defRPr>
            </a:lvl8pPr>
            <a:lvl9pPr>
              <a:defRPr sz="1500" b="0">
                <a:solidFill>
                  <a:srgbClr val="152F34"/>
                </a:solidFill>
              </a:defRPr>
            </a:lvl9pPr>
          </a:lstStyle>
          <a:p xmlns:a="http://schemas.openxmlformats.org/drawingml/2006/main">
            <a:pPr>
              <a:defRPr sz="1500" b="0">
                <a:solidFill>
                  <a:srgbClr val="152F34"/>
                </a:solidFill>
              </a:defRPr>
            </a:pPr>
            <a:r>
              <a:rPr sz="1500" b="0">
                <a:solidFill>
                  <a:srgbClr val="152F34"/>
                </a:solidFill>
              </a:rPr>
              <a:t>Forecast demand, but do not favor lower-carbon routes.</a:t>
            </a:r>
          </a:p>
        </p:txBody>
      </p:sp>
      <p:sp>
        <p:nvSpPr>
          <p:cNvPr id="14" name="">
            <a:extLst xmlns:a="http://schemas.openxmlformats.org/drawingml/2006/main">
              <a:ext uri="{FF2B5EF4-FFF2-40B4-BE49-F238E27FC236}">
                <a16:creationId xmlns:a16="http://schemas.microsoft.com/office/drawing/2014/main" id="{C6E09D61-4E38-4915-9E40-671EFF2A6A51}"/>
              </a:ext>
            </a:extLst>
          </p:cNvPr>
          <p:cNvSpPr>
            <a:spLocks xmlns:a="http://schemas.openxmlformats.org/drawingml/2006/main" noGrp="1"/>
          </p:cNvSpPr>
          <p:nvPr/>
        </p:nvSpPr>
        <p:spPr>
          <a:xfrm xmlns:a="http://schemas.openxmlformats.org/drawingml/2006/main">
            <a:off x="742950" y="4248150"/>
            <a:ext cx="10191750" cy="9525"/>
          </a:xfrm>
          <a:prstGeom xmlns:a="http://schemas.openxmlformats.org/drawingml/2006/main" prst="rect">
            <a:avLst/>
          </a:prstGeom>
          <a:solidFill xmlns:a="http://schemas.openxmlformats.org/drawingml/2006/main">
            <a:srgbClr val="C9D5D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A28A32F-6B02-46DD-8655-274CBD4B5481}"/>
              </a:ext>
            </a:extLst>
          </p:cNvPr>
          <p:cNvSpPr>
            <a:spLocks xmlns:a="http://schemas.openxmlformats.org/drawingml/2006/main" noGrp="1"/>
          </p:cNvSpPr>
          <p:nvPr/>
        </p:nvSpPr>
        <p:spPr>
          <a:xfrm xmlns:a="http://schemas.openxmlformats.org/drawingml/2006/main">
            <a:off x="742950" y="4410075"/>
            <a:ext cx="3810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1">
                <a:solidFill>
                  <a:srgbClr val="007A7A"/>
                </a:solidFill>
              </a:defRPr>
            </a:defPPr>
            <a:lvl1pPr>
              <a:defRPr sz="1650" b="1">
                <a:solidFill>
                  <a:srgbClr val="007A7A"/>
                </a:solidFill>
              </a:defRPr>
            </a:lvl1pPr>
            <a:lvl2pPr>
              <a:defRPr sz="1650" b="1">
                <a:solidFill>
                  <a:srgbClr val="007A7A"/>
                </a:solidFill>
              </a:defRPr>
            </a:lvl2pPr>
            <a:lvl3pPr>
              <a:defRPr sz="1650" b="1">
                <a:solidFill>
                  <a:srgbClr val="007A7A"/>
                </a:solidFill>
              </a:defRPr>
            </a:lvl3pPr>
            <a:lvl4pPr>
              <a:defRPr sz="1650" b="1">
                <a:solidFill>
                  <a:srgbClr val="007A7A"/>
                </a:solidFill>
              </a:defRPr>
            </a:lvl4pPr>
            <a:lvl5pPr>
              <a:defRPr sz="1650" b="1">
                <a:solidFill>
                  <a:srgbClr val="007A7A"/>
                </a:solidFill>
              </a:defRPr>
            </a:lvl5pPr>
            <a:lvl6pPr>
              <a:defRPr sz="1650" b="1">
                <a:solidFill>
                  <a:srgbClr val="007A7A"/>
                </a:solidFill>
              </a:defRPr>
            </a:lvl6pPr>
            <a:lvl7pPr>
              <a:defRPr sz="1650" b="1">
                <a:solidFill>
                  <a:srgbClr val="007A7A"/>
                </a:solidFill>
              </a:defRPr>
            </a:lvl7pPr>
            <a:lvl8pPr>
              <a:defRPr sz="1650" b="1">
                <a:solidFill>
                  <a:srgbClr val="007A7A"/>
                </a:solidFill>
              </a:defRPr>
            </a:lvl8pPr>
            <a:lvl9pPr>
              <a:defRPr sz="1650" b="1">
                <a:solidFill>
                  <a:srgbClr val="007A7A"/>
                </a:solidFill>
              </a:defRPr>
            </a:lvl9pPr>
          </a:lstStyle>
          <a:p xmlns:a="http://schemas.openxmlformats.org/drawingml/2006/main">
            <a:pPr>
              <a:defRPr sz="1650" b="1">
                <a:solidFill>
                  <a:srgbClr val="007A7A"/>
                </a:solidFill>
              </a:defRPr>
            </a:pPr>
            <a:r>
              <a:rPr sz="1650" b="1">
                <a:solidFill>
                  <a:srgbClr val="007A7A"/>
                </a:solidFill>
              </a:rPr>
              <a:t>Persistence + safeguards</a:t>
            </a:r>
          </a:p>
        </p:txBody>
      </p:sp>
      <p:sp>
        <p:nvSpPr>
          <p:cNvPr id="16" name="">
            <a:extLst xmlns:a="http://schemas.openxmlformats.org/drawingml/2006/main">
              <a:ext uri="{FF2B5EF4-FFF2-40B4-BE49-F238E27FC236}">
                <a16:creationId xmlns:a16="http://schemas.microsoft.com/office/drawing/2014/main" id="{2F7F303D-5E3A-42F2-B62A-70B5BFB725A3}"/>
              </a:ext>
            </a:extLst>
          </p:cNvPr>
          <p:cNvSpPr>
            <a:spLocks xmlns:a="http://schemas.openxmlformats.org/drawingml/2006/main" noGrp="1"/>
          </p:cNvSpPr>
          <p:nvPr/>
        </p:nvSpPr>
        <p:spPr>
          <a:xfrm xmlns:a="http://schemas.openxmlformats.org/drawingml/2006/main">
            <a:off x="4629150" y="4410075"/>
            <a:ext cx="63246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152F34"/>
                </a:solidFill>
              </a:defRPr>
            </a:defPPr>
            <a:lvl1pPr>
              <a:defRPr sz="1500" b="0">
                <a:solidFill>
                  <a:srgbClr val="152F34"/>
                </a:solidFill>
              </a:defRPr>
            </a:lvl1pPr>
            <a:lvl2pPr>
              <a:defRPr sz="1500" b="0">
                <a:solidFill>
                  <a:srgbClr val="152F34"/>
                </a:solidFill>
              </a:defRPr>
            </a:lvl2pPr>
            <a:lvl3pPr>
              <a:defRPr sz="1500" b="0">
                <a:solidFill>
                  <a:srgbClr val="152F34"/>
                </a:solidFill>
              </a:defRPr>
            </a:lvl3pPr>
            <a:lvl4pPr>
              <a:defRPr sz="1500" b="0">
                <a:solidFill>
                  <a:srgbClr val="152F34"/>
                </a:solidFill>
              </a:defRPr>
            </a:lvl4pPr>
            <a:lvl5pPr>
              <a:defRPr sz="1500" b="0">
                <a:solidFill>
                  <a:srgbClr val="152F34"/>
                </a:solidFill>
              </a:defRPr>
            </a:lvl5pPr>
            <a:lvl6pPr>
              <a:defRPr sz="1500" b="0">
                <a:solidFill>
                  <a:srgbClr val="152F34"/>
                </a:solidFill>
              </a:defRPr>
            </a:lvl6pPr>
            <a:lvl7pPr>
              <a:defRPr sz="1500" b="0">
                <a:solidFill>
                  <a:srgbClr val="152F34"/>
                </a:solidFill>
              </a:defRPr>
            </a:lvl7pPr>
            <a:lvl8pPr>
              <a:defRPr sz="1500" b="0">
                <a:solidFill>
                  <a:srgbClr val="152F34"/>
                </a:solidFill>
              </a:defRPr>
            </a:lvl8pPr>
            <a:lvl9pPr>
              <a:defRPr sz="1500" b="0">
                <a:solidFill>
                  <a:srgbClr val="152F34"/>
                </a:solidFill>
              </a:defRPr>
            </a:lvl9pPr>
          </a:lstStyle>
          <a:p xmlns:a="http://schemas.openxmlformats.org/drawingml/2006/main">
            <a:pPr>
              <a:defRPr sz="1500" b="0">
                <a:solidFill>
                  <a:srgbClr val="152F34"/>
                </a:solidFill>
              </a:defRPr>
            </a:pPr>
            <a:r>
              <a:rPr sz="1500" b="0">
                <a:solidFill>
                  <a:srgbClr val="152F34"/>
                </a:solidFill>
              </a:rPr>
              <a:t>Assume traffic stays at its latest value; use the same guardrails.</a:t>
            </a:r>
          </a:p>
        </p:txBody>
      </p:sp>
      <p:sp>
        <p:nvSpPr>
          <p:cNvPr id="17" name="">
            <a:extLst xmlns:a="http://schemas.openxmlformats.org/drawingml/2006/main">
              <a:ext uri="{FF2B5EF4-FFF2-40B4-BE49-F238E27FC236}">
                <a16:creationId xmlns:a16="http://schemas.microsoft.com/office/drawing/2014/main" id="{36B0BBEC-4D86-415B-A7AB-7FAF9617AB64}"/>
              </a:ext>
            </a:extLst>
          </p:cNvPr>
          <p:cNvSpPr>
            <a:spLocks xmlns:a="http://schemas.openxmlformats.org/drawingml/2006/main" noGrp="1"/>
          </p:cNvSpPr>
          <p:nvPr/>
        </p:nvSpPr>
        <p:spPr>
          <a:xfrm xmlns:a="http://schemas.openxmlformats.org/drawingml/2006/main">
            <a:off x="742950" y="5448300"/>
            <a:ext cx="1028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152F34"/>
                </a:solidFill>
              </a:defRPr>
            </a:defPPr>
            <a:lvl1pPr>
              <a:defRPr sz="1575" b="1">
                <a:solidFill>
                  <a:srgbClr val="152F34"/>
                </a:solidFill>
              </a:defRPr>
            </a:lvl1pPr>
            <a:lvl2pPr>
              <a:defRPr sz="1575" b="1">
                <a:solidFill>
                  <a:srgbClr val="152F34"/>
                </a:solidFill>
              </a:defRPr>
            </a:lvl2pPr>
            <a:lvl3pPr>
              <a:defRPr sz="1575" b="1">
                <a:solidFill>
                  <a:srgbClr val="152F34"/>
                </a:solidFill>
              </a:defRPr>
            </a:lvl3pPr>
            <a:lvl4pPr>
              <a:defRPr sz="1575" b="1">
                <a:solidFill>
                  <a:srgbClr val="152F34"/>
                </a:solidFill>
              </a:defRPr>
            </a:lvl4pPr>
            <a:lvl5pPr>
              <a:defRPr sz="1575" b="1">
                <a:solidFill>
                  <a:srgbClr val="152F34"/>
                </a:solidFill>
              </a:defRPr>
            </a:lvl5pPr>
            <a:lvl6pPr>
              <a:defRPr sz="1575" b="1">
                <a:solidFill>
                  <a:srgbClr val="152F34"/>
                </a:solidFill>
              </a:defRPr>
            </a:lvl6pPr>
            <a:lvl7pPr>
              <a:defRPr sz="1575" b="1">
                <a:solidFill>
                  <a:srgbClr val="152F34"/>
                </a:solidFill>
              </a:defRPr>
            </a:lvl7pPr>
            <a:lvl8pPr>
              <a:defRPr sz="1575" b="1">
                <a:solidFill>
                  <a:srgbClr val="152F34"/>
                </a:solidFill>
              </a:defRPr>
            </a:lvl8pPr>
            <a:lvl9pPr>
              <a:defRPr sz="1575" b="1">
                <a:solidFill>
                  <a:srgbClr val="152F34"/>
                </a:solidFill>
              </a:defRPr>
            </a:lvl9pPr>
          </a:lstStyle>
          <a:p xmlns:a="http://schemas.openxmlformats.org/drawingml/2006/main">
            <a:pPr>
              <a:defRPr sz="1575" b="1">
                <a:solidFill>
                  <a:srgbClr val="152F34"/>
                </a:solidFill>
              </a:defRPr>
            </a:pPr>
            <a:r>
              <a:rPr sz="1575" b="1">
                <a:solidFill>
                  <a:srgbClr val="152F34"/>
                </a:solidFill>
              </a:rPr>
              <a:t>Compare: forwarding score ↓   overload minutes ↓   served fraction ↑   route changes ↓</a:t>
            </a:r>
          </a:p>
        </p:txBody>
      </p:sp>
      <p:sp>
        <p:nvSpPr>
          <p:cNvPr id="18" name="">
            <a:extLst xmlns:a="http://schemas.openxmlformats.org/drawingml/2006/main">
              <a:ext uri="{FF2B5EF4-FFF2-40B4-BE49-F238E27FC236}">
                <a16:creationId xmlns:a16="http://schemas.microsoft.com/office/drawing/2014/main" id="{4B9788C0-BA88-49C8-8310-F9A210C6498C}"/>
              </a:ext>
            </a:extLst>
          </p:cNvPr>
          <p:cNvSpPr>
            <a:spLocks xmlns:a="http://schemas.openxmlformats.org/drawingml/2006/main" noGrp="1"/>
          </p:cNvSpPr>
          <p:nvPr/>
        </p:nvSpPr>
        <p:spPr>
          <a:xfrm xmlns:a="http://schemas.openxmlformats.org/drawingml/2006/main">
            <a:off x="742950" y="5876925"/>
            <a:ext cx="1028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C95C43"/>
                </a:solidFill>
              </a:defRPr>
            </a:defPPr>
            <a:lvl1pPr>
              <a:defRPr sz="1275" b="1">
                <a:solidFill>
                  <a:srgbClr val="C95C43"/>
                </a:solidFill>
              </a:defRPr>
            </a:lvl1pPr>
            <a:lvl2pPr>
              <a:defRPr sz="1275" b="1">
                <a:solidFill>
                  <a:srgbClr val="C95C43"/>
                </a:solidFill>
              </a:defRPr>
            </a:lvl2pPr>
            <a:lvl3pPr>
              <a:defRPr sz="1275" b="1">
                <a:solidFill>
                  <a:srgbClr val="C95C43"/>
                </a:solidFill>
              </a:defRPr>
            </a:lvl3pPr>
            <a:lvl4pPr>
              <a:defRPr sz="1275" b="1">
                <a:solidFill>
                  <a:srgbClr val="C95C43"/>
                </a:solidFill>
              </a:defRPr>
            </a:lvl4pPr>
            <a:lvl5pPr>
              <a:defRPr sz="1275" b="1">
                <a:solidFill>
                  <a:srgbClr val="C95C43"/>
                </a:solidFill>
              </a:defRPr>
            </a:lvl5pPr>
            <a:lvl6pPr>
              <a:defRPr sz="1275" b="1">
                <a:solidFill>
                  <a:srgbClr val="C95C43"/>
                </a:solidFill>
              </a:defRPr>
            </a:lvl6pPr>
            <a:lvl7pPr>
              <a:defRPr sz="1275" b="1">
                <a:solidFill>
                  <a:srgbClr val="C95C43"/>
                </a:solidFill>
              </a:defRPr>
            </a:lvl7pPr>
            <a:lvl8pPr>
              <a:defRPr sz="1275" b="1">
                <a:solidFill>
                  <a:srgbClr val="C95C43"/>
                </a:solidFill>
              </a:defRPr>
            </a:lvl8pPr>
            <a:lvl9pPr>
              <a:defRPr sz="1275" b="1">
                <a:solidFill>
                  <a:srgbClr val="C95C43"/>
                </a:solidFill>
              </a:defRPr>
            </a:lvl9pPr>
          </a:lstStyle>
          <a:p xmlns:a="http://schemas.openxmlformats.org/drawingml/2006/main">
            <a:pPr>
              <a:defRPr sz="1275" b="1">
                <a:solidFill>
                  <a:srgbClr val="C95C43"/>
                </a:solidFill>
              </a:defRPr>
            </a:pPr>
            <a:r>
              <a:rPr sz="1275" b="1">
                <a:solidFill>
                  <a:srgbClr val="C95C43"/>
                </a:solidFill>
              </a:rPr>
              <a:t>Forwarding score measures byte-weighted exposure to regional grid intensity; it is a proxy, not emitted CO₂.</a:t>
            </a:r>
          </a:p>
        </p:txBody>
      </p:sp>
    </p:spTree>
    <p:extLst>
      <p:ext uri="{BB962C8B-B14F-4D97-AF65-F5344CB8AC3E}">
        <p14:creationId xmlns:p14="http://schemas.microsoft.com/office/powerpoint/2010/main" val="1027636357"/>
      </p:ext>
    </p:extLst>
  </p:cSld>
</p:sld>
</file>

<file path=ppt/slides/slide9.xml><?xml version="1.0" encoding="utf-8"?>
<p:sld xmlns:p="http://schemas.openxmlformats.org/presentationml/2006/main">
  <p:cSld>
    <p:bg>
      <p:bgPr>
        <a:solidFill xmlns:a="http://schemas.openxmlformats.org/drawingml/2006/main">
          <a:srgbClr val="103239"/>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EEA998E-5B74-428F-B5DB-DD1672AEADE2}"/>
              </a:ext>
            </a:extLst>
          </p:cNvPr>
          <p:cNvSpPr>
            <a:spLocks xmlns:a="http://schemas.openxmlformats.org/drawingml/2006/main" noGrp="1"/>
          </p:cNvSpPr>
          <p:nvPr/>
        </p:nvSpPr>
        <p:spPr>
          <a:xfrm xmlns:a="http://schemas.openxmlformats.org/drawingml/2006/main">
            <a:off x="647700" y="30480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9DCD4"/>
                </a:solidFill>
              </a:defRPr>
            </a:defPPr>
            <a:lvl1pPr>
              <a:defRPr sz="1050" b="1">
                <a:solidFill>
                  <a:srgbClr val="A9DCD4"/>
                </a:solidFill>
              </a:defRPr>
            </a:lvl1pPr>
            <a:lvl2pPr>
              <a:defRPr sz="1050" b="1">
                <a:solidFill>
                  <a:srgbClr val="A9DCD4"/>
                </a:solidFill>
              </a:defRPr>
            </a:lvl2pPr>
            <a:lvl3pPr>
              <a:defRPr sz="1050" b="1">
                <a:solidFill>
                  <a:srgbClr val="A9DCD4"/>
                </a:solidFill>
              </a:defRPr>
            </a:lvl3pPr>
            <a:lvl4pPr>
              <a:defRPr sz="1050" b="1">
                <a:solidFill>
                  <a:srgbClr val="A9DCD4"/>
                </a:solidFill>
              </a:defRPr>
            </a:lvl4pPr>
            <a:lvl5pPr>
              <a:defRPr sz="1050" b="1">
                <a:solidFill>
                  <a:srgbClr val="A9DCD4"/>
                </a:solidFill>
              </a:defRPr>
            </a:lvl5pPr>
            <a:lvl6pPr>
              <a:defRPr sz="1050" b="1">
                <a:solidFill>
                  <a:srgbClr val="A9DCD4"/>
                </a:solidFill>
              </a:defRPr>
            </a:lvl6pPr>
            <a:lvl7pPr>
              <a:defRPr sz="1050" b="1">
                <a:solidFill>
                  <a:srgbClr val="A9DCD4"/>
                </a:solidFill>
              </a:defRPr>
            </a:lvl7pPr>
            <a:lvl8pPr>
              <a:defRPr sz="1050" b="1">
                <a:solidFill>
                  <a:srgbClr val="A9DCD4"/>
                </a:solidFill>
              </a:defRPr>
            </a:lvl8pPr>
            <a:lvl9pPr>
              <a:defRPr sz="1050" b="1">
                <a:solidFill>
                  <a:srgbClr val="A9DCD4"/>
                </a:solidFill>
              </a:defRPr>
            </a:lvl9pPr>
          </a:lstStyle>
          <a:p xmlns:a="http://schemas.openxmlformats.org/drawingml/2006/main">
            <a:pPr>
              <a:defRPr sz="1050" b="1">
                <a:solidFill>
                  <a:srgbClr val="A9DCD4"/>
                </a:solidFill>
              </a:defRPr>
            </a:pPr>
            <a:r>
              <a:rPr sz="1050" b="1">
                <a:solidFill>
                  <a:srgbClr val="A9DCD4"/>
                </a:solidFill>
              </a:rPr>
              <a:t>RESULT A</a:t>
            </a:r>
          </a:p>
        </p:txBody>
      </p:sp>
      <p:sp>
        <p:nvSpPr>
          <p:cNvPr id="2" name="">
            <a:extLst xmlns:a="http://schemas.openxmlformats.org/drawingml/2006/main">
              <a:ext uri="{FF2B5EF4-FFF2-40B4-BE49-F238E27FC236}">
                <a16:creationId xmlns:a16="http://schemas.microsoft.com/office/drawing/2014/main" id="{9C11616E-BA15-417C-88B0-8EA0185B9F67}"/>
              </a:ext>
            </a:extLst>
          </p:cNvPr>
          <p:cNvSpPr>
            <a:spLocks xmlns:a="http://schemas.openxmlformats.org/drawingml/2006/main" noGrp="1"/>
          </p:cNvSpPr>
          <p:nvPr/>
        </p:nvSpPr>
        <p:spPr>
          <a:xfrm xmlns:a="http://schemas.openxmlformats.org/drawingml/2006/main">
            <a:off x="647700" y="723900"/>
            <a:ext cx="10763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FFFFFF"/>
                </a:solidFill>
              </a:defRPr>
            </a:defPPr>
            <a:lvl1pPr>
              <a:defRPr sz="2775" b="1">
                <a:solidFill>
                  <a:srgbClr val="FFFFFF"/>
                </a:solidFill>
              </a:defRPr>
            </a:lvl1pPr>
            <a:lvl2pPr>
              <a:defRPr sz="2775" b="1">
                <a:solidFill>
                  <a:srgbClr val="FFFFFF"/>
                </a:solidFill>
              </a:defRPr>
            </a:lvl2pPr>
            <a:lvl3pPr>
              <a:defRPr sz="2775" b="1">
                <a:solidFill>
                  <a:srgbClr val="FFFFFF"/>
                </a:solidFill>
              </a:defRPr>
            </a:lvl3pPr>
            <a:lvl4pPr>
              <a:defRPr sz="2775" b="1">
                <a:solidFill>
                  <a:srgbClr val="FFFFFF"/>
                </a:solidFill>
              </a:defRPr>
            </a:lvl4pPr>
            <a:lvl5pPr>
              <a:defRPr sz="2775" b="1">
                <a:solidFill>
                  <a:srgbClr val="FFFFFF"/>
                </a:solidFill>
              </a:defRPr>
            </a:lvl5pPr>
            <a:lvl6pPr>
              <a:defRPr sz="2775" b="1">
                <a:solidFill>
                  <a:srgbClr val="FFFFFF"/>
                </a:solidFill>
              </a:defRPr>
            </a:lvl6pPr>
            <a:lvl7pPr>
              <a:defRPr sz="2775" b="1">
                <a:solidFill>
                  <a:srgbClr val="FFFFFF"/>
                </a:solidFill>
              </a:defRPr>
            </a:lvl7pPr>
            <a:lvl8pPr>
              <a:defRPr sz="2775" b="1">
                <a:solidFill>
                  <a:srgbClr val="FFFFFF"/>
                </a:solidFill>
              </a:defRPr>
            </a:lvl8pPr>
            <a:lvl9pPr>
              <a:defRPr sz="2775" b="1">
                <a:solidFill>
                  <a:srgbClr val="FFFFFF"/>
                </a:solidFill>
              </a:defRPr>
            </a:lvl9pPr>
          </a:lstStyle>
          <a:p xmlns:a="http://schemas.openxmlformats.org/drawingml/2006/main">
            <a:pPr>
              <a:defRPr sz="2775" b="1">
                <a:solidFill>
                  <a:srgbClr val="FFFFFF"/>
                </a:solidFill>
              </a:defRPr>
            </a:pPr>
            <a:r>
              <a:rPr sz="2775" b="1">
                <a:solidFill>
                  <a:srgbClr val="FFFFFF"/>
                </a:solidFill>
              </a:rPr>
              <a:t>Joint planning lowers the carbon score in this replay</a:t>
            </a:r>
          </a:p>
        </p:txBody>
      </p:sp>
      <p:sp>
        <p:nvSpPr>
          <p:cNvPr id="3" name="">
            <a:extLst xmlns:a="http://schemas.openxmlformats.org/drawingml/2006/main">
              <a:ext uri="{FF2B5EF4-FFF2-40B4-BE49-F238E27FC236}">
                <a16:creationId xmlns:a16="http://schemas.microsoft.com/office/drawing/2014/main" id="{B214C192-B559-4F4B-9231-C9DCD1AA4DFA}"/>
              </a:ext>
            </a:extLst>
          </p:cNvPr>
          <p:cNvSpPr>
            <a:spLocks xmlns:a="http://schemas.openxmlformats.org/drawingml/2006/main" noGrp="1"/>
          </p:cNvSpPr>
          <p:nvPr/>
        </p:nvSpPr>
        <p:spPr>
          <a:xfrm xmlns:a="http://schemas.openxmlformats.org/drawingml/2006/main">
            <a:off x="647700" y="1562100"/>
            <a:ext cx="10896600" cy="19050"/>
          </a:xfrm>
          <a:prstGeom xmlns:a="http://schemas.openxmlformats.org/drawingml/2006/main" prst="rect">
            <a:avLst/>
          </a:prstGeom>
          <a:solidFill xmlns:a="http://schemas.openxmlformats.org/drawingml/2006/main">
            <a:srgbClr val="A9DCD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08D6A9A-148F-4DE0-8D00-C68B64C6EC6F}"/>
              </a:ext>
            </a:extLst>
          </p:cNvPr>
          <p:cNvSpPr>
            <a:spLocks xmlns:a="http://schemas.openxmlformats.org/drawingml/2006/main" noGrp="1"/>
          </p:cNvSpPr>
          <p:nvPr/>
        </p:nvSpPr>
        <p:spPr>
          <a:xfrm xmlns:a="http://schemas.openxmlformats.org/drawingml/2006/main">
            <a:off x="647700" y="6467475"/>
            <a:ext cx="6667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A9DCD4"/>
                </a:solidFill>
              </a:defRPr>
            </a:defPPr>
            <a:lvl1pPr>
              <a:defRPr sz="900" b="1">
                <a:solidFill>
                  <a:srgbClr val="A9DCD4"/>
                </a:solidFill>
              </a:defRPr>
            </a:lvl1pPr>
            <a:lvl2pPr>
              <a:defRPr sz="900" b="1">
                <a:solidFill>
                  <a:srgbClr val="A9DCD4"/>
                </a:solidFill>
              </a:defRPr>
            </a:lvl2pPr>
            <a:lvl3pPr>
              <a:defRPr sz="900" b="1">
                <a:solidFill>
                  <a:srgbClr val="A9DCD4"/>
                </a:solidFill>
              </a:defRPr>
            </a:lvl3pPr>
            <a:lvl4pPr>
              <a:defRPr sz="900" b="1">
                <a:solidFill>
                  <a:srgbClr val="A9DCD4"/>
                </a:solidFill>
              </a:defRPr>
            </a:lvl4pPr>
            <a:lvl5pPr>
              <a:defRPr sz="900" b="1">
                <a:solidFill>
                  <a:srgbClr val="A9DCD4"/>
                </a:solidFill>
              </a:defRPr>
            </a:lvl5pPr>
            <a:lvl6pPr>
              <a:defRPr sz="900" b="1">
                <a:solidFill>
                  <a:srgbClr val="A9DCD4"/>
                </a:solidFill>
              </a:defRPr>
            </a:lvl6pPr>
            <a:lvl7pPr>
              <a:defRPr sz="900" b="1">
                <a:solidFill>
                  <a:srgbClr val="A9DCD4"/>
                </a:solidFill>
              </a:defRPr>
            </a:lvl7pPr>
            <a:lvl8pPr>
              <a:defRPr sz="900" b="1">
                <a:solidFill>
                  <a:srgbClr val="A9DCD4"/>
                </a:solidFill>
              </a:defRPr>
            </a:lvl8pPr>
            <a:lvl9pPr>
              <a:defRPr sz="900" b="1">
                <a:solidFill>
                  <a:srgbClr val="A9DCD4"/>
                </a:solidFill>
              </a:defRPr>
            </a:lvl9pPr>
          </a:lstStyle>
          <a:p xmlns:a="http://schemas.openxmlformats.org/drawingml/2006/main">
            <a:pPr>
              <a:defRPr sz="900" b="1">
                <a:solidFill>
                  <a:srgbClr val="A9DCD4"/>
                </a:solidFill>
              </a:defRPr>
            </a:pPr>
            <a:r>
              <a:rPr sz="900" b="1">
                <a:solidFill>
                  <a:srgbClr val="A9DCD4"/>
                </a:solidFill>
              </a:rPr>
              <a:t>CARBONROUTE  /  REVIEW 1</a:t>
            </a:r>
          </a:p>
        </p:txBody>
      </p:sp>
      <p:sp>
        <p:nvSpPr>
          <p:cNvPr id="5" name="">
            <a:extLst xmlns:a="http://schemas.openxmlformats.org/drawingml/2006/main">
              <a:ext uri="{FF2B5EF4-FFF2-40B4-BE49-F238E27FC236}">
                <a16:creationId xmlns:a16="http://schemas.microsoft.com/office/drawing/2014/main" id="{FA3F7213-7595-418D-A223-3549B4564C47}"/>
              </a:ext>
            </a:extLst>
          </p:cNvPr>
          <p:cNvSpPr>
            <a:spLocks xmlns:a="http://schemas.openxmlformats.org/drawingml/2006/main" noGrp="1"/>
          </p:cNvSpPr>
          <p:nvPr/>
        </p:nvSpPr>
        <p:spPr>
          <a:xfrm xmlns:a="http://schemas.openxmlformats.org/drawingml/2006/main">
            <a:off x="11077575" y="6448425"/>
            <a:ext cx="4476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A9DCD4"/>
                </a:solidFill>
              </a:defRPr>
            </a:defPPr>
            <a:lvl1pPr>
              <a:defRPr sz="975" b="1">
                <a:solidFill>
                  <a:srgbClr val="A9DCD4"/>
                </a:solidFill>
              </a:defRPr>
            </a:lvl1pPr>
            <a:lvl2pPr>
              <a:defRPr sz="975" b="1">
                <a:solidFill>
                  <a:srgbClr val="A9DCD4"/>
                </a:solidFill>
              </a:defRPr>
            </a:lvl2pPr>
            <a:lvl3pPr>
              <a:defRPr sz="975" b="1">
                <a:solidFill>
                  <a:srgbClr val="A9DCD4"/>
                </a:solidFill>
              </a:defRPr>
            </a:lvl3pPr>
            <a:lvl4pPr>
              <a:defRPr sz="975" b="1">
                <a:solidFill>
                  <a:srgbClr val="A9DCD4"/>
                </a:solidFill>
              </a:defRPr>
            </a:lvl4pPr>
            <a:lvl5pPr>
              <a:defRPr sz="975" b="1">
                <a:solidFill>
                  <a:srgbClr val="A9DCD4"/>
                </a:solidFill>
              </a:defRPr>
            </a:lvl5pPr>
            <a:lvl6pPr>
              <a:defRPr sz="975" b="1">
                <a:solidFill>
                  <a:srgbClr val="A9DCD4"/>
                </a:solidFill>
              </a:defRPr>
            </a:lvl6pPr>
            <a:lvl7pPr>
              <a:defRPr sz="975" b="1">
                <a:solidFill>
                  <a:srgbClr val="A9DCD4"/>
                </a:solidFill>
              </a:defRPr>
            </a:lvl7pPr>
            <a:lvl8pPr>
              <a:defRPr sz="975" b="1">
                <a:solidFill>
                  <a:srgbClr val="A9DCD4"/>
                </a:solidFill>
              </a:defRPr>
            </a:lvl8pPr>
            <a:lvl9pPr>
              <a:defRPr sz="975" b="1">
                <a:solidFill>
                  <a:srgbClr val="A9DCD4"/>
                </a:solidFill>
              </a:defRPr>
            </a:lvl9pPr>
          </a:lstStyle>
          <a:p xmlns:a="http://schemas.openxmlformats.org/drawingml/2006/main">
            <a:pPr>
              <a:defRPr sz="975" b="1">
                <a:solidFill>
                  <a:srgbClr val="A9DCD4"/>
                </a:solidFill>
              </a:defRPr>
            </a:pPr>
            <a:r>
              <a:rPr sz="975" b="1">
                <a:solidFill>
                  <a:srgbClr val="A9DCD4"/>
                </a:solidFill>
              </a:rPr>
              <a:t>09</a:t>
            </a:r>
          </a:p>
        </p:txBody>
      </p:sp>
      <p:sp>
        <p:nvSpPr>
          <p:cNvPr id="6" name="">
            <a:extLst xmlns:a="http://schemas.openxmlformats.org/drawingml/2006/main">
              <a:ext uri="{FF2B5EF4-FFF2-40B4-BE49-F238E27FC236}">
                <a16:creationId xmlns:a16="http://schemas.microsoft.com/office/drawing/2014/main" id="{52CDC05D-7A9E-42CE-8645-86F9C51A4155}"/>
              </a:ext>
            </a:extLst>
          </p:cNvPr>
          <p:cNvSpPr>
            <a:spLocks xmlns:a="http://schemas.openxmlformats.org/drawingml/2006/main" noGrp="1"/>
          </p:cNvSpPr>
          <p:nvPr/>
        </p:nvSpPr>
        <p:spPr>
          <a:xfrm xmlns:a="http://schemas.openxmlformats.org/drawingml/2006/main">
            <a:off x="742950" y="1847850"/>
            <a:ext cx="10382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A9DCD4"/>
                </a:solidFill>
              </a:defRPr>
            </a:defPPr>
            <a:lvl1pPr>
              <a:defRPr sz="1425" b="0">
                <a:solidFill>
                  <a:srgbClr val="A9DCD4"/>
                </a:solidFill>
              </a:defRPr>
            </a:lvl1pPr>
            <a:lvl2pPr>
              <a:defRPr sz="1425" b="0">
                <a:solidFill>
                  <a:srgbClr val="A9DCD4"/>
                </a:solidFill>
              </a:defRPr>
            </a:lvl2pPr>
            <a:lvl3pPr>
              <a:defRPr sz="1425" b="0">
                <a:solidFill>
                  <a:srgbClr val="A9DCD4"/>
                </a:solidFill>
              </a:defRPr>
            </a:lvl3pPr>
            <a:lvl4pPr>
              <a:defRPr sz="1425" b="0">
                <a:solidFill>
                  <a:srgbClr val="A9DCD4"/>
                </a:solidFill>
              </a:defRPr>
            </a:lvl4pPr>
            <a:lvl5pPr>
              <a:defRPr sz="1425" b="0">
                <a:solidFill>
                  <a:srgbClr val="A9DCD4"/>
                </a:solidFill>
              </a:defRPr>
            </a:lvl5pPr>
            <a:lvl6pPr>
              <a:defRPr sz="1425" b="0">
                <a:solidFill>
                  <a:srgbClr val="A9DCD4"/>
                </a:solidFill>
              </a:defRPr>
            </a:lvl6pPr>
            <a:lvl7pPr>
              <a:defRPr sz="1425" b="0">
                <a:solidFill>
                  <a:srgbClr val="A9DCD4"/>
                </a:solidFill>
              </a:defRPr>
            </a:lvl7pPr>
            <a:lvl8pPr>
              <a:defRPr sz="1425" b="0">
                <a:solidFill>
                  <a:srgbClr val="A9DCD4"/>
                </a:solidFill>
              </a:defRPr>
            </a:lvl8pPr>
            <a:lvl9pPr>
              <a:defRPr sz="1425" b="0">
                <a:solidFill>
                  <a:srgbClr val="A9DCD4"/>
                </a:solidFill>
              </a:defRPr>
            </a:lvl9pPr>
          </a:lstStyle>
          <a:p xmlns:a="http://schemas.openxmlformats.org/drawingml/2006/main">
            <a:pPr>
              <a:defRPr sz="1425" b="0">
                <a:solidFill>
                  <a:srgbClr val="A9DCD4"/>
                </a:solidFill>
              </a:defRPr>
            </a:pPr>
            <a:r>
              <a:rPr sz="1425" b="0">
                <a:solidFill>
                  <a:srgbClr val="A9DCD4"/>
                </a:solidFill>
              </a:rPr>
              <a:t>Congested demand, 15-minute telemetry lag; one trained seed; five previously inspected test days</a:t>
            </a:r>
          </a:p>
        </p:txBody>
      </p:sp>
      <p:sp>
        <p:nvSpPr>
          <p:cNvPr id="7" name="">
            <a:extLst xmlns:a="http://schemas.openxmlformats.org/drawingml/2006/main">
              <a:ext uri="{FF2B5EF4-FFF2-40B4-BE49-F238E27FC236}">
                <a16:creationId xmlns:a16="http://schemas.microsoft.com/office/drawing/2014/main" id="{A46EEA50-98A5-41CA-AC7F-6538D7E382E2}"/>
              </a:ext>
            </a:extLst>
          </p:cNvPr>
          <p:cNvSpPr>
            <a:spLocks xmlns:a="http://schemas.openxmlformats.org/drawingml/2006/main" noGrp="1"/>
          </p:cNvSpPr>
          <p:nvPr/>
        </p:nvSpPr>
        <p:spPr>
          <a:xfrm xmlns:a="http://schemas.openxmlformats.org/drawingml/2006/main">
            <a:off x="762000" y="2638425"/>
            <a:ext cx="40767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A9DCD4"/>
                </a:solidFill>
              </a:defRPr>
            </a:defPPr>
            <a:lvl1pPr>
              <a:defRPr sz="1275" b="1">
                <a:solidFill>
                  <a:srgbClr val="A9DCD4"/>
                </a:solidFill>
              </a:defRPr>
            </a:lvl1pPr>
            <a:lvl2pPr>
              <a:defRPr sz="1275" b="1">
                <a:solidFill>
                  <a:srgbClr val="A9DCD4"/>
                </a:solidFill>
              </a:defRPr>
            </a:lvl2pPr>
            <a:lvl3pPr>
              <a:defRPr sz="1275" b="1">
                <a:solidFill>
                  <a:srgbClr val="A9DCD4"/>
                </a:solidFill>
              </a:defRPr>
            </a:lvl3pPr>
            <a:lvl4pPr>
              <a:defRPr sz="1275" b="1">
                <a:solidFill>
                  <a:srgbClr val="A9DCD4"/>
                </a:solidFill>
              </a:defRPr>
            </a:lvl4pPr>
            <a:lvl5pPr>
              <a:defRPr sz="1275" b="1">
                <a:solidFill>
                  <a:srgbClr val="A9DCD4"/>
                </a:solidFill>
              </a:defRPr>
            </a:lvl5pPr>
            <a:lvl6pPr>
              <a:defRPr sz="1275" b="1">
                <a:solidFill>
                  <a:srgbClr val="A9DCD4"/>
                </a:solidFill>
              </a:defRPr>
            </a:lvl6pPr>
            <a:lvl7pPr>
              <a:defRPr sz="1275" b="1">
                <a:solidFill>
                  <a:srgbClr val="A9DCD4"/>
                </a:solidFill>
              </a:defRPr>
            </a:lvl7pPr>
            <a:lvl8pPr>
              <a:defRPr sz="1275" b="1">
                <a:solidFill>
                  <a:srgbClr val="A9DCD4"/>
                </a:solidFill>
              </a:defRPr>
            </a:lvl8pPr>
            <a:lvl9pPr>
              <a:defRPr sz="1275" b="1">
                <a:solidFill>
                  <a:srgbClr val="A9DCD4"/>
                </a:solidFill>
              </a:defRPr>
            </a:lvl9pPr>
          </a:lstStyle>
          <a:p xmlns:a="http://schemas.openxmlformats.org/drawingml/2006/main">
            <a:pPr>
              <a:defRPr sz="1275" b="1">
                <a:solidFill>
                  <a:srgbClr val="A9DCD4"/>
                </a:solidFill>
              </a:defRPr>
            </a:pPr>
            <a:r>
              <a:rPr sz="1275" b="1">
                <a:solidFill>
                  <a:srgbClr val="A9DCD4"/>
                </a:solidFill>
              </a:rPr>
              <a:t>ROUTING POLICY</a:t>
            </a:r>
          </a:p>
        </p:txBody>
      </p:sp>
      <p:sp>
        <p:nvSpPr>
          <p:cNvPr id="8" name="">
            <a:extLst xmlns:a="http://schemas.openxmlformats.org/drawingml/2006/main">
              <a:ext uri="{FF2B5EF4-FFF2-40B4-BE49-F238E27FC236}">
                <a16:creationId xmlns:a16="http://schemas.microsoft.com/office/drawing/2014/main" id="{2AE6FDD2-6CBE-4B9E-A262-A846FB53A812}"/>
              </a:ext>
            </a:extLst>
          </p:cNvPr>
          <p:cNvSpPr>
            <a:spLocks xmlns:a="http://schemas.openxmlformats.org/drawingml/2006/main" noGrp="1"/>
          </p:cNvSpPr>
          <p:nvPr/>
        </p:nvSpPr>
        <p:spPr>
          <a:xfrm xmlns:a="http://schemas.openxmlformats.org/drawingml/2006/main">
            <a:off x="5381625" y="2638425"/>
            <a:ext cx="3352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A9DCD4"/>
                </a:solidFill>
              </a:defRPr>
            </a:defPPr>
            <a:lvl1pPr>
              <a:defRPr sz="1275" b="1">
                <a:solidFill>
                  <a:srgbClr val="A9DCD4"/>
                </a:solidFill>
              </a:defRPr>
            </a:lvl1pPr>
            <a:lvl2pPr>
              <a:defRPr sz="1275" b="1">
                <a:solidFill>
                  <a:srgbClr val="A9DCD4"/>
                </a:solidFill>
              </a:defRPr>
            </a:lvl2pPr>
            <a:lvl3pPr>
              <a:defRPr sz="1275" b="1">
                <a:solidFill>
                  <a:srgbClr val="A9DCD4"/>
                </a:solidFill>
              </a:defRPr>
            </a:lvl3pPr>
            <a:lvl4pPr>
              <a:defRPr sz="1275" b="1">
                <a:solidFill>
                  <a:srgbClr val="A9DCD4"/>
                </a:solidFill>
              </a:defRPr>
            </a:lvl4pPr>
            <a:lvl5pPr>
              <a:defRPr sz="1275" b="1">
                <a:solidFill>
                  <a:srgbClr val="A9DCD4"/>
                </a:solidFill>
              </a:defRPr>
            </a:lvl5pPr>
            <a:lvl6pPr>
              <a:defRPr sz="1275" b="1">
                <a:solidFill>
                  <a:srgbClr val="A9DCD4"/>
                </a:solidFill>
              </a:defRPr>
            </a:lvl6pPr>
            <a:lvl7pPr>
              <a:defRPr sz="1275" b="1">
                <a:solidFill>
                  <a:srgbClr val="A9DCD4"/>
                </a:solidFill>
              </a:defRPr>
            </a:lvl7pPr>
            <a:lvl8pPr>
              <a:defRPr sz="1275" b="1">
                <a:solidFill>
                  <a:srgbClr val="A9DCD4"/>
                </a:solidFill>
              </a:defRPr>
            </a:lvl8pPr>
            <a:lvl9pPr>
              <a:defRPr sz="1275" b="1">
                <a:solidFill>
                  <a:srgbClr val="A9DCD4"/>
                </a:solidFill>
              </a:defRPr>
            </a:lvl9pPr>
          </a:lstStyle>
          <a:p xmlns:a="http://schemas.openxmlformats.org/drawingml/2006/main">
            <a:pPr>
              <a:defRPr sz="1275" b="1">
                <a:solidFill>
                  <a:srgbClr val="A9DCD4"/>
                </a:solidFill>
              </a:defRPr>
            </a:pPr>
            <a:r>
              <a:rPr sz="1275" b="1">
                <a:solidFill>
                  <a:srgbClr val="A9DCD4"/>
                </a:solidFill>
              </a:rPr>
              <a:t>FORWARDING SCORE  ↓</a:t>
            </a:r>
          </a:p>
        </p:txBody>
      </p:sp>
      <p:sp>
        <p:nvSpPr>
          <p:cNvPr id="9" name="">
            <a:extLst xmlns:a="http://schemas.openxmlformats.org/drawingml/2006/main">
              <a:ext uri="{FF2B5EF4-FFF2-40B4-BE49-F238E27FC236}">
                <a16:creationId xmlns:a16="http://schemas.microsoft.com/office/drawing/2014/main" id="{8FBC96D0-4FF2-449C-B37C-E36391275A1D}"/>
              </a:ext>
            </a:extLst>
          </p:cNvPr>
          <p:cNvSpPr>
            <a:spLocks xmlns:a="http://schemas.openxmlformats.org/drawingml/2006/main" noGrp="1"/>
          </p:cNvSpPr>
          <p:nvPr/>
        </p:nvSpPr>
        <p:spPr>
          <a:xfrm xmlns:a="http://schemas.openxmlformats.org/drawingml/2006/main">
            <a:off x="9086850" y="2638425"/>
            <a:ext cx="2190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A9DCD4"/>
                </a:solidFill>
              </a:defRPr>
            </a:defPPr>
            <a:lvl1pPr>
              <a:defRPr sz="1275" b="1">
                <a:solidFill>
                  <a:srgbClr val="A9DCD4"/>
                </a:solidFill>
              </a:defRPr>
            </a:lvl1pPr>
            <a:lvl2pPr>
              <a:defRPr sz="1275" b="1">
                <a:solidFill>
                  <a:srgbClr val="A9DCD4"/>
                </a:solidFill>
              </a:defRPr>
            </a:lvl2pPr>
            <a:lvl3pPr>
              <a:defRPr sz="1275" b="1">
                <a:solidFill>
                  <a:srgbClr val="A9DCD4"/>
                </a:solidFill>
              </a:defRPr>
            </a:lvl3pPr>
            <a:lvl4pPr>
              <a:defRPr sz="1275" b="1">
                <a:solidFill>
                  <a:srgbClr val="A9DCD4"/>
                </a:solidFill>
              </a:defRPr>
            </a:lvl4pPr>
            <a:lvl5pPr>
              <a:defRPr sz="1275" b="1">
                <a:solidFill>
                  <a:srgbClr val="A9DCD4"/>
                </a:solidFill>
              </a:defRPr>
            </a:lvl5pPr>
            <a:lvl6pPr>
              <a:defRPr sz="1275" b="1">
                <a:solidFill>
                  <a:srgbClr val="A9DCD4"/>
                </a:solidFill>
              </a:defRPr>
            </a:lvl6pPr>
            <a:lvl7pPr>
              <a:defRPr sz="1275" b="1">
                <a:solidFill>
                  <a:srgbClr val="A9DCD4"/>
                </a:solidFill>
              </a:defRPr>
            </a:lvl7pPr>
            <a:lvl8pPr>
              <a:defRPr sz="1275" b="1">
                <a:solidFill>
                  <a:srgbClr val="A9DCD4"/>
                </a:solidFill>
              </a:defRPr>
            </a:lvl8pPr>
            <a:lvl9pPr>
              <a:defRPr sz="1275" b="1">
                <a:solidFill>
                  <a:srgbClr val="A9DCD4"/>
                </a:solidFill>
              </a:defRPr>
            </a:lvl9pPr>
          </a:lstStyle>
          <a:p xmlns:a="http://schemas.openxmlformats.org/drawingml/2006/main">
            <a:pPr>
              <a:defRPr sz="1275" b="1">
                <a:solidFill>
                  <a:srgbClr val="A9DCD4"/>
                </a:solidFill>
              </a:defRPr>
            </a:pPr>
            <a:r>
              <a:rPr sz="1275" b="1">
                <a:solidFill>
                  <a:srgbClr val="A9DCD4"/>
                </a:solidFill>
              </a:rPr>
              <a:t>OVERLOAD  ↓</a:t>
            </a:r>
          </a:p>
        </p:txBody>
      </p:sp>
      <p:sp>
        <p:nvSpPr>
          <p:cNvPr id="10" name="">
            <a:extLst xmlns:a="http://schemas.openxmlformats.org/drawingml/2006/main">
              <a:ext uri="{FF2B5EF4-FFF2-40B4-BE49-F238E27FC236}">
                <a16:creationId xmlns:a16="http://schemas.microsoft.com/office/drawing/2014/main" id="{5503324D-9331-475E-8BF5-563C91908E92}"/>
              </a:ext>
            </a:extLst>
          </p:cNvPr>
          <p:cNvSpPr>
            <a:spLocks xmlns:a="http://schemas.openxmlformats.org/drawingml/2006/main" noGrp="1"/>
          </p:cNvSpPr>
          <p:nvPr/>
        </p:nvSpPr>
        <p:spPr>
          <a:xfrm xmlns:a="http://schemas.openxmlformats.org/drawingml/2006/main">
            <a:off x="762000" y="3095625"/>
            <a:ext cx="40100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FFFFFF"/>
                </a:solidFill>
              </a:defRPr>
            </a:defPPr>
            <a:lvl1pPr>
              <a:defRPr sz="2025" b="0">
                <a:solidFill>
                  <a:srgbClr val="FFFFFF"/>
                </a:solidFill>
              </a:defRPr>
            </a:lvl1pPr>
            <a:lvl2pPr>
              <a:defRPr sz="2025" b="0">
                <a:solidFill>
                  <a:srgbClr val="FFFFFF"/>
                </a:solidFill>
              </a:defRPr>
            </a:lvl2pPr>
            <a:lvl3pPr>
              <a:defRPr sz="2025" b="0">
                <a:solidFill>
                  <a:srgbClr val="FFFFFF"/>
                </a:solidFill>
              </a:defRPr>
            </a:lvl3pPr>
            <a:lvl4pPr>
              <a:defRPr sz="2025" b="0">
                <a:solidFill>
                  <a:srgbClr val="FFFFFF"/>
                </a:solidFill>
              </a:defRPr>
            </a:lvl4pPr>
            <a:lvl5pPr>
              <a:defRPr sz="2025" b="0">
                <a:solidFill>
                  <a:srgbClr val="FFFFFF"/>
                </a:solidFill>
              </a:defRPr>
            </a:lvl5pPr>
            <a:lvl6pPr>
              <a:defRPr sz="2025" b="0">
                <a:solidFill>
                  <a:srgbClr val="FFFFFF"/>
                </a:solidFill>
              </a:defRPr>
            </a:lvl6pPr>
            <a:lvl7pPr>
              <a:defRPr sz="2025" b="0">
                <a:solidFill>
                  <a:srgbClr val="FFFFFF"/>
                </a:solidFill>
              </a:defRPr>
            </a:lvl7pPr>
            <a:lvl8pPr>
              <a:defRPr sz="2025" b="0">
                <a:solidFill>
                  <a:srgbClr val="FFFFFF"/>
                </a:solidFill>
              </a:defRPr>
            </a:lvl8pPr>
            <a:lvl9pPr>
              <a:defRPr sz="2025" b="0">
                <a:solidFill>
                  <a:srgbClr val="FFFFFF"/>
                </a:solidFill>
              </a:defRPr>
            </a:lvl9pPr>
          </a:lstStyle>
          <a:p xmlns:a="http://schemas.openxmlformats.org/drawingml/2006/main">
            <a:pPr>
              <a:defRPr sz="2025" b="0">
                <a:solidFill>
                  <a:srgbClr val="FFFFFF"/>
                </a:solidFill>
              </a:defRPr>
            </a:pPr>
            <a:r>
              <a:rPr sz="2025" b="0">
                <a:solidFill>
                  <a:srgbClr val="FFFFFF"/>
                </a:solidFill>
              </a:rPr>
              <a:t>Reactive carbon</a:t>
            </a:r>
          </a:p>
        </p:txBody>
      </p:sp>
      <p:sp>
        <p:nvSpPr>
          <p:cNvPr id="11" name="">
            <a:extLst xmlns:a="http://schemas.openxmlformats.org/drawingml/2006/main">
              <a:ext uri="{FF2B5EF4-FFF2-40B4-BE49-F238E27FC236}">
                <a16:creationId xmlns:a16="http://schemas.microsoft.com/office/drawing/2014/main" id="{CF10DD5A-D089-464B-9A9C-74C236F5B2CB}"/>
              </a:ext>
            </a:extLst>
          </p:cNvPr>
          <p:cNvSpPr>
            <a:spLocks xmlns:a="http://schemas.openxmlformats.org/drawingml/2006/main" noGrp="1"/>
          </p:cNvSpPr>
          <p:nvPr/>
        </p:nvSpPr>
        <p:spPr>
          <a:xfrm xmlns:a="http://schemas.openxmlformats.org/drawingml/2006/main">
            <a:off x="5448300" y="3067050"/>
            <a:ext cx="295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FFFFFF"/>
                </a:solidFill>
              </a:defRPr>
            </a:defPPr>
            <a:lvl1pPr>
              <a:defRPr sz="2775" b="1">
                <a:solidFill>
                  <a:srgbClr val="FFFFFF"/>
                </a:solidFill>
              </a:defRPr>
            </a:lvl1pPr>
            <a:lvl2pPr>
              <a:defRPr sz="2775" b="1">
                <a:solidFill>
                  <a:srgbClr val="FFFFFF"/>
                </a:solidFill>
              </a:defRPr>
            </a:lvl2pPr>
            <a:lvl3pPr>
              <a:defRPr sz="2775" b="1">
                <a:solidFill>
                  <a:srgbClr val="FFFFFF"/>
                </a:solidFill>
              </a:defRPr>
            </a:lvl3pPr>
            <a:lvl4pPr>
              <a:defRPr sz="2775" b="1">
                <a:solidFill>
                  <a:srgbClr val="FFFFFF"/>
                </a:solidFill>
              </a:defRPr>
            </a:lvl4pPr>
            <a:lvl5pPr>
              <a:defRPr sz="2775" b="1">
                <a:solidFill>
                  <a:srgbClr val="FFFFFF"/>
                </a:solidFill>
              </a:defRPr>
            </a:lvl5pPr>
            <a:lvl6pPr>
              <a:defRPr sz="2775" b="1">
                <a:solidFill>
                  <a:srgbClr val="FFFFFF"/>
                </a:solidFill>
              </a:defRPr>
            </a:lvl6pPr>
            <a:lvl7pPr>
              <a:defRPr sz="2775" b="1">
                <a:solidFill>
                  <a:srgbClr val="FFFFFF"/>
                </a:solidFill>
              </a:defRPr>
            </a:lvl7pPr>
            <a:lvl8pPr>
              <a:defRPr sz="2775" b="1">
                <a:solidFill>
                  <a:srgbClr val="FFFFFF"/>
                </a:solidFill>
              </a:defRPr>
            </a:lvl8pPr>
            <a:lvl9pPr>
              <a:defRPr sz="2775" b="1">
                <a:solidFill>
                  <a:srgbClr val="FFFFFF"/>
                </a:solidFill>
              </a:defRPr>
            </a:lvl9pPr>
          </a:lstStyle>
          <a:p xmlns:a="http://schemas.openxmlformats.org/drawingml/2006/main">
            <a:pPr>
              <a:defRPr sz="2775" b="1">
                <a:solidFill>
                  <a:srgbClr val="FFFFFF"/>
                </a:solidFill>
              </a:defRPr>
            </a:pPr>
            <a:r>
              <a:rPr sz="2775" b="1">
                <a:solidFill>
                  <a:srgbClr val="FFFFFF"/>
                </a:solidFill>
              </a:rPr>
              <a:t>323.83</a:t>
            </a:r>
          </a:p>
        </p:txBody>
      </p:sp>
      <p:sp>
        <p:nvSpPr>
          <p:cNvPr id="12" name="">
            <a:extLst xmlns:a="http://schemas.openxmlformats.org/drawingml/2006/main">
              <a:ext uri="{FF2B5EF4-FFF2-40B4-BE49-F238E27FC236}">
                <a16:creationId xmlns:a16="http://schemas.microsoft.com/office/drawing/2014/main" id="{812BA738-AE4F-4519-9B6F-D4FDD8975B11}"/>
              </a:ext>
            </a:extLst>
          </p:cNvPr>
          <p:cNvSpPr>
            <a:spLocks xmlns:a="http://schemas.openxmlformats.org/drawingml/2006/main" noGrp="1"/>
          </p:cNvSpPr>
          <p:nvPr/>
        </p:nvSpPr>
        <p:spPr>
          <a:xfrm xmlns:a="http://schemas.openxmlformats.org/drawingml/2006/main">
            <a:off x="9115425" y="3095625"/>
            <a:ext cx="24193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FFFFFF"/>
                </a:solidFill>
              </a:defRPr>
            </a:defPPr>
            <a:lvl1pPr>
              <a:defRPr sz="1875" b="0">
                <a:solidFill>
                  <a:srgbClr val="FFFFFF"/>
                </a:solidFill>
              </a:defRPr>
            </a:lvl1pPr>
            <a:lvl2pPr>
              <a:defRPr sz="1875" b="0">
                <a:solidFill>
                  <a:srgbClr val="FFFFFF"/>
                </a:solidFill>
              </a:defRPr>
            </a:lvl2pPr>
            <a:lvl3pPr>
              <a:defRPr sz="1875" b="0">
                <a:solidFill>
                  <a:srgbClr val="FFFFFF"/>
                </a:solidFill>
              </a:defRPr>
            </a:lvl3pPr>
            <a:lvl4pPr>
              <a:defRPr sz="1875" b="0">
                <a:solidFill>
                  <a:srgbClr val="FFFFFF"/>
                </a:solidFill>
              </a:defRPr>
            </a:lvl4pPr>
            <a:lvl5pPr>
              <a:defRPr sz="1875" b="0">
                <a:solidFill>
                  <a:srgbClr val="FFFFFF"/>
                </a:solidFill>
              </a:defRPr>
            </a:lvl5pPr>
            <a:lvl6pPr>
              <a:defRPr sz="1875" b="0">
                <a:solidFill>
                  <a:srgbClr val="FFFFFF"/>
                </a:solidFill>
              </a:defRPr>
            </a:lvl6pPr>
            <a:lvl7pPr>
              <a:defRPr sz="1875" b="0">
                <a:solidFill>
                  <a:srgbClr val="FFFFFF"/>
                </a:solidFill>
              </a:defRPr>
            </a:lvl7pPr>
            <a:lvl8pPr>
              <a:defRPr sz="1875" b="0">
                <a:solidFill>
                  <a:srgbClr val="FFFFFF"/>
                </a:solidFill>
              </a:defRPr>
            </a:lvl8pPr>
            <a:lvl9pPr>
              <a:defRPr sz="1875" b="0">
                <a:solidFill>
                  <a:srgbClr val="FFFFFF"/>
                </a:solidFill>
              </a:defRPr>
            </a:lvl9pPr>
          </a:lstStyle>
          <a:p xmlns:a="http://schemas.openxmlformats.org/drawingml/2006/main">
            <a:pPr>
              <a:defRPr sz="1875" b="0">
                <a:solidFill>
                  <a:srgbClr val="FFFFFF"/>
                </a:solidFill>
              </a:defRPr>
            </a:pPr>
            <a:r>
              <a:rPr sz="1875" b="0">
                <a:solidFill>
                  <a:srgbClr val="FFFFFF"/>
                </a:solidFill>
              </a:rPr>
              <a:t>126 min/day</a:t>
            </a:r>
          </a:p>
        </p:txBody>
      </p:sp>
      <p:sp>
        <p:nvSpPr>
          <p:cNvPr id="13" name="">
            <a:extLst xmlns:a="http://schemas.openxmlformats.org/drawingml/2006/main">
              <a:ext uri="{FF2B5EF4-FFF2-40B4-BE49-F238E27FC236}">
                <a16:creationId xmlns:a16="http://schemas.microsoft.com/office/drawing/2014/main" id="{6E5EEA1C-B0E4-4C78-8D75-426273DB8BB8}"/>
              </a:ext>
            </a:extLst>
          </p:cNvPr>
          <p:cNvSpPr>
            <a:spLocks xmlns:a="http://schemas.openxmlformats.org/drawingml/2006/main" noGrp="1"/>
          </p:cNvSpPr>
          <p:nvPr/>
        </p:nvSpPr>
        <p:spPr>
          <a:xfrm xmlns:a="http://schemas.openxmlformats.org/drawingml/2006/main">
            <a:off x="762000" y="3714750"/>
            <a:ext cx="10487025" cy="9525"/>
          </a:xfrm>
          <a:prstGeom xmlns:a="http://schemas.openxmlformats.org/drawingml/2006/main" prst="rect">
            <a:avLst/>
          </a:prstGeom>
          <a:solidFill xmlns:a="http://schemas.openxmlformats.org/drawingml/2006/main">
            <a:srgbClr val="45646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C96EE98-4FCF-4032-9877-AF2AA7B50F44}"/>
              </a:ext>
            </a:extLst>
          </p:cNvPr>
          <p:cNvSpPr>
            <a:spLocks xmlns:a="http://schemas.openxmlformats.org/drawingml/2006/main" noGrp="1"/>
          </p:cNvSpPr>
          <p:nvPr/>
        </p:nvSpPr>
        <p:spPr>
          <a:xfrm xmlns:a="http://schemas.openxmlformats.org/drawingml/2006/main">
            <a:off x="762000" y="3886200"/>
            <a:ext cx="40100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FFFFFF"/>
                </a:solidFill>
              </a:defRPr>
            </a:defPPr>
            <a:lvl1pPr>
              <a:defRPr sz="2025" b="0">
                <a:solidFill>
                  <a:srgbClr val="FFFFFF"/>
                </a:solidFill>
              </a:defRPr>
            </a:lvl1pPr>
            <a:lvl2pPr>
              <a:defRPr sz="2025" b="0">
                <a:solidFill>
                  <a:srgbClr val="FFFFFF"/>
                </a:solidFill>
              </a:defRPr>
            </a:lvl2pPr>
            <a:lvl3pPr>
              <a:defRPr sz="2025" b="0">
                <a:solidFill>
                  <a:srgbClr val="FFFFFF"/>
                </a:solidFill>
              </a:defRPr>
            </a:lvl3pPr>
            <a:lvl4pPr>
              <a:defRPr sz="2025" b="0">
                <a:solidFill>
                  <a:srgbClr val="FFFFFF"/>
                </a:solidFill>
              </a:defRPr>
            </a:lvl4pPr>
            <a:lvl5pPr>
              <a:defRPr sz="2025" b="0">
                <a:solidFill>
                  <a:srgbClr val="FFFFFF"/>
                </a:solidFill>
              </a:defRPr>
            </a:lvl5pPr>
            <a:lvl6pPr>
              <a:defRPr sz="2025" b="0">
                <a:solidFill>
                  <a:srgbClr val="FFFFFF"/>
                </a:solidFill>
              </a:defRPr>
            </a:lvl6pPr>
            <a:lvl7pPr>
              <a:defRPr sz="2025" b="0">
                <a:solidFill>
                  <a:srgbClr val="FFFFFF"/>
                </a:solidFill>
              </a:defRPr>
            </a:lvl7pPr>
            <a:lvl8pPr>
              <a:defRPr sz="2025" b="0">
                <a:solidFill>
                  <a:srgbClr val="FFFFFF"/>
                </a:solidFill>
              </a:defRPr>
            </a:lvl8pPr>
            <a:lvl9pPr>
              <a:defRPr sz="2025" b="0">
                <a:solidFill>
                  <a:srgbClr val="FFFFFF"/>
                </a:solidFill>
              </a:defRPr>
            </a:lvl9pPr>
          </a:lstStyle>
          <a:p xmlns:a="http://schemas.openxmlformats.org/drawingml/2006/main">
            <a:pPr>
              <a:defRPr sz="2025" b="0">
                <a:solidFill>
                  <a:srgbClr val="FFFFFF"/>
                </a:solidFill>
              </a:defRPr>
            </a:pPr>
            <a:r>
              <a:rPr sz="2025" b="0">
                <a:solidFill>
                  <a:srgbClr val="FFFFFF"/>
                </a:solidFill>
              </a:rPr>
              <a:t>Greedy GNN</a:t>
            </a:r>
          </a:p>
        </p:txBody>
      </p:sp>
      <p:sp>
        <p:nvSpPr>
          <p:cNvPr id="15" name="">
            <a:extLst xmlns:a="http://schemas.openxmlformats.org/drawingml/2006/main">
              <a:ext uri="{FF2B5EF4-FFF2-40B4-BE49-F238E27FC236}">
                <a16:creationId xmlns:a16="http://schemas.microsoft.com/office/drawing/2014/main" id="{E47AA091-7206-4B7E-B0C6-AA2EAA97FFE0}"/>
              </a:ext>
            </a:extLst>
          </p:cNvPr>
          <p:cNvSpPr>
            <a:spLocks xmlns:a="http://schemas.openxmlformats.org/drawingml/2006/main" noGrp="1"/>
          </p:cNvSpPr>
          <p:nvPr/>
        </p:nvSpPr>
        <p:spPr>
          <a:xfrm xmlns:a="http://schemas.openxmlformats.org/drawingml/2006/main">
            <a:off x="5448300" y="3857625"/>
            <a:ext cx="295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FFFFFF"/>
                </a:solidFill>
              </a:defRPr>
            </a:defPPr>
            <a:lvl1pPr>
              <a:defRPr sz="2775" b="1">
                <a:solidFill>
                  <a:srgbClr val="FFFFFF"/>
                </a:solidFill>
              </a:defRPr>
            </a:lvl1pPr>
            <a:lvl2pPr>
              <a:defRPr sz="2775" b="1">
                <a:solidFill>
                  <a:srgbClr val="FFFFFF"/>
                </a:solidFill>
              </a:defRPr>
            </a:lvl2pPr>
            <a:lvl3pPr>
              <a:defRPr sz="2775" b="1">
                <a:solidFill>
                  <a:srgbClr val="FFFFFF"/>
                </a:solidFill>
              </a:defRPr>
            </a:lvl3pPr>
            <a:lvl4pPr>
              <a:defRPr sz="2775" b="1">
                <a:solidFill>
                  <a:srgbClr val="FFFFFF"/>
                </a:solidFill>
              </a:defRPr>
            </a:lvl4pPr>
            <a:lvl5pPr>
              <a:defRPr sz="2775" b="1">
                <a:solidFill>
                  <a:srgbClr val="FFFFFF"/>
                </a:solidFill>
              </a:defRPr>
            </a:lvl5pPr>
            <a:lvl6pPr>
              <a:defRPr sz="2775" b="1">
                <a:solidFill>
                  <a:srgbClr val="FFFFFF"/>
                </a:solidFill>
              </a:defRPr>
            </a:lvl6pPr>
            <a:lvl7pPr>
              <a:defRPr sz="2775" b="1">
                <a:solidFill>
                  <a:srgbClr val="FFFFFF"/>
                </a:solidFill>
              </a:defRPr>
            </a:lvl7pPr>
            <a:lvl8pPr>
              <a:defRPr sz="2775" b="1">
                <a:solidFill>
                  <a:srgbClr val="FFFFFF"/>
                </a:solidFill>
              </a:defRPr>
            </a:lvl8pPr>
            <a:lvl9pPr>
              <a:defRPr sz="2775" b="1">
                <a:solidFill>
                  <a:srgbClr val="FFFFFF"/>
                </a:solidFill>
              </a:defRPr>
            </a:lvl9pPr>
          </a:lstStyle>
          <a:p xmlns:a="http://schemas.openxmlformats.org/drawingml/2006/main">
            <a:pPr>
              <a:defRPr sz="2775" b="1">
                <a:solidFill>
                  <a:srgbClr val="FFFFFF"/>
                </a:solidFill>
              </a:defRPr>
            </a:pPr>
            <a:r>
              <a:rPr sz="2775" b="1">
                <a:solidFill>
                  <a:srgbClr val="FFFFFF"/>
                </a:solidFill>
              </a:rPr>
              <a:t>333.18</a:t>
            </a:r>
          </a:p>
        </p:txBody>
      </p:sp>
      <p:sp>
        <p:nvSpPr>
          <p:cNvPr id="16" name="">
            <a:extLst xmlns:a="http://schemas.openxmlformats.org/drawingml/2006/main">
              <a:ext uri="{FF2B5EF4-FFF2-40B4-BE49-F238E27FC236}">
                <a16:creationId xmlns:a16="http://schemas.microsoft.com/office/drawing/2014/main" id="{8E7ED06B-8368-4A36-BE72-F778808712E4}"/>
              </a:ext>
            </a:extLst>
          </p:cNvPr>
          <p:cNvSpPr>
            <a:spLocks xmlns:a="http://schemas.openxmlformats.org/drawingml/2006/main" noGrp="1"/>
          </p:cNvSpPr>
          <p:nvPr/>
        </p:nvSpPr>
        <p:spPr>
          <a:xfrm xmlns:a="http://schemas.openxmlformats.org/drawingml/2006/main">
            <a:off x="9115425" y="3886200"/>
            <a:ext cx="24193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A9DCD4"/>
                </a:solidFill>
              </a:defRPr>
            </a:defPPr>
            <a:lvl1pPr>
              <a:defRPr sz="1875" b="1">
                <a:solidFill>
                  <a:srgbClr val="A9DCD4"/>
                </a:solidFill>
              </a:defRPr>
            </a:lvl1pPr>
            <a:lvl2pPr>
              <a:defRPr sz="1875" b="1">
                <a:solidFill>
                  <a:srgbClr val="A9DCD4"/>
                </a:solidFill>
              </a:defRPr>
            </a:lvl2pPr>
            <a:lvl3pPr>
              <a:defRPr sz="1875" b="1">
                <a:solidFill>
                  <a:srgbClr val="A9DCD4"/>
                </a:solidFill>
              </a:defRPr>
            </a:lvl3pPr>
            <a:lvl4pPr>
              <a:defRPr sz="1875" b="1">
                <a:solidFill>
                  <a:srgbClr val="A9DCD4"/>
                </a:solidFill>
              </a:defRPr>
            </a:lvl4pPr>
            <a:lvl5pPr>
              <a:defRPr sz="1875" b="1">
                <a:solidFill>
                  <a:srgbClr val="A9DCD4"/>
                </a:solidFill>
              </a:defRPr>
            </a:lvl5pPr>
            <a:lvl6pPr>
              <a:defRPr sz="1875" b="1">
                <a:solidFill>
                  <a:srgbClr val="A9DCD4"/>
                </a:solidFill>
              </a:defRPr>
            </a:lvl6pPr>
            <a:lvl7pPr>
              <a:defRPr sz="1875" b="1">
                <a:solidFill>
                  <a:srgbClr val="A9DCD4"/>
                </a:solidFill>
              </a:defRPr>
            </a:lvl7pPr>
            <a:lvl8pPr>
              <a:defRPr sz="1875" b="1">
                <a:solidFill>
                  <a:srgbClr val="A9DCD4"/>
                </a:solidFill>
              </a:defRPr>
            </a:lvl8pPr>
            <a:lvl9pPr>
              <a:defRPr sz="1875" b="1">
                <a:solidFill>
                  <a:srgbClr val="A9DCD4"/>
                </a:solidFill>
              </a:defRPr>
            </a:lvl9pPr>
          </a:lstStyle>
          <a:p xmlns:a="http://schemas.openxmlformats.org/drawingml/2006/main">
            <a:pPr>
              <a:defRPr sz="1875" b="1">
                <a:solidFill>
                  <a:srgbClr val="A9DCD4"/>
                </a:solidFill>
              </a:defRPr>
            </a:pPr>
            <a:r>
              <a:rPr sz="1875" b="1">
                <a:solidFill>
                  <a:srgbClr val="A9DCD4"/>
                </a:solidFill>
              </a:rPr>
              <a:t>114 min/day</a:t>
            </a:r>
          </a:p>
        </p:txBody>
      </p:sp>
      <p:sp>
        <p:nvSpPr>
          <p:cNvPr id="17" name="">
            <a:extLst xmlns:a="http://schemas.openxmlformats.org/drawingml/2006/main">
              <a:ext uri="{FF2B5EF4-FFF2-40B4-BE49-F238E27FC236}">
                <a16:creationId xmlns:a16="http://schemas.microsoft.com/office/drawing/2014/main" id="{E36D3B6E-E96A-43AF-B415-79C3CADE7727}"/>
              </a:ext>
            </a:extLst>
          </p:cNvPr>
          <p:cNvSpPr>
            <a:spLocks xmlns:a="http://schemas.openxmlformats.org/drawingml/2006/main" noGrp="1"/>
          </p:cNvSpPr>
          <p:nvPr/>
        </p:nvSpPr>
        <p:spPr>
          <a:xfrm xmlns:a="http://schemas.openxmlformats.org/drawingml/2006/main">
            <a:off x="762000" y="4505325"/>
            <a:ext cx="10487025" cy="9525"/>
          </a:xfrm>
          <a:prstGeom xmlns:a="http://schemas.openxmlformats.org/drawingml/2006/main" prst="rect">
            <a:avLst/>
          </a:prstGeom>
          <a:solidFill xmlns:a="http://schemas.openxmlformats.org/drawingml/2006/main">
            <a:srgbClr val="45646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0F2DB8F-A6FE-45DC-94B0-9FFA120BBE0D}"/>
              </a:ext>
            </a:extLst>
          </p:cNvPr>
          <p:cNvSpPr>
            <a:spLocks xmlns:a="http://schemas.openxmlformats.org/drawingml/2006/main" noGrp="1"/>
          </p:cNvSpPr>
          <p:nvPr/>
        </p:nvSpPr>
        <p:spPr>
          <a:xfrm xmlns:a="http://schemas.openxmlformats.org/drawingml/2006/main">
            <a:off x="762000" y="4676775"/>
            <a:ext cx="40100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1">
                <a:solidFill>
                  <a:srgbClr val="A9DCD4"/>
                </a:solidFill>
              </a:defRPr>
            </a:defPPr>
            <a:lvl1pPr>
              <a:defRPr sz="2025" b="1">
                <a:solidFill>
                  <a:srgbClr val="A9DCD4"/>
                </a:solidFill>
              </a:defRPr>
            </a:lvl1pPr>
            <a:lvl2pPr>
              <a:defRPr sz="2025" b="1">
                <a:solidFill>
                  <a:srgbClr val="A9DCD4"/>
                </a:solidFill>
              </a:defRPr>
            </a:lvl2pPr>
            <a:lvl3pPr>
              <a:defRPr sz="2025" b="1">
                <a:solidFill>
                  <a:srgbClr val="A9DCD4"/>
                </a:solidFill>
              </a:defRPr>
            </a:lvl3pPr>
            <a:lvl4pPr>
              <a:defRPr sz="2025" b="1">
                <a:solidFill>
                  <a:srgbClr val="A9DCD4"/>
                </a:solidFill>
              </a:defRPr>
            </a:lvl4pPr>
            <a:lvl5pPr>
              <a:defRPr sz="2025" b="1">
                <a:solidFill>
                  <a:srgbClr val="A9DCD4"/>
                </a:solidFill>
              </a:defRPr>
            </a:lvl5pPr>
            <a:lvl6pPr>
              <a:defRPr sz="2025" b="1">
                <a:solidFill>
                  <a:srgbClr val="A9DCD4"/>
                </a:solidFill>
              </a:defRPr>
            </a:lvl6pPr>
            <a:lvl7pPr>
              <a:defRPr sz="2025" b="1">
                <a:solidFill>
                  <a:srgbClr val="A9DCD4"/>
                </a:solidFill>
              </a:defRPr>
            </a:lvl7pPr>
            <a:lvl8pPr>
              <a:defRPr sz="2025" b="1">
                <a:solidFill>
                  <a:srgbClr val="A9DCD4"/>
                </a:solidFill>
              </a:defRPr>
            </a:lvl8pPr>
            <a:lvl9pPr>
              <a:defRPr sz="2025" b="1">
                <a:solidFill>
                  <a:srgbClr val="A9DCD4"/>
                </a:solidFill>
              </a:defRPr>
            </a:lvl9pPr>
          </a:lstStyle>
          <a:p xmlns:a="http://schemas.openxmlformats.org/drawingml/2006/main">
            <a:pPr>
              <a:defRPr sz="2025" b="1">
                <a:solidFill>
                  <a:srgbClr val="A9DCD4"/>
                </a:solidFill>
              </a:defRPr>
            </a:pPr>
            <a:r>
              <a:rPr sz="2025" b="1">
                <a:solidFill>
                  <a:srgbClr val="A9DCD4"/>
                </a:solidFill>
              </a:rPr>
              <a:t>Joint GNN</a:t>
            </a:r>
          </a:p>
        </p:txBody>
      </p:sp>
      <p:sp>
        <p:nvSpPr>
          <p:cNvPr id="19" name="">
            <a:extLst xmlns:a="http://schemas.openxmlformats.org/drawingml/2006/main">
              <a:ext uri="{FF2B5EF4-FFF2-40B4-BE49-F238E27FC236}">
                <a16:creationId xmlns:a16="http://schemas.microsoft.com/office/drawing/2014/main" id="{64D17BAA-1C4A-41C9-9E6F-1327ED07C817}"/>
              </a:ext>
            </a:extLst>
          </p:cNvPr>
          <p:cNvSpPr>
            <a:spLocks xmlns:a="http://schemas.openxmlformats.org/drawingml/2006/main" noGrp="1"/>
          </p:cNvSpPr>
          <p:nvPr/>
        </p:nvSpPr>
        <p:spPr>
          <a:xfrm xmlns:a="http://schemas.openxmlformats.org/drawingml/2006/main">
            <a:off x="5448300" y="4648200"/>
            <a:ext cx="295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A9DCD4"/>
                </a:solidFill>
              </a:defRPr>
            </a:defPPr>
            <a:lvl1pPr>
              <a:defRPr sz="2775" b="1">
                <a:solidFill>
                  <a:srgbClr val="A9DCD4"/>
                </a:solidFill>
              </a:defRPr>
            </a:lvl1pPr>
            <a:lvl2pPr>
              <a:defRPr sz="2775" b="1">
                <a:solidFill>
                  <a:srgbClr val="A9DCD4"/>
                </a:solidFill>
              </a:defRPr>
            </a:lvl2pPr>
            <a:lvl3pPr>
              <a:defRPr sz="2775" b="1">
                <a:solidFill>
                  <a:srgbClr val="A9DCD4"/>
                </a:solidFill>
              </a:defRPr>
            </a:lvl3pPr>
            <a:lvl4pPr>
              <a:defRPr sz="2775" b="1">
                <a:solidFill>
                  <a:srgbClr val="A9DCD4"/>
                </a:solidFill>
              </a:defRPr>
            </a:lvl4pPr>
            <a:lvl5pPr>
              <a:defRPr sz="2775" b="1">
                <a:solidFill>
                  <a:srgbClr val="A9DCD4"/>
                </a:solidFill>
              </a:defRPr>
            </a:lvl5pPr>
            <a:lvl6pPr>
              <a:defRPr sz="2775" b="1">
                <a:solidFill>
                  <a:srgbClr val="A9DCD4"/>
                </a:solidFill>
              </a:defRPr>
            </a:lvl6pPr>
            <a:lvl7pPr>
              <a:defRPr sz="2775" b="1">
                <a:solidFill>
                  <a:srgbClr val="A9DCD4"/>
                </a:solidFill>
              </a:defRPr>
            </a:lvl7pPr>
            <a:lvl8pPr>
              <a:defRPr sz="2775" b="1">
                <a:solidFill>
                  <a:srgbClr val="A9DCD4"/>
                </a:solidFill>
              </a:defRPr>
            </a:lvl8pPr>
            <a:lvl9pPr>
              <a:defRPr sz="2775" b="1">
                <a:solidFill>
                  <a:srgbClr val="A9DCD4"/>
                </a:solidFill>
              </a:defRPr>
            </a:lvl9pPr>
          </a:lstStyle>
          <a:p xmlns:a="http://schemas.openxmlformats.org/drawingml/2006/main">
            <a:pPr>
              <a:defRPr sz="2775" b="1">
                <a:solidFill>
                  <a:srgbClr val="A9DCD4"/>
                </a:solidFill>
              </a:defRPr>
            </a:pPr>
            <a:r>
              <a:rPr sz="2775" b="1">
                <a:solidFill>
                  <a:srgbClr val="A9DCD4"/>
                </a:solidFill>
              </a:rPr>
              <a:t>303.45</a:t>
            </a:r>
          </a:p>
        </p:txBody>
      </p:sp>
      <p:sp>
        <p:nvSpPr>
          <p:cNvPr id="20" name="">
            <a:extLst xmlns:a="http://schemas.openxmlformats.org/drawingml/2006/main">
              <a:ext uri="{FF2B5EF4-FFF2-40B4-BE49-F238E27FC236}">
                <a16:creationId xmlns:a16="http://schemas.microsoft.com/office/drawing/2014/main" id="{03C839B9-6891-4693-89A7-F2A1B37345A9}"/>
              </a:ext>
            </a:extLst>
          </p:cNvPr>
          <p:cNvSpPr>
            <a:spLocks xmlns:a="http://schemas.openxmlformats.org/drawingml/2006/main" noGrp="1"/>
          </p:cNvSpPr>
          <p:nvPr/>
        </p:nvSpPr>
        <p:spPr>
          <a:xfrm xmlns:a="http://schemas.openxmlformats.org/drawingml/2006/main">
            <a:off x="9115425" y="4676775"/>
            <a:ext cx="24193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FFFFFF"/>
                </a:solidFill>
              </a:defRPr>
            </a:defPPr>
            <a:lvl1pPr>
              <a:defRPr sz="1875" b="0">
                <a:solidFill>
                  <a:srgbClr val="FFFFFF"/>
                </a:solidFill>
              </a:defRPr>
            </a:lvl1pPr>
            <a:lvl2pPr>
              <a:defRPr sz="1875" b="0">
                <a:solidFill>
                  <a:srgbClr val="FFFFFF"/>
                </a:solidFill>
              </a:defRPr>
            </a:lvl2pPr>
            <a:lvl3pPr>
              <a:defRPr sz="1875" b="0">
                <a:solidFill>
                  <a:srgbClr val="FFFFFF"/>
                </a:solidFill>
              </a:defRPr>
            </a:lvl3pPr>
            <a:lvl4pPr>
              <a:defRPr sz="1875" b="0">
                <a:solidFill>
                  <a:srgbClr val="FFFFFF"/>
                </a:solidFill>
              </a:defRPr>
            </a:lvl4pPr>
            <a:lvl5pPr>
              <a:defRPr sz="1875" b="0">
                <a:solidFill>
                  <a:srgbClr val="FFFFFF"/>
                </a:solidFill>
              </a:defRPr>
            </a:lvl5pPr>
            <a:lvl6pPr>
              <a:defRPr sz="1875" b="0">
                <a:solidFill>
                  <a:srgbClr val="FFFFFF"/>
                </a:solidFill>
              </a:defRPr>
            </a:lvl6pPr>
            <a:lvl7pPr>
              <a:defRPr sz="1875" b="0">
                <a:solidFill>
                  <a:srgbClr val="FFFFFF"/>
                </a:solidFill>
              </a:defRPr>
            </a:lvl7pPr>
            <a:lvl8pPr>
              <a:defRPr sz="1875" b="0">
                <a:solidFill>
                  <a:srgbClr val="FFFFFF"/>
                </a:solidFill>
              </a:defRPr>
            </a:lvl8pPr>
            <a:lvl9pPr>
              <a:defRPr sz="1875" b="0">
                <a:solidFill>
                  <a:srgbClr val="FFFFFF"/>
                </a:solidFill>
              </a:defRPr>
            </a:lvl9pPr>
          </a:lstStyle>
          <a:p xmlns:a="http://schemas.openxmlformats.org/drawingml/2006/main">
            <a:pPr>
              <a:defRPr sz="1875" b="0">
                <a:solidFill>
                  <a:srgbClr val="FFFFFF"/>
                </a:solidFill>
              </a:defRPr>
            </a:pPr>
            <a:r>
              <a:rPr sz="1875" b="0">
                <a:solidFill>
                  <a:srgbClr val="FFFFFF"/>
                </a:solidFill>
              </a:rPr>
              <a:t>126 min/day</a:t>
            </a:r>
          </a:p>
        </p:txBody>
      </p:sp>
      <p:sp>
        <p:nvSpPr>
          <p:cNvPr id="21" name="">
            <a:extLst xmlns:a="http://schemas.openxmlformats.org/drawingml/2006/main">
              <a:ext uri="{FF2B5EF4-FFF2-40B4-BE49-F238E27FC236}">
                <a16:creationId xmlns:a16="http://schemas.microsoft.com/office/drawing/2014/main" id="{BEDA8DCD-4213-45A8-9996-19BAB9CF43A9}"/>
              </a:ext>
            </a:extLst>
          </p:cNvPr>
          <p:cNvSpPr>
            <a:spLocks xmlns:a="http://schemas.openxmlformats.org/drawingml/2006/main" noGrp="1"/>
          </p:cNvSpPr>
          <p:nvPr/>
        </p:nvSpPr>
        <p:spPr>
          <a:xfrm xmlns:a="http://schemas.openxmlformats.org/drawingml/2006/main">
            <a:off x="762000" y="5686425"/>
            <a:ext cx="103822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A9DCD4"/>
                </a:solidFill>
              </a:defRPr>
            </a:defPPr>
            <a:lvl1pPr>
              <a:defRPr sz="1500" b="1">
                <a:solidFill>
                  <a:srgbClr val="A9DCD4"/>
                </a:solidFill>
              </a:defRPr>
            </a:lvl1pPr>
            <a:lvl2pPr>
              <a:defRPr sz="1500" b="1">
                <a:solidFill>
                  <a:srgbClr val="A9DCD4"/>
                </a:solidFill>
              </a:defRPr>
            </a:lvl2pPr>
            <a:lvl3pPr>
              <a:defRPr sz="1500" b="1">
                <a:solidFill>
                  <a:srgbClr val="A9DCD4"/>
                </a:solidFill>
              </a:defRPr>
            </a:lvl3pPr>
            <a:lvl4pPr>
              <a:defRPr sz="1500" b="1">
                <a:solidFill>
                  <a:srgbClr val="A9DCD4"/>
                </a:solidFill>
              </a:defRPr>
            </a:lvl4pPr>
            <a:lvl5pPr>
              <a:defRPr sz="1500" b="1">
                <a:solidFill>
                  <a:srgbClr val="A9DCD4"/>
                </a:solidFill>
              </a:defRPr>
            </a:lvl5pPr>
            <a:lvl6pPr>
              <a:defRPr sz="1500" b="1">
                <a:solidFill>
                  <a:srgbClr val="A9DCD4"/>
                </a:solidFill>
              </a:defRPr>
            </a:lvl6pPr>
            <a:lvl7pPr>
              <a:defRPr sz="1500" b="1">
                <a:solidFill>
                  <a:srgbClr val="A9DCD4"/>
                </a:solidFill>
              </a:defRPr>
            </a:lvl7pPr>
            <a:lvl8pPr>
              <a:defRPr sz="1500" b="1">
                <a:solidFill>
                  <a:srgbClr val="A9DCD4"/>
                </a:solidFill>
              </a:defRPr>
            </a:lvl8pPr>
            <a:lvl9pPr>
              <a:defRPr sz="1500" b="1">
                <a:solidFill>
                  <a:srgbClr val="A9DCD4"/>
                </a:solidFill>
              </a:defRPr>
            </a:lvl9pPr>
          </a:lstStyle>
          <a:p xmlns:a="http://schemas.openxmlformats.org/drawingml/2006/main">
            <a:pPr>
              <a:defRPr sz="1500" b="1">
                <a:solidFill>
                  <a:srgbClr val="A9DCD4"/>
                </a:solidFill>
              </a:defRPr>
            </a:pPr>
            <a:r>
              <a:rPr sz="1500" b="1">
                <a:solidFill>
                  <a:srgbClr val="A9DCD4"/>
                </a:solidFill>
              </a:rPr>
              <a:t>Joint beats reactive on the score by 20.38, with no overload reduction. Greedy relieves overload but increases the score.</a:t>
            </a:r>
          </a:p>
        </p:txBody>
      </p:sp>
    </p:spTree>
    <p:extLst>
      <p:ext uri="{BB962C8B-B14F-4D97-AF65-F5344CB8AC3E}">
        <p14:creationId xmlns:p14="http://schemas.microsoft.com/office/powerpoint/2010/main" val="587783202"/>
      </p:ext>
    </p:extLst>
  </p:cSld>
</p:sld>
</file>

<file path=ppt/slides/slide1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573B36F-8421-449F-A83F-7F2C1A210AA9}"/>
              </a:ext>
            </a:extLst>
          </p:cNvPr>
          <p:cNvSpPr>
            <a:spLocks xmlns:a="http://schemas.openxmlformats.org/drawingml/2006/main" noGrp="1"/>
          </p:cNvSpPr>
          <p:nvPr/>
        </p:nvSpPr>
        <p:spPr>
          <a:xfrm xmlns:a="http://schemas.openxmlformats.org/drawingml/2006/main">
            <a:off x="647700" y="30480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6D"/>
                </a:solidFill>
              </a:defRPr>
            </a:defPPr>
            <a:lvl1pPr>
              <a:defRPr sz="1050" b="1">
                <a:solidFill>
                  <a:srgbClr val="536A6D"/>
                </a:solidFill>
              </a:defRPr>
            </a:lvl1pPr>
            <a:lvl2pPr>
              <a:defRPr sz="1050" b="1">
                <a:solidFill>
                  <a:srgbClr val="536A6D"/>
                </a:solidFill>
              </a:defRPr>
            </a:lvl2pPr>
            <a:lvl3pPr>
              <a:defRPr sz="1050" b="1">
                <a:solidFill>
                  <a:srgbClr val="536A6D"/>
                </a:solidFill>
              </a:defRPr>
            </a:lvl3pPr>
            <a:lvl4pPr>
              <a:defRPr sz="1050" b="1">
                <a:solidFill>
                  <a:srgbClr val="536A6D"/>
                </a:solidFill>
              </a:defRPr>
            </a:lvl4pPr>
            <a:lvl5pPr>
              <a:defRPr sz="1050" b="1">
                <a:solidFill>
                  <a:srgbClr val="536A6D"/>
                </a:solidFill>
              </a:defRPr>
            </a:lvl5pPr>
            <a:lvl6pPr>
              <a:defRPr sz="1050" b="1">
                <a:solidFill>
                  <a:srgbClr val="536A6D"/>
                </a:solidFill>
              </a:defRPr>
            </a:lvl6pPr>
            <a:lvl7pPr>
              <a:defRPr sz="1050" b="1">
                <a:solidFill>
                  <a:srgbClr val="536A6D"/>
                </a:solidFill>
              </a:defRPr>
            </a:lvl7pPr>
            <a:lvl8pPr>
              <a:defRPr sz="1050" b="1">
                <a:solidFill>
                  <a:srgbClr val="536A6D"/>
                </a:solidFill>
              </a:defRPr>
            </a:lvl8pPr>
            <a:lvl9pPr>
              <a:defRPr sz="1050" b="1">
                <a:solidFill>
                  <a:srgbClr val="536A6D"/>
                </a:solidFill>
              </a:defRPr>
            </a:lvl9pPr>
          </a:lstStyle>
          <a:p xmlns:a="http://schemas.openxmlformats.org/drawingml/2006/main">
            <a:pPr>
              <a:defRPr sz="1050" b="1">
                <a:solidFill>
                  <a:srgbClr val="536A6D"/>
                </a:solidFill>
              </a:defRPr>
            </a:pPr>
            <a:r>
              <a:rPr sz="1050" b="1">
                <a:solidFill>
                  <a:srgbClr val="536A6D"/>
                </a:solidFill>
              </a:rPr>
              <a:t>FRIEND’S PR</a:t>
            </a:r>
          </a:p>
        </p:txBody>
      </p:sp>
      <p:sp>
        <p:nvSpPr>
          <p:cNvPr id="2" name="">
            <a:extLst xmlns:a="http://schemas.openxmlformats.org/drawingml/2006/main">
              <a:ext uri="{FF2B5EF4-FFF2-40B4-BE49-F238E27FC236}">
                <a16:creationId xmlns:a16="http://schemas.microsoft.com/office/drawing/2014/main" id="{01A4C9E3-51A9-4E7C-8805-424EB9F02263}"/>
              </a:ext>
            </a:extLst>
          </p:cNvPr>
          <p:cNvSpPr>
            <a:spLocks xmlns:a="http://schemas.openxmlformats.org/drawingml/2006/main" noGrp="1"/>
          </p:cNvSpPr>
          <p:nvPr/>
        </p:nvSpPr>
        <p:spPr>
          <a:xfrm xmlns:a="http://schemas.openxmlformats.org/drawingml/2006/main">
            <a:off x="647700" y="723900"/>
            <a:ext cx="10763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152F34"/>
                </a:solidFill>
              </a:defRPr>
            </a:defPPr>
            <a:lvl1pPr>
              <a:defRPr sz="2775" b="1">
                <a:solidFill>
                  <a:srgbClr val="152F34"/>
                </a:solidFill>
              </a:defRPr>
            </a:lvl1pPr>
            <a:lvl2pPr>
              <a:defRPr sz="2775" b="1">
                <a:solidFill>
                  <a:srgbClr val="152F34"/>
                </a:solidFill>
              </a:defRPr>
            </a:lvl2pPr>
            <a:lvl3pPr>
              <a:defRPr sz="2775" b="1">
                <a:solidFill>
                  <a:srgbClr val="152F34"/>
                </a:solidFill>
              </a:defRPr>
            </a:lvl3pPr>
            <a:lvl4pPr>
              <a:defRPr sz="2775" b="1">
                <a:solidFill>
                  <a:srgbClr val="152F34"/>
                </a:solidFill>
              </a:defRPr>
            </a:lvl4pPr>
            <a:lvl5pPr>
              <a:defRPr sz="2775" b="1">
                <a:solidFill>
                  <a:srgbClr val="152F34"/>
                </a:solidFill>
              </a:defRPr>
            </a:lvl5pPr>
            <a:lvl6pPr>
              <a:defRPr sz="2775" b="1">
                <a:solidFill>
                  <a:srgbClr val="152F34"/>
                </a:solidFill>
              </a:defRPr>
            </a:lvl6pPr>
            <a:lvl7pPr>
              <a:defRPr sz="2775" b="1">
                <a:solidFill>
                  <a:srgbClr val="152F34"/>
                </a:solidFill>
              </a:defRPr>
            </a:lvl7pPr>
            <a:lvl8pPr>
              <a:defRPr sz="2775" b="1">
                <a:solidFill>
                  <a:srgbClr val="152F34"/>
                </a:solidFill>
              </a:defRPr>
            </a:lvl8pPr>
            <a:lvl9pPr>
              <a:defRPr sz="2775" b="1">
                <a:solidFill>
                  <a:srgbClr val="152F34"/>
                </a:solidFill>
              </a:defRPr>
            </a:lvl9pPr>
          </a:lstStyle>
          <a:p xmlns:a="http://schemas.openxmlformats.org/drawingml/2006/main">
            <a:pPr>
              <a:defRPr sz="2775" b="1">
                <a:solidFill>
                  <a:srgbClr val="152F34"/>
                </a:solidFill>
              </a:defRPr>
            </a:pPr>
            <a:r>
              <a:rPr sz="2775" b="1">
                <a:solidFill>
                  <a:srgbClr val="152F34"/>
                </a:solidFill>
              </a:rPr>
              <a:t>Five-seed replication makes the greedy result more credible</a:t>
            </a:r>
          </a:p>
        </p:txBody>
      </p:sp>
      <p:sp>
        <p:nvSpPr>
          <p:cNvPr id="3" name="">
            <a:extLst xmlns:a="http://schemas.openxmlformats.org/drawingml/2006/main">
              <a:ext uri="{FF2B5EF4-FFF2-40B4-BE49-F238E27FC236}">
                <a16:creationId xmlns:a16="http://schemas.microsoft.com/office/drawing/2014/main" id="{AEB772F0-51A3-4339-A498-9CA45C8BFCE8}"/>
              </a:ext>
            </a:extLst>
          </p:cNvPr>
          <p:cNvSpPr>
            <a:spLocks xmlns:a="http://schemas.openxmlformats.org/drawingml/2006/main" noGrp="1"/>
          </p:cNvSpPr>
          <p:nvPr/>
        </p:nvSpPr>
        <p:spPr>
          <a:xfrm xmlns:a="http://schemas.openxmlformats.org/drawingml/2006/main">
            <a:off x="647700" y="1562100"/>
            <a:ext cx="10896600" cy="19050"/>
          </a:xfrm>
          <a:prstGeom xmlns:a="http://schemas.openxmlformats.org/drawingml/2006/main" prst="rect">
            <a:avLst/>
          </a:prstGeom>
          <a:solidFill xmlns:a="http://schemas.openxmlformats.org/drawingml/2006/main">
            <a:srgbClr val="C9D5D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33E2197-9AAC-41BC-ADB7-1C1440D54D1B}"/>
              </a:ext>
            </a:extLst>
          </p:cNvPr>
          <p:cNvSpPr>
            <a:spLocks xmlns:a="http://schemas.openxmlformats.org/drawingml/2006/main" noGrp="1"/>
          </p:cNvSpPr>
          <p:nvPr/>
        </p:nvSpPr>
        <p:spPr>
          <a:xfrm xmlns:a="http://schemas.openxmlformats.org/drawingml/2006/main">
            <a:off x="647700" y="6467475"/>
            <a:ext cx="6667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536A6D"/>
                </a:solidFill>
              </a:defRPr>
            </a:defPPr>
            <a:lvl1pPr>
              <a:defRPr sz="900" b="1">
                <a:solidFill>
                  <a:srgbClr val="536A6D"/>
                </a:solidFill>
              </a:defRPr>
            </a:lvl1pPr>
            <a:lvl2pPr>
              <a:defRPr sz="900" b="1">
                <a:solidFill>
                  <a:srgbClr val="536A6D"/>
                </a:solidFill>
              </a:defRPr>
            </a:lvl2pPr>
            <a:lvl3pPr>
              <a:defRPr sz="900" b="1">
                <a:solidFill>
                  <a:srgbClr val="536A6D"/>
                </a:solidFill>
              </a:defRPr>
            </a:lvl3pPr>
            <a:lvl4pPr>
              <a:defRPr sz="900" b="1">
                <a:solidFill>
                  <a:srgbClr val="536A6D"/>
                </a:solidFill>
              </a:defRPr>
            </a:lvl4pPr>
            <a:lvl5pPr>
              <a:defRPr sz="900" b="1">
                <a:solidFill>
                  <a:srgbClr val="536A6D"/>
                </a:solidFill>
              </a:defRPr>
            </a:lvl5pPr>
            <a:lvl6pPr>
              <a:defRPr sz="900" b="1">
                <a:solidFill>
                  <a:srgbClr val="536A6D"/>
                </a:solidFill>
              </a:defRPr>
            </a:lvl6pPr>
            <a:lvl7pPr>
              <a:defRPr sz="900" b="1">
                <a:solidFill>
                  <a:srgbClr val="536A6D"/>
                </a:solidFill>
              </a:defRPr>
            </a:lvl7pPr>
            <a:lvl8pPr>
              <a:defRPr sz="900" b="1">
                <a:solidFill>
                  <a:srgbClr val="536A6D"/>
                </a:solidFill>
              </a:defRPr>
            </a:lvl8pPr>
            <a:lvl9pPr>
              <a:defRPr sz="900" b="1">
                <a:solidFill>
                  <a:srgbClr val="536A6D"/>
                </a:solidFill>
              </a:defRPr>
            </a:lvl9pPr>
          </a:lstStyle>
          <a:p xmlns:a="http://schemas.openxmlformats.org/drawingml/2006/main">
            <a:pPr>
              <a:defRPr sz="900" b="1">
                <a:solidFill>
                  <a:srgbClr val="536A6D"/>
                </a:solidFill>
              </a:defRPr>
            </a:pPr>
            <a:r>
              <a:rPr sz="900" b="1">
                <a:solidFill>
                  <a:srgbClr val="536A6D"/>
                </a:solidFill>
              </a:rPr>
              <a:t>CARBONROUTE  /  REVIEW 1</a:t>
            </a:r>
          </a:p>
        </p:txBody>
      </p:sp>
      <p:sp>
        <p:nvSpPr>
          <p:cNvPr id="5" name="">
            <a:extLst xmlns:a="http://schemas.openxmlformats.org/drawingml/2006/main">
              <a:ext uri="{FF2B5EF4-FFF2-40B4-BE49-F238E27FC236}">
                <a16:creationId xmlns:a16="http://schemas.microsoft.com/office/drawing/2014/main" id="{1A4C796C-5F41-4D4E-8BD1-B0FF454C9D5F}"/>
              </a:ext>
            </a:extLst>
          </p:cNvPr>
          <p:cNvSpPr>
            <a:spLocks xmlns:a="http://schemas.openxmlformats.org/drawingml/2006/main" noGrp="1"/>
          </p:cNvSpPr>
          <p:nvPr/>
        </p:nvSpPr>
        <p:spPr>
          <a:xfrm xmlns:a="http://schemas.openxmlformats.org/drawingml/2006/main">
            <a:off x="11077575" y="6448425"/>
            <a:ext cx="4476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36A6D"/>
                </a:solidFill>
              </a:defRPr>
            </a:defPPr>
            <a:lvl1pPr>
              <a:defRPr sz="975" b="1">
                <a:solidFill>
                  <a:srgbClr val="536A6D"/>
                </a:solidFill>
              </a:defRPr>
            </a:lvl1pPr>
            <a:lvl2pPr>
              <a:defRPr sz="975" b="1">
                <a:solidFill>
                  <a:srgbClr val="536A6D"/>
                </a:solidFill>
              </a:defRPr>
            </a:lvl2pPr>
            <a:lvl3pPr>
              <a:defRPr sz="975" b="1">
                <a:solidFill>
                  <a:srgbClr val="536A6D"/>
                </a:solidFill>
              </a:defRPr>
            </a:lvl3pPr>
            <a:lvl4pPr>
              <a:defRPr sz="975" b="1">
                <a:solidFill>
                  <a:srgbClr val="536A6D"/>
                </a:solidFill>
              </a:defRPr>
            </a:lvl4pPr>
            <a:lvl5pPr>
              <a:defRPr sz="975" b="1">
                <a:solidFill>
                  <a:srgbClr val="536A6D"/>
                </a:solidFill>
              </a:defRPr>
            </a:lvl5pPr>
            <a:lvl6pPr>
              <a:defRPr sz="975" b="1">
                <a:solidFill>
                  <a:srgbClr val="536A6D"/>
                </a:solidFill>
              </a:defRPr>
            </a:lvl6pPr>
            <a:lvl7pPr>
              <a:defRPr sz="975" b="1">
                <a:solidFill>
                  <a:srgbClr val="536A6D"/>
                </a:solidFill>
              </a:defRPr>
            </a:lvl7pPr>
            <a:lvl8pPr>
              <a:defRPr sz="975" b="1">
                <a:solidFill>
                  <a:srgbClr val="536A6D"/>
                </a:solidFill>
              </a:defRPr>
            </a:lvl8pPr>
            <a:lvl9pPr>
              <a:defRPr sz="975" b="1">
                <a:solidFill>
                  <a:srgbClr val="536A6D"/>
                </a:solidFill>
              </a:defRPr>
            </a:lvl9pPr>
          </a:lstStyle>
          <a:p xmlns:a="http://schemas.openxmlformats.org/drawingml/2006/main">
            <a:pPr>
              <a:defRPr sz="975" b="1">
                <a:solidFill>
                  <a:srgbClr val="536A6D"/>
                </a:solidFill>
              </a:defRPr>
            </a:pPr>
            <a:r>
              <a:rPr sz="975" b="1">
                <a:solidFill>
                  <a:srgbClr val="536A6D"/>
                </a:solidFill>
              </a:rPr>
              <a:t>10</a:t>
            </a:r>
          </a:p>
        </p:txBody>
      </p:sp>
      <p:sp>
        <p:nvSpPr>
          <p:cNvPr id="6" name="">
            <a:extLst xmlns:a="http://schemas.openxmlformats.org/drawingml/2006/main">
              <a:ext uri="{FF2B5EF4-FFF2-40B4-BE49-F238E27FC236}">
                <a16:creationId xmlns:a16="http://schemas.microsoft.com/office/drawing/2014/main" id="{D4F3CF1E-827F-4ADE-BED9-2D6CA1E97266}"/>
              </a:ext>
            </a:extLst>
          </p:cNvPr>
          <p:cNvSpPr>
            <a:spLocks xmlns:a="http://schemas.openxmlformats.org/drawingml/2006/main" noGrp="1"/>
          </p:cNvSpPr>
          <p:nvPr/>
        </p:nvSpPr>
        <p:spPr>
          <a:xfrm xmlns:a="http://schemas.openxmlformats.org/drawingml/2006/main">
            <a:off x="742950" y="1885950"/>
            <a:ext cx="10096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536A6D"/>
                </a:solidFill>
              </a:defRPr>
            </a:defPPr>
            <a:lvl1pPr>
              <a:defRPr sz="1575" b="0">
                <a:solidFill>
                  <a:srgbClr val="536A6D"/>
                </a:solidFill>
              </a:defRPr>
            </a:lvl1pPr>
            <a:lvl2pPr>
              <a:defRPr sz="1575" b="0">
                <a:solidFill>
                  <a:srgbClr val="536A6D"/>
                </a:solidFill>
              </a:defRPr>
            </a:lvl2pPr>
            <a:lvl3pPr>
              <a:defRPr sz="1575" b="0">
                <a:solidFill>
                  <a:srgbClr val="536A6D"/>
                </a:solidFill>
              </a:defRPr>
            </a:lvl3pPr>
            <a:lvl4pPr>
              <a:defRPr sz="1575" b="0">
                <a:solidFill>
                  <a:srgbClr val="536A6D"/>
                </a:solidFill>
              </a:defRPr>
            </a:lvl4pPr>
            <a:lvl5pPr>
              <a:defRPr sz="1575" b="0">
                <a:solidFill>
                  <a:srgbClr val="536A6D"/>
                </a:solidFill>
              </a:defRPr>
            </a:lvl5pPr>
            <a:lvl6pPr>
              <a:defRPr sz="1575" b="0">
                <a:solidFill>
                  <a:srgbClr val="536A6D"/>
                </a:solidFill>
              </a:defRPr>
            </a:lvl6pPr>
            <a:lvl7pPr>
              <a:defRPr sz="1575" b="0">
                <a:solidFill>
                  <a:srgbClr val="536A6D"/>
                </a:solidFill>
              </a:defRPr>
            </a:lvl7pPr>
            <a:lvl8pPr>
              <a:defRPr sz="1575" b="0">
                <a:solidFill>
                  <a:srgbClr val="536A6D"/>
                </a:solidFill>
              </a:defRPr>
            </a:lvl8pPr>
            <a:lvl9pPr>
              <a:defRPr sz="1575" b="0">
                <a:solidFill>
                  <a:srgbClr val="536A6D"/>
                </a:solidFill>
              </a:defRPr>
            </a:lvl9pPr>
          </a:lstStyle>
          <a:p xmlns:a="http://schemas.openxmlformats.org/drawingml/2006/main">
            <a:pPr>
              <a:defRPr sz="1575" b="0">
                <a:solidFill>
                  <a:srgbClr val="536A6D"/>
                </a:solidFill>
              </a:defRPr>
            </a:pPr>
            <a:r>
              <a:rPr sz="1575" b="0">
                <a:solidFill>
                  <a:srgbClr val="536A6D"/>
                </a:solidFill>
              </a:rPr>
              <a:t>Congested demand + one-bin telemetry lag</a:t>
            </a:r>
          </a:p>
        </p:txBody>
      </p:sp>
      <p:sp>
        <p:nvSpPr>
          <p:cNvPr id="7" name="">
            <a:extLst xmlns:a="http://schemas.openxmlformats.org/drawingml/2006/main">
              <a:ext uri="{FF2B5EF4-FFF2-40B4-BE49-F238E27FC236}">
                <a16:creationId xmlns:a16="http://schemas.microsoft.com/office/drawing/2014/main" id="{3A50D93A-043F-4F2E-8BF6-F3231F527FC4}"/>
              </a:ext>
            </a:extLst>
          </p:cNvPr>
          <p:cNvSpPr>
            <a:spLocks xmlns:a="http://schemas.openxmlformats.org/drawingml/2006/main" noGrp="1"/>
          </p:cNvSpPr>
          <p:nvPr/>
        </p:nvSpPr>
        <p:spPr>
          <a:xfrm xmlns:a="http://schemas.openxmlformats.org/drawingml/2006/main">
            <a:off x="742950" y="2524125"/>
            <a:ext cx="31051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152F34"/>
                </a:solidFill>
              </a:defRPr>
            </a:defPPr>
            <a:lvl1pPr>
              <a:defRPr sz="3750" b="1">
                <a:solidFill>
                  <a:srgbClr val="152F34"/>
                </a:solidFill>
              </a:defRPr>
            </a:lvl1pPr>
            <a:lvl2pPr>
              <a:defRPr sz="3750" b="1">
                <a:solidFill>
                  <a:srgbClr val="152F34"/>
                </a:solidFill>
              </a:defRPr>
            </a:lvl2pPr>
            <a:lvl3pPr>
              <a:defRPr sz="3750" b="1">
                <a:solidFill>
                  <a:srgbClr val="152F34"/>
                </a:solidFill>
              </a:defRPr>
            </a:lvl3pPr>
            <a:lvl4pPr>
              <a:defRPr sz="3750" b="1">
                <a:solidFill>
                  <a:srgbClr val="152F34"/>
                </a:solidFill>
              </a:defRPr>
            </a:lvl4pPr>
            <a:lvl5pPr>
              <a:defRPr sz="3750" b="1">
                <a:solidFill>
                  <a:srgbClr val="152F34"/>
                </a:solidFill>
              </a:defRPr>
            </a:lvl5pPr>
            <a:lvl6pPr>
              <a:defRPr sz="3750" b="1">
                <a:solidFill>
                  <a:srgbClr val="152F34"/>
                </a:solidFill>
              </a:defRPr>
            </a:lvl6pPr>
            <a:lvl7pPr>
              <a:defRPr sz="3750" b="1">
                <a:solidFill>
                  <a:srgbClr val="152F34"/>
                </a:solidFill>
              </a:defRPr>
            </a:lvl7pPr>
            <a:lvl8pPr>
              <a:defRPr sz="3750" b="1">
                <a:solidFill>
                  <a:srgbClr val="152F34"/>
                </a:solidFill>
              </a:defRPr>
            </a:lvl8pPr>
            <a:lvl9pPr>
              <a:defRPr sz="3750" b="1">
                <a:solidFill>
                  <a:srgbClr val="152F34"/>
                </a:solidFill>
              </a:defRPr>
            </a:lvl9pPr>
          </a:lstStyle>
          <a:p xmlns:a="http://schemas.openxmlformats.org/drawingml/2006/main">
            <a:pPr>
              <a:defRPr sz="3750" b="1">
                <a:solidFill>
                  <a:srgbClr val="152F34"/>
                </a:solidFill>
              </a:defRPr>
            </a:pPr>
            <a:r>
              <a:rPr sz="3750" b="1">
                <a:solidFill>
                  <a:srgbClr val="152F34"/>
                </a:solidFill>
              </a:rPr>
              <a:t>126</a:t>
            </a:r>
          </a:p>
        </p:txBody>
      </p:sp>
      <p:sp>
        <p:nvSpPr>
          <p:cNvPr id="8" name="">
            <a:extLst xmlns:a="http://schemas.openxmlformats.org/drawingml/2006/main">
              <a:ext uri="{FF2B5EF4-FFF2-40B4-BE49-F238E27FC236}">
                <a16:creationId xmlns:a16="http://schemas.microsoft.com/office/drawing/2014/main" id="{0EF7D5AC-16D2-4B24-9432-1CB750E2A95A}"/>
              </a:ext>
            </a:extLst>
          </p:cNvPr>
          <p:cNvSpPr>
            <a:spLocks xmlns:a="http://schemas.openxmlformats.org/drawingml/2006/main" noGrp="1"/>
          </p:cNvSpPr>
          <p:nvPr/>
        </p:nvSpPr>
        <p:spPr>
          <a:xfrm xmlns:a="http://schemas.openxmlformats.org/drawingml/2006/main">
            <a:off x="742950" y="3190875"/>
            <a:ext cx="31051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36A6D"/>
                </a:solidFill>
              </a:defRPr>
            </a:defPPr>
            <a:lvl1pPr>
              <a:defRPr sz="1500" b="0">
                <a:solidFill>
                  <a:srgbClr val="536A6D"/>
                </a:solidFill>
              </a:defRPr>
            </a:lvl1pPr>
            <a:lvl2pPr>
              <a:defRPr sz="1500" b="0">
                <a:solidFill>
                  <a:srgbClr val="536A6D"/>
                </a:solidFill>
              </a:defRPr>
            </a:lvl2pPr>
            <a:lvl3pPr>
              <a:defRPr sz="1500" b="0">
                <a:solidFill>
                  <a:srgbClr val="536A6D"/>
                </a:solidFill>
              </a:defRPr>
            </a:lvl3pPr>
            <a:lvl4pPr>
              <a:defRPr sz="1500" b="0">
                <a:solidFill>
                  <a:srgbClr val="536A6D"/>
                </a:solidFill>
              </a:defRPr>
            </a:lvl4pPr>
            <a:lvl5pPr>
              <a:defRPr sz="1500" b="0">
                <a:solidFill>
                  <a:srgbClr val="536A6D"/>
                </a:solidFill>
              </a:defRPr>
            </a:lvl5pPr>
            <a:lvl6pPr>
              <a:defRPr sz="1500" b="0">
                <a:solidFill>
                  <a:srgbClr val="536A6D"/>
                </a:solidFill>
              </a:defRPr>
            </a:lvl6pPr>
            <a:lvl7pPr>
              <a:defRPr sz="1500" b="0">
                <a:solidFill>
                  <a:srgbClr val="536A6D"/>
                </a:solidFill>
              </a:defRPr>
            </a:lvl7pPr>
            <a:lvl8pPr>
              <a:defRPr sz="1500" b="0">
                <a:solidFill>
                  <a:srgbClr val="536A6D"/>
                </a:solidFill>
              </a:defRPr>
            </a:lvl8pPr>
            <a:lvl9pPr>
              <a:defRPr sz="1500" b="0">
                <a:solidFill>
                  <a:srgbClr val="536A6D"/>
                </a:solidFill>
              </a:defRPr>
            </a:lvl9pPr>
          </a:lstStyle>
          <a:p xmlns:a="http://schemas.openxmlformats.org/drawingml/2006/main">
            <a:pPr>
              <a:defRPr sz="1500" b="0">
                <a:solidFill>
                  <a:srgbClr val="536A6D"/>
                </a:solidFill>
              </a:defRPr>
            </a:pPr>
            <a:r>
              <a:rPr sz="1500" b="0">
                <a:solidFill>
                  <a:srgbClr val="536A6D"/>
                </a:solidFill>
              </a:rPr>
              <a:t>reactive overload minutes/day</a:t>
            </a:r>
          </a:p>
        </p:txBody>
      </p:sp>
      <p:sp>
        <p:nvSpPr>
          <p:cNvPr id="9" name="">
            <a:extLst xmlns:a="http://schemas.openxmlformats.org/drawingml/2006/main">
              <a:ext uri="{FF2B5EF4-FFF2-40B4-BE49-F238E27FC236}">
                <a16:creationId xmlns:a16="http://schemas.microsoft.com/office/drawing/2014/main" id="{DED75114-657F-407E-9C39-BF9B17DC0984}"/>
              </a:ext>
            </a:extLst>
          </p:cNvPr>
          <p:cNvSpPr>
            <a:spLocks xmlns:a="http://schemas.openxmlformats.org/drawingml/2006/main" noGrp="1"/>
          </p:cNvSpPr>
          <p:nvPr/>
        </p:nvSpPr>
        <p:spPr>
          <a:xfrm xmlns:a="http://schemas.openxmlformats.org/drawingml/2006/main">
            <a:off x="4171950" y="2524125"/>
            <a:ext cx="3190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007A7A"/>
                </a:solidFill>
              </a:defRPr>
            </a:defPPr>
            <a:lvl1pPr>
              <a:defRPr sz="3750" b="1">
                <a:solidFill>
                  <a:srgbClr val="007A7A"/>
                </a:solidFill>
              </a:defRPr>
            </a:lvl1pPr>
            <a:lvl2pPr>
              <a:defRPr sz="3750" b="1">
                <a:solidFill>
                  <a:srgbClr val="007A7A"/>
                </a:solidFill>
              </a:defRPr>
            </a:lvl2pPr>
            <a:lvl3pPr>
              <a:defRPr sz="3750" b="1">
                <a:solidFill>
                  <a:srgbClr val="007A7A"/>
                </a:solidFill>
              </a:defRPr>
            </a:lvl3pPr>
            <a:lvl4pPr>
              <a:defRPr sz="3750" b="1">
                <a:solidFill>
                  <a:srgbClr val="007A7A"/>
                </a:solidFill>
              </a:defRPr>
            </a:lvl4pPr>
            <a:lvl5pPr>
              <a:defRPr sz="3750" b="1">
                <a:solidFill>
                  <a:srgbClr val="007A7A"/>
                </a:solidFill>
              </a:defRPr>
            </a:lvl5pPr>
            <a:lvl6pPr>
              <a:defRPr sz="3750" b="1">
                <a:solidFill>
                  <a:srgbClr val="007A7A"/>
                </a:solidFill>
              </a:defRPr>
            </a:lvl6pPr>
            <a:lvl7pPr>
              <a:defRPr sz="3750" b="1">
                <a:solidFill>
                  <a:srgbClr val="007A7A"/>
                </a:solidFill>
              </a:defRPr>
            </a:lvl7pPr>
            <a:lvl8pPr>
              <a:defRPr sz="3750" b="1">
                <a:solidFill>
                  <a:srgbClr val="007A7A"/>
                </a:solidFill>
              </a:defRPr>
            </a:lvl8pPr>
            <a:lvl9pPr>
              <a:defRPr sz="3750" b="1">
                <a:solidFill>
                  <a:srgbClr val="007A7A"/>
                </a:solidFill>
              </a:defRPr>
            </a:lvl9pPr>
          </a:lstStyle>
          <a:p xmlns:a="http://schemas.openxmlformats.org/drawingml/2006/main">
            <a:pPr>
              <a:defRPr sz="3750" b="1">
                <a:solidFill>
                  <a:srgbClr val="007A7A"/>
                </a:solidFill>
              </a:defRPr>
            </a:pPr>
            <a:r>
              <a:rPr sz="3750" b="1">
                <a:solidFill>
                  <a:srgbClr val="007A7A"/>
                </a:solidFill>
              </a:rPr>
              <a:t>114</a:t>
            </a:r>
          </a:p>
        </p:txBody>
      </p:sp>
      <p:sp>
        <p:nvSpPr>
          <p:cNvPr id="10" name="">
            <a:extLst xmlns:a="http://schemas.openxmlformats.org/drawingml/2006/main">
              <a:ext uri="{FF2B5EF4-FFF2-40B4-BE49-F238E27FC236}">
                <a16:creationId xmlns:a16="http://schemas.microsoft.com/office/drawing/2014/main" id="{DC27EF7C-C3B9-437B-AB09-AD0DB612E5B9}"/>
              </a:ext>
            </a:extLst>
          </p:cNvPr>
          <p:cNvSpPr>
            <a:spLocks xmlns:a="http://schemas.openxmlformats.org/drawingml/2006/main" noGrp="1"/>
          </p:cNvSpPr>
          <p:nvPr/>
        </p:nvSpPr>
        <p:spPr>
          <a:xfrm xmlns:a="http://schemas.openxmlformats.org/drawingml/2006/main">
            <a:off x="4171950" y="3190875"/>
            <a:ext cx="31908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36A6D"/>
                </a:solidFill>
              </a:defRPr>
            </a:defPPr>
            <a:lvl1pPr>
              <a:defRPr sz="1500" b="0">
                <a:solidFill>
                  <a:srgbClr val="536A6D"/>
                </a:solidFill>
              </a:defRPr>
            </a:lvl1pPr>
            <a:lvl2pPr>
              <a:defRPr sz="1500" b="0">
                <a:solidFill>
                  <a:srgbClr val="536A6D"/>
                </a:solidFill>
              </a:defRPr>
            </a:lvl2pPr>
            <a:lvl3pPr>
              <a:defRPr sz="1500" b="0">
                <a:solidFill>
                  <a:srgbClr val="536A6D"/>
                </a:solidFill>
              </a:defRPr>
            </a:lvl3pPr>
            <a:lvl4pPr>
              <a:defRPr sz="1500" b="0">
                <a:solidFill>
                  <a:srgbClr val="536A6D"/>
                </a:solidFill>
              </a:defRPr>
            </a:lvl4pPr>
            <a:lvl5pPr>
              <a:defRPr sz="1500" b="0">
                <a:solidFill>
                  <a:srgbClr val="536A6D"/>
                </a:solidFill>
              </a:defRPr>
            </a:lvl5pPr>
            <a:lvl6pPr>
              <a:defRPr sz="1500" b="0">
                <a:solidFill>
                  <a:srgbClr val="536A6D"/>
                </a:solidFill>
              </a:defRPr>
            </a:lvl6pPr>
            <a:lvl7pPr>
              <a:defRPr sz="1500" b="0">
                <a:solidFill>
                  <a:srgbClr val="536A6D"/>
                </a:solidFill>
              </a:defRPr>
            </a:lvl7pPr>
            <a:lvl8pPr>
              <a:defRPr sz="1500" b="0">
                <a:solidFill>
                  <a:srgbClr val="536A6D"/>
                </a:solidFill>
              </a:defRPr>
            </a:lvl8pPr>
            <a:lvl9pPr>
              <a:defRPr sz="1500" b="0">
                <a:solidFill>
                  <a:srgbClr val="536A6D"/>
                </a:solidFill>
              </a:defRPr>
            </a:lvl9pPr>
          </a:lstStyle>
          <a:p xmlns:a="http://schemas.openxmlformats.org/drawingml/2006/main">
            <a:pPr>
              <a:defRPr sz="1500" b="0">
                <a:solidFill>
                  <a:srgbClr val="536A6D"/>
                </a:solidFill>
              </a:defRPr>
            </a:pPr>
            <a:r>
              <a:rPr sz="1500" b="0">
                <a:solidFill>
                  <a:srgbClr val="536A6D"/>
                </a:solidFill>
              </a:rPr>
              <a:t>greedy GNN overload minutes/day</a:t>
            </a:r>
          </a:p>
        </p:txBody>
      </p:sp>
      <p:sp>
        <p:nvSpPr>
          <p:cNvPr id="11" name="">
            <a:extLst xmlns:a="http://schemas.openxmlformats.org/drawingml/2006/main">
              <a:ext uri="{FF2B5EF4-FFF2-40B4-BE49-F238E27FC236}">
                <a16:creationId xmlns:a16="http://schemas.microsoft.com/office/drawing/2014/main" id="{BB88624B-4A6C-4918-8050-E3E99B1D057E}"/>
              </a:ext>
            </a:extLst>
          </p:cNvPr>
          <p:cNvSpPr>
            <a:spLocks xmlns:a="http://schemas.openxmlformats.org/drawingml/2006/main" noGrp="1"/>
          </p:cNvSpPr>
          <p:nvPr/>
        </p:nvSpPr>
        <p:spPr>
          <a:xfrm xmlns:a="http://schemas.openxmlformats.org/drawingml/2006/main">
            <a:off x="7762875" y="2524125"/>
            <a:ext cx="3190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750" b="1">
                <a:solidFill>
                  <a:srgbClr val="007A7A"/>
                </a:solidFill>
              </a:defRPr>
            </a:defPPr>
            <a:lvl1pPr>
              <a:defRPr sz="3750" b="1">
                <a:solidFill>
                  <a:srgbClr val="007A7A"/>
                </a:solidFill>
              </a:defRPr>
            </a:lvl1pPr>
            <a:lvl2pPr>
              <a:defRPr sz="3750" b="1">
                <a:solidFill>
                  <a:srgbClr val="007A7A"/>
                </a:solidFill>
              </a:defRPr>
            </a:lvl2pPr>
            <a:lvl3pPr>
              <a:defRPr sz="3750" b="1">
                <a:solidFill>
                  <a:srgbClr val="007A7A"/>
                </a:solidFill>
              </a:defRPr>
            </a:lvl3pPr>
            <a:lvl4pPr>
              <a:defRPr sz="3750" b="1">
                <a:solidFill>
                  <a:srgbClr val="007A7A"/>
                </a:solidFill>
              </a:defRPr>
            </a:lvl4pPr>
            <a:lvl5pPr>
              <a:defRPr sz="3750" b="1">
                <a:solidFill>
                  <a:srgbClr val="007A7A"/>
                </a:solidFill>
              </a:defRPr>
            </a:lvl5pPr>
            <a:lvl6pPr>
              <a:defRPr sz="3750" b="1">
                <a:solidFill>
                  <a:srgbClr val="007A7A"/>
                </a:solidFill>
              </a:defRPr>
            </a:lvl6pPr>
            <a:lvl7pPr>
              <a:defRPr sz="3750" b="1">
                <a:solidFill>
                  <a:srgbClr val="007A7A"/>
                </a:solidFill>
              </a:defRPr>
            </a:lvl7pPr>
            <a:lvl8pPr>
              <a:defRPr sz="3750" b="1">
                <a:solidFill>
                  <a:srgbClr val="007A7A"/>
                </a:solidFill>
              </a:defRPr>
            </a:lvl8pPr>
            <a:lvl9pPr>
              <a:defRPr sz="3750" b="1">
                <a:solidFill>
                  <a:srgbClr val="007A7A"/>
                </a:solidFill>
              </a:defRPr>
            </a:lvl9pPr>
          </a:lstStyle>
          <a:p xmlns:a="http://schemas.openxmlformats.org/drawingml/2006/main">
            <a:pPr>
              <a:defRPr sz="3750" b="1">
                <a:solidFill>
                  <a:srgbClr val="007A7A"/>
                </a:solidFill>
              </a:defRPr>
            </a:pPr>
            <a:r>
              <a:rPr sz="3750" b="1">
                <a:solidFill>
                  <a:srgbClr val="007A7A"/>
                </a:solidFill>
              </a:rPr>
              <a:t>114</a:t>
            </a:r>
          </a:p>
        </p:txBody>
      </p:sp>
      <p:sp>
        <p:nvSpPr>
          <p:cNvPr id="12" name="">
            <a:extLst xmlns:a="http://schemas.openxmlformats.org/drawingml/2006/main">
              <a:ext uri="{FF2B5EF4-FFF2-40B4-BE49-F238E27FC236}">
                <a16:creationId xmlns:a16="http://schemas.microsoft.com/office/drawing/2014/main" id="{AF57DA91-329E-4F23-80E2-E2EB751C7CF6}"/>
              </a:ext>
            </a:extLst>
          </p:cNvPr>
          <p:cNvSpPr>
            <a:spLocks xmlns:a="http://schemas.openxmlformats.org/drawingml/2006/main" noGrp="1"/>
          </p:cNvSpPr>
          <p:nvPr/>
        </p:nvSpPr>
        <p:spPr>
          <a:xfrm xmlns:a="http://schemas.openxmlformats.org/drawingml/2006/main">
            <a:off x="7762875" y="3190875"/>
            <a:ext cx="31908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36A6D"/>
                </a:solidFill>
              </a:defRPr>
            </a:defPPr>
            <a:lvl1pPr>
              <a:defRPr sz="1500" b="0">
                <a:solidFill>
                  <a:srgbClr val="536A6D"/>
                </a:solidFill>
              </a:defRPr>
            </a:lvl1pPr>
            <a:lvl2pPr>
              <a:defRPr sz="1500" b="0">
                <a:solidFill>
                  <a:srgbClr val="536A6D"/>
                </a:solidFill>
              </a:defRPr>
            </a:lvl2pPr>
            <a:lvl3pPr>
              <a:defRPr sz="1500" b="0">
                <a:solidFill>
                  <a:srgbClr val="536A6D"/>
                </a:solidFill>
              </a:defRPr>
            </a:lvl3pPr>
            <a:lvl4pPr>
              <a:defRPr sz="1500" b="0">
                <a:solidFill>
                  <a:srgbClr val="536A6D"/>
                </a:solidFill>
              </a:defRPr>
            </a:lvl4pPr>
            <a:lvl5pPr>
              <a:defRPr sz="1500" b="0">
                <a:solidFill>
                  <a:srgbClr val="536A6D"/>
                </a:solidFill>
              </a:defRPr>
            </a:lvl5pPr>
            <a:lvl6pPr>
              <a:defRPr sz="1500" b="0">
                <a:solidFill>
                  <a:srgbClr val="536A6D"/>
                </a:solidFill>
              </a:defRPr>
            </a:lvl6pPr>
            <a:lvl7pPr>
              <a:defRPr sz="1500" b="0">
                <a:solidFill>
                  <a:srgbClr val="536A6D"/>
                </a:solidFill>
              </a:defRPr>
            </a:lvl7pPr>
            <a:lvl8pPr>
              <a:defRPr sz="1500" b="0">
                <a:solidFill>
                  <a:srgbClr val="536A6D"/>
                </a:solidFill>
              </a:defRPr>
            </a:lvl8pPr>
            <a:lvl9pPr>
              <a:defRPr sz="1500" b="0">
                <a:solidFill>
                  <a:srgbClr val="536A6D"/>
                </a:solidFill>
              </a:defRPr>
            </a:lvl9pPr>
          </a:lstStyle>
          <a:p xmlns:a="http://schemas.openxmlformats.org/drawingml/2006/main">
            <a:pPr>
              <a:defRPr sz="1500" b="0">
                <a:solidFill>
                  <a:srgbClr val="536A6D"/>
                </a:solidFill>
              </a:defRPr>
            </a:pPr>
            <a:r>
              <a:rPr sz="1500" b="0">
                <a:solidFill>
                  <a:srgbClr val="536A6D"/>
                </a:solidFill>
              </a:rPr>
              <a:t>persistence + same safeguards</a:t>
            </a:r>
          </a:p>
        </p:txBody>
      </p:sp>
      <p:sp>
        <p:nvSpPr>
          <p:cNvPr id="13" name="">
            <a:extLst xmlns:a="http://schemas.openxmlformats.org/drawingml/2006/main">
              <a:ext uri="{FF2B5EF4-FFF2-40B4-BE49-F238E27FC236}">
                <a16:creationId xmlns:a16="http://schemas.microsoft.com/office/drawing/2014/main" id="{82E08BE7-7F89-4EB1-B57A-BCA65202BBBF}"/>
              </a:ext>
            </a:extLst>
          </p:cNvPr>
          <p:cNvSpPr>
            <a:spLocks xmlns:a="http://schemas.openxmlformats.org/drawingml/2006/main" noGrp="1"/>
          </p:cNvSpPr>
          <p:nvPr/>
        </p:nvSpPr>
        <p:spPr>
          <a:xfrm xmlns:a="http://schemas.openxmlformats.org/drawingml/2006/main">
            <a:off x="742950" y="4371975"/>
            <a:ext cx="10210800" cy="19050"/>
          </a:xfrm>
          <a:prstGeom xmlns:a="http://schemas.openxmlformats.org/drawingml/2006/main" prst="rect">
            <a:avLst/>
          </a:prstGeom>
          <a:solidFill xmlns:a="http://schemas.openxmlformats.org/drawingml/2006/main">
            <a:srgbClr val="C9D5D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20CC2BF-0D44-44C0-9554-BB96628DBF72}"/>
              </a:ext>
            </a:extLst>
          </p:cNvPr>
          <p:cNvSpPr>
            <a:spLocks xmlns:a="http://schemas.openxmlformats.org/drawingml/2006/main" noGrp="1"/>
          </p:cNvSpPr>
          <p:nvPr/>
        </p:nvSpPr>
        <p:spPr>
          <a:xfrm xmlns:a="http://schemas.openxmlformats.org/drawingml/2006/main">
            <a:off x="742950" y="4686300"/>
            <a:ext cx="90297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152F34"/>
                </a:solidFill>
              </a:defRPr>
            </a:defPPr>
            <a:lvl1pPr>
              <a:defRPr sz="2100" b="1">
                <a:solidFill>
                  <a:srgbClr val="152F34"/>
                </a:solidFill>
              </a:defRPr>
            </a:lvl1pPr>
            <a:lvl2pPr>
              <a:defRPr sz="2100" b="1">
                <a:solidFill>
                  <a:srgbClr val="152F34"/>
                </a:solidFill>
              </a:defRPr>
            </a:lvl2pPr>
            <a:lvl3pPr>
              <a:defRPr sz="2100" b="1">
                <a:solidFill>
                  <a:srgbClr val="152F34"/>
                </a:solidFill>
              </a:defRPr>
            </a:lvl3pPr>
            <a:lvl4pPr>
              <a:defRPr sz="2100" b="1">
                <a:solidFill>
                  <a:srgbClr val="152F34"/>
                </a:solidFill>
              </a:defRPr>
            </a:lvl4pPr>
            <a:lvl5pPr>
              <a:defRPr sz="2100" b="1">
                <a:solidFill>
                  <a:srgbClr val="152F34"/>
                </a:solidFill>
              </a:defRPr>
            </a:lvl5pPr>
            <a:lvl6pPr>
              <a:defRPr sz="2100" b="1">
                <a:solidFill>
                  <a:srgbClr val="152F34"/>
                </a:solidFill>
              </a:defRPr>
            </a:lvl6pPr>
            <a:lvl7pPr>
              <a:defRPr sz="2100" b="1">
                <a:solidFill>
                  <a:srgbClr val="152F34"/>
                </a:solidFill>
              </a:defRPr>
            </a:lvl7pPr>
            <a:lvl8pPr>
              <a:defRPr sz="2100" b="1">
                <a:solidFill>
                  <a:srgbClr val="152F34"/>
                </a:solidFill>
              </a:defRPr>
            </a:lvl8pPr>
            <a:lvl9pPr>
              <a:defRPr sz="2100" b="1">
                <a:solidFill>
                  <a:srgbClr val="152F34"/>
                </a:solidFill>
              </a:defRPr>
            </a:lvl9pPr>
          </a:lstStyle>
          <a:p xmlns:a="http://schemas.openxmlformats.org/drawingml/2006/main">
            <a:pPr>
              <a:defRPr sz="2100" b="1">
                <a:solidFill>
                  <a:srgbClr val="152F34"/>
                </a:solidFill>
              </a:defRPr>
            </a:pPr>
            <a:r>
              <a:rPr sz="2100" b="1">
                <a:solidFill>
                  <a:srgbClr val="152F34"/>
                </a:solidFill>
              </a:rPr>
              <a:t>Observed mean improvement: 12 minutes/day</a:t>
            </a:r>
          </a:p>
        </p:txBody>
      </p:sp>
      <p:sp>
        <p:nvSpPr>
          <p:cNvPr id="15" name="">
            <a:extLst xmlns:a="http://schemas.openxmlformats.org/drawingml/2006/main">
              <a:ext uri="{FF2B5EF4-FFF2-40B4-BE49-F238E27FC236}">
                <a16:creationId xmlns:a16="http://schemas.microsoft.com/office/drawing/2014/main" id="{ABAB69D7-49CA-4159-9655-AF0C0242B990}"/>
              </a:ext>
            </a:extLst>
          </p:cNvPr>
          <p:cNvSpPr>
            <a:spLocks xmlns:a="http://schemas.openxmlformats.org/drawingml/2006/main" noGrp="1"/>
          </p:cNvSpPr>
          <p:nvPr/>
        </p:nvSpPr>
        <p:spPr>
          <a:xfrm xmlns:a="http://schemas.openxmlformats.org/drawingml/2006/main">
            <a:off x="742950" y="5276850"/>
            <a:ext cx="10239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C95C43"/>
                </a:solidFill>
              </a:defRPr>
            </a:defPPr>
            <a:lvl1pPr>
              <a:defRPr sz="1575" b="1">
                <a:solidFill>
                  <a:srgbClr val="C95C43"/>
                </a:solidFill>
              </a:defRPr>
            </a:lvl1pPr>
            <a:lvl2pPr>
              <a:defRPr sz="1575" b="1">
                <a:solidFill>
                  <a:srgbClr val="C95C43"/>
                </a:solidFill>
              </a:defRPr>
            </a:lvl2pPr>
            <a:lvl3pPr>
              <a:defRPr sz="1575" b="1">
                <a:solidFill>
                  <a:srgbClr val="C95C43"/>
                </a:solidFill>
              </a:defRPr>
            </a:lvl3pPr>
            <a:lvl4pPr>
              <a:defRPr sz="1575" b="1">
                <a:solidFill>
                  <a:srgbClr val="C95C43"/>
                </a:solidFill>
              </a:defRPr>
            </a:lvl4pPr>
            <a:lvl5pPr>
              <a:defRPr sz="1575" b="1">
                <a:solidFill>
                  <a:srgbClr val="C95C43"/>
                </a:solidFill>
              </a:defRPr>
            </a:lvl5pPr>
            <a:lvl6pPr>
              <a:defRPr sz="1575" b="1">
                <a:solidFill>
                  <a:srgbClr val="C95C43"/>
                </a:solidFill>
              </a:defRPr>
            </a:lvl6pPr>
            <a:lvl7pPr>
              <a:defRPr sz="1575" b="1">
                <a:solidFill>
                  <a:srgbClr val="C95C43"/>
                </a:solidFill>
              </a:defRPr>
            </a:lvl7pPr>
            <a:lvl8pPr>
              <a:defRPr sz="1575" b="1">
                <a:solidFill>
                  <a:srgbClr val="C95C43"/>
                </a:solidFill>
              </a:defRPr>
            </a:lvl8pPr>
            <a:lvl9pPr>
              <a:defRPr sz="1575" b="1">
                <a:solidFill>
                  <a:srgbClr val="C95C43"/>
                </a:solidFill>
              </a:defRPr>
            </a:lvl9pPr>
          </a:lstStyle>
          <a:p xmlns:a="http://schemas.openxmlformats.org/drawingml/2006/main">
            <a:pPr>
              <a:defRPr sz="1575" b="1">
                <a:solidFill>
                  <a:srgbClr val="C95C43"/>
                </a:solidFill>
              </a:defRPr>
            </a:pPr>
            <a:r>
              <a:rPr sz="1575" b="1">
                <a:solidFill>
                  <a:srgbClr val="C95C43"/>
                </a:solidFill>
              </a:rPr>
              <a:t>Day-level paired test: p = 0.099 across five adjacent traffic days. The 2,475 runs do not create 2,475 independent days.</a:t>
            </a:r>
          </a:p>
        </p:txBody>
      </p:sp>
    </p:spTree>
    <p:extLst>
      <p:ext uri="{BB962C8B-B14F-4D97-AF65-F5344CB8AC3E}">
        <p14:creationId xmlns:p14="http://schemas.microsoft.com/office/powerpoint/2010/main" val="964378957"/>
      </p:ext>
    </p:extLst>
  </p:cSld>
</p:sld>
</file>

<file path=ppt/slides/slide1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9A5F6FE-9714-4671-A98C-253355A7C5A4}"/>
              </a:ext>
            </a:extLst>
          </p:cNvPr>
          <p:cNvSpPr>
            <a:spLocks xmlns:a="http://schemas.openxmlformats.org/drawingml/2006/main" noGrp="1"/>
          </p:cNvSpPr>
          <p:nvPr/>
        </p:nvSpPr>
        <p:spPr>
          <a:xfrm xmlns:a="http://schemas.openxmlformats.org/drawingml/2006/main">
            <a:off x="647700" y="30480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6D"/>
                </a:solidFill>
              </a:defRPr>
            </a:defPPr>
            <a:lvl1pPr>
              <a:defRPr sz="1050" b="1">
                <a:solidFill>
                  <a:srgbClr val="536A6D"/>
                </a:solidFill>
              </a:defRPr>
            </a:lvl1pPr>
            <a:lvl2pPr>
              <a:defRPr sz="1050" b="1">
                <a:solidFill>
                  <a:srgbClr val="536A6D"/>
                </a:solidFill>
              </a:defRPr>
            </a:lvl2pPr>
            <a:lvl3pPr>
              <a:defRPr sz="1050" b="1">
                <a:solidFill>
                  <a:srgbClr val="536A6D"/>
                </a:solidFill>
              </a:defRPr>
            </a:lvl3pPr>
            <a:lvl4pPr>
              <a:defRPr sz="1050" b="1">
                <a:solidFill>
                  <a:srgbClr val="536A6D"/>
                </a:solidFill>
              </a:defRPr>
            </a:lvl4pPr>
            <a:lvl5pPr>
              <a:defRPr sz="1050" b="1">
                <a:solidFill>
                  <a:srgbClr val="536A6D"/>
                </a:solidFill>
              </a:defRPr>
            </a:lvl5pPr>
            <a:lvl6pPr>
              <a:defRPr sz="1050" b="1">
                <a:solidFill>
                  <a:srgbClr val="536A6D"/>
                </a:solidFill>
              </a:defRPr>
            </a:lvl6pPr>
            <a:lvl7pPr>
              <a:defRPr sz="1050" b="1">
                <a:solidFill>
                  <a:srgbClr val="536A6D"/>
                </a:solidFill>
              </a:defRPr>
            </a:lvl7pPr>
            <a:lvl8pPr>
              <a:defRPr sz="1050" b="1">
                <a:solidFill>
                  <a:srgbClr val="536A6D"/>
                </a:solidFill>
              </a:defRPr>
            </a:lvl8pPr>
            <a:lvl9pPr>
              <a:defRPr sz="1050" b="1">
                <a:solidFill>
                  <a:srgbClr val="536A6D"/>
                </a:solidFill>
              </a:defRPr>
            </a:lvl9pPr>
          </a:lstStyle>
          <a:p xmlns:a="http://schemas.openxmlformats.org/drawingml/2006/main">
            <a:pPr>
              <a:defRPr sz="1050" b="1">
                <a:solidFill>
                  <a:srgbClr val="536A6D"/>
                </a:solidFill>
              </a:defRPr>
            </a:pPr>
            <a:r>
              <a:rPr sz="1050" b="1">
                <a:solidFill>
                  <a:srgbClr val="536A6D"/>
                </a:solidFill>
              </a:rPr>
              <a:t>MODEL CHECK</a:t>
            </a:r>
          </a:p>
        </p:txBody>
      </p:sp>
      <p:sp>
        <p:nvSpPr>
          <p:cNvPr id="2" name="">
            <a:extLst xmlns:a="http://schemas.openxmlformats.org/drawingml/2006/main">
              <a:ext uri="{FF2B5EF4-FFF2-40B4-BE49-F238E27FC236}">
                <a16:creationId xmlns:a16="http://schemas.microsoft.com/office/drawing/2014/main" id="{2FDAFAA7-37DF-4D2E-ADEB-6D4FFD0FCB4B}"/>
              </a:ext>
            </a:extLst>
          </p:cNvPr>
          <p:cNvSpPr>
            <a:spLocks xmlns:a="http://schemas.openxmlformats.org/drawingml/2006/main" noGrp="1"/>
          </p:cNvSpPr>
          <p:nvPr/>
        </p:nvSpPr>
        <p:spPr>
          <a:xfrm xmlns:a="http://schemas.openxmlformats.org/drawingml/2006/main">
            <a:off x="647700" y="723900"/>
            <a:ext cx="10763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152F34"/>
                </a:solidFill>
              </a:defRPr>
            </a:defPPr>
            <a:lvl1pPr>
              <a:defRPr sz="2775" b="1">
                <a:solidFill>
                  <a:srgbClr val="152F34"/>
                </a:solidFill>
              </a:defRPr>
            </a:lvl1pPr>
            <a:lvl2pPr>
              <a:defRPr sz="2775" b="1">
                <a:solidFill>
                  <a:srgbClr val="152F34"/>
                </a:solidFill>
              </a:defRPr>
            </a:lvl2pPr>
            <a:lvl3pPr>
              <a:defRPr sz="2775" b="1">
                <a:solidFill>
                  <a:srgbClr val="152F34"/>
                </a:solidFill>
              </a:defRPr>
            </a:lvl3pPr>
            <a:lvl4pPr>
              <a:defRPr sz="2775" b="1">
                <a:solidFill>
                  <a:srgbClr val="152F34"/>
                </a:solidFill>
              </a:defRPr>
            </a:lvl4pPr>
            <a:lvl5pPr>
              <a:defRPr sz="2775" b="1">
                <a:solidFill>
                  <a:srgbClr val="152F34"/>
                </a:solidFill>
              </a:defRPr>
            </a:lvl5pPr>
            <a:lvl6pPr>
              <a:defRPr sz="2775" b="1">
                <a:solidFill>
                  <a:srgbClr val="152F34"/>
                </a:solidFill>
              </a:defRPr>
            </a:lvl6pPr>
            <a:lvl7pPr>
              <a:defRPr sz="2775" b="1">
                <a:solidFill>
                  <a:srgbClr val="152F34"/>
                </a:solidFill>
              </a:defRPr>
            </a:lvl7pPr>
            <a:lvl8pPr>
              <a:defRPr sz="2775" b="1">
                <a:solidFill>
                  <a:srgbClr val="152F34"/>
                </a:solidFill>
              </a:defRPr>
            </a:lvl8pPr>
            <a:lvl9pPr>
              <a:defRPr sz="2775" b="1">
                <a:solidFill>
                  <a:srgbClr val="152F34"/>
                </a:solidFill>
              </a:defRPr>
            </a:lvl9pPr>
          </a:lstStyle>
          <a:p xmlns:a="http://schemas.openxmlformats.org/drawingml/2006/main">
            <a:pPr>
              <a:defRPr sz="2775" b="1">
                <a:solidFill>
                  <a:srgbClr val="152F34"/>
                </a:solidFill>
              </a:defRPr>
            </a:pPr>
            <a:r>
              <a:rPr sz="2775" b="1">
                <a:solidFill>
                  <a:srgbClr val="152F34"/>
                </a:solidFill>
              </a:rPr>
              <a:t>The graph model does not win the forecast contest</a:t>
            </a:r>
          </a:p>
        </p:txBody>
      </p:sp>
      <p:sp>
        <p:nvSpPr>
          <p:cNvPr id="3" name="">
            <a:extLst xmlns:a="http://schemas.openxmlformats.org/drawingml/2006/main">
              <a:ext uri="{FF2B5EF4-FFF2-40B4-BE49-F238E27FC236}">
                <a16:creationId xmlns:a16="http://schemas.microsoft.com/office/drawing/2014/main" id="{6BC4D19E-B187-4022-9419-6D7D1E44A060}"/>
              </a:ext>
            </a:extLst>
          </p:cNvPr>
          <p:cNvSpPr>
            <a:spLocks xmlns:a="http://schemas.openxmlformats.org/drawingml/2006/main" noGrp="1"/>
          </p:cNvSpPr>
          <p:nvPr/>
        </p:nvSpPr>
        <p:spPr>
          <a:xfrm xmlns:a="http://schemas.openxmlformats.org/drawingml/2006/main">
            <a:off x="647700" y="1562100"/>
            <a:ext cx="10896600" cy="19050"/>
          </a:xfrm>
          <a:prstGeom xmlns:a="http://schemas.openxmlformats.org/drawingml/2006/main" prst="rect">
            <a:avLst/>
          </a:prstGeom>
          <a:solidFill xmlns:a="http://schemas.openxmlformats.org/drawingml/2006/main">
            <a:srgbClr val="C9D5D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1FD24B8-DACC-4E8E-B65D-1D245051A934}"/>
              </a:ext>
            </a:extLst>
          </p:cNvPr>
          <p:cNvSpPr>
            <a:spLocks xmlns:a="http://schemas.openxmlformats.org/drawingml/2006/main" noGrp="1"/>
          </p:cNvSpPr>
          <p:nvPr/>
        </p:nvSpPr>
        <p:spPr>
          <a:xfrm xmlns:a="http://schemas.openxmlformats.org/drawingml/2006/main">
            <a:off x="647700" y="6467475"/>
            <a:ext cx="6667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536A6D"/>
                </a:solidFill>
              </a:defRPr>
            </a:defPPr>
            <a:lvl1pPr>
              <a:defRPr sz="900" b="1">
                <a:solidFill>
                  <a:srgbClr val="536A6D"/>
                </a:solidFill>
              </a:defRPr>
            </a:lvl1pPr>
            <a:lvl2pPr>
              <a:defRPr sz="900" b="1">
                <a:solidFill>
                  <a:srgbClr val="536A6D"/>
                </a:solidFill>
              </a:defRPr>
            </a:lvl2pPr>
            <a:lvl3pPr>
              <a:defRPr sz="900" b="1">
                <a:solidFill>
                  <a:srgbClr val="536A6D"/>
                </a:solidFill>
              </a:defRPr>
            </a:lvl3pPr>
            <a:lvl4pPr>
              <a:defRPr sz="900" b="1">
                <a:solidFill>
                  <a:srgbClr val="536A6D"/>
                </a:solidFill>
              </a:defRPr>
            </a:lvl4pPr>
            <a:lvl5pPr>
              <a:defRPr sz="900" b="1">
                <a:solidFill>
                  <a:srgbClr val="536A6D"/>
                </a:solidFill>
              </a:defRPr>
            </a:lvl5pPr>
            <a:lvl6pPr>
              <a:defRPr sz="900" b="1">
                <a:solidFill>
                  <a:srgbClr val="536A6D"/>
                </a:solidFill>
              </a:defRPr>
            </a:lvl6pPr>
            <a:lvl7pPr>
              <a:defRPr sz="900" b="1">
                <a:solidFill>
                  <a:srgbClr val="536A6D"/>
                </a:solidFill>
              </a:defRPr>
            </a:lvl7pPr>
            <a:lvl8pPr>
              <a:defRPr sz="900" b="1">
                <a:solidFill>
                  <a:srgbClr val="536A6D"/>
                </a:solidFill>
              </a:defRPr>
            </a:lvl8pPr>
            <a:lvl9pPr>
              <a:defRPr sz="900" b="1">
                <a:solidFill>
                  <a:srgbClr val="536A6D"/>
                </a:solidFill>
              </a:defRPr>
            </a:lvl9pPr>
          </a:lstStyle>
          <a:p xmlns:a="http://schemas.openxmlformats.org/drawingml/2006/main">
            <a:pPr>
              <a:defRPr sz="900" b="1">
                <a:solidFill>
                  <a:srgbClr val="536A6D"/>
                </a:solidFill>
              </a:defRPr>
            </a:pPr>
            <a:r>
              <a:rPr sz="900" b="1">
                <a:solidFill>
                  <a:srgbClr val="536A6D"/>
                </a:solidFill>
              </a:rPr>
              <a:t>CARBONROUTE  /  REVIEW 1</a:t>
            </a:r>
          </a:p>
        </p:txBody>
      </p:sp>
      <p:sp>
        <p:nvSpPr>
          <p:cNvPr id="5" name="">
            <a:extLst xmlns:a="http://schemas.openxmlformats.org/drawingml/2006/main">
              <a:ext uri="{FF2B5EF4-FFF2-40B4-BE49-F238E27FC236}">
                <a16:creationId xmlns:a16="http://schemas.microsoft.com/office/drawing/2014/main" id="{12B5567A-B21F-491D-9A79-D0EFC67E80F1}"/>
              </a:ext>
            </a:extLst>
          </p:cNvPr>
          <p:cNvSpPr>
            <a:spLocks xmlns:a="http://schemas.openxmlformats.org/drawingml/2006/main" noGrp="1"/>
          </p:cNvSpPr>
          <p:nvPr/>
        </p:nvSpPr>
        <p:spPr>
          <a:xfrm xmlns:a="http://schemas.openxmlformats.org/drawingml/2006/main">
            <a:off x="11077575" y="6448425"/>
            <a:ext cx="4476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36A6D"/>
                </a:solidFill>
              </a:defRPr>
            </a:defPPr>
            <a:lvl1pPr>
              <a:defRPr sz="975" b="1">
                <a:solidFill>
                  <a:srgbClr val="536A6D"/>
                </a:solidFill>
              </a:defRPr>
            </a:lvl1pPr>
            <a:lvl2pPr>
              <a:defRPr sz="975" b="1">
                <a:solidFill>
                  <a:srgbClr val="536A6D"/>
                </a:solidFill>
              </a:defRPr>
            </a:lvl2pPr>
            <a:lvl3pPr>
              <a:defRPr sz="975" b="1">
                <a:solidFill>
                  <a:srgbClr val="536A6D"/>
                </a:solidFill>
              </a:defRPr>
            </a:lvl3pPr>
            <a:lvl4pPr>
              <a:defRPr sz="975" b="1">
                <a:solidFill>
                  <a:srgbClr val="536A6D"/>
                </a:solidFill>
              </a:defRPr>
            </a:lvl4pPr>
            <a:lvl5pPr>
              <a:defRPr sz="975" b="1">
                <a:solidFill>
                  <a:srgbClr val="536A6D"/>
                </a:solidFill>
              </a:defRPr>
            </a:lvl5pPr>
            <a:lvl6pPr>
              <a:defRPr sz="975" b="1">
                <a:solidFill>
                  <a:srgbClr val="536A6D"/>
                </a:solidFill>
              </a:defRPr>
            </a:lvl6pPr>
            <a:lvl7pPr>
              <a:defRPr sz="975" b="1">
                <a:solidFill>
                  <a:srgbClr val="536A6D"/>
                </a:solidFill>
              </a:defRPr>
            </a:lvl7pPr>
            <a:lvl8pPr>
              <a:defRPr sz="975" b="1">
                <a:solidFill>
                  <a:srgbClr val="536A6D"/>
                </a:solidFill>
              </a:defRPr>
            </a:lvl8pPr>
            <a:lvl9pPr>
              <a:defRPr sz="975" b="1">
                <a:solidFill>
                  <a:srgbClr val="536A6D"/>
                </a:solidFill>
              </a:defRPr>
            </a:lvl9pPr>
          </a:lstStyle>
          <a:p xmlns:a="http://schemas.openxmlformats.org/drawingml/2006/main">
            <a:pPr>
              <a:defRPr sz="975" b="1">
                <a:solidFill>
                  <a:srgbClr val="536A6D"/>
                </a:solidFill>
              </a:defRPr>
            </a:pPr>
            <a:r>
              <a:rPr sz="975" b="1">
                <a:solidFill>
                  <a:srgbClr val="536A6D"/>
                </a:solidFill>
              </a:rPr>
              <a:t>11</a:t>
            </a:r>
          </a:p>
        </p:txBody>
      </p:sp>
      <p:sp>
        <p:nvSpPr>
          <p:cNvPr id="6" name="">
            <a:extLst xmlns:a="http://schemas.openxmlformats.org/drawingml/2006/main">
              <a:ext uri="{FF2B5EF4-FFF2-40B4-BE49-F238E27FC236}">
                <a16:creationId xmlns:a16="http://schemas.microsoft.com/office/drawing/2014/main" id="{ED8D0B96-D45B-4654-BE8A-1D0747A6A97D}"/>
              </a:ext>
            </a:extLst>
          </p:cNvPr>
          <p:cNvSpPr>
            <a:spLocks xmlns:a="http://schemas.openxmlformats.org/drawingml/2006/main" noGrp="1"/>
          </p:cNvSpPr>
          <p:nvPr/>
        </p:nvSpPr>
        <p:spPr>
          <a:xfrm xmlns:a="http://schemas.openxmlformats.org/drawingml/2006/main">
            <a:off x="742950" y="1933575"/>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536A6D"/>
                </a:solidFill>
              </a:defRPr>
            </a:defPPr>
            <a:lvl1pPr>
              <a:defRPr sz="1575" b="0">
                <a:solidFill>
                  <a:srgbClr val="536A6D"/>
                </a:solidFill>
              </a:defRPr>
            </a:lvl1pPr>
            <a:lvl2pPr>
              <a:defRPr sz="1575" b="0">
                <a:solidFill>
                  <a:srgbClr val="536A6D"/>
                </a:solidFill>
              </a:defRPr>
            </a:lvl2pPr>
            <a:lvl3pPr>
              <a:defRPr sz="1575" b="0">
                <a:solidFill>
                  <a:srgbClr val="536A6D"/>
                </a:solidFill>
              </a:defRPr>
            </a:lvl3pPr>
            <a:lvl4pPr>
              <a:defRPr sz="1575" b="0">
                <a:solidFill>
                  <a:srgbClr val="536A6D"/>
                </a:solidFill>
              </a:defRPr>
            </a:lvl4pPr>
            <a:lvl5pPr>
              <a:defRPr sz="1575" b="0">
                <a:solidFill>
                  <a:srgbClr val="536A6D"/>
                </a:solidFill>
              </a:defRPr>
            </a:lvl5pPr>
            <a:lvl6pPr>
              <a:defRPr sz="1575" b="0">
                <a:solidFill>
                  <a:srgbClr val="536A6D"/>
                </a:solidFill>
              </a:defRPr>
            </a:lvl6pPr>
            <a:lvl7pPr>
              <a:defRPr sz="1575" b="0">
                <a:solidFill>
                  <a:srgbClr val="536A6D"/>
                </a:solidFill>
              </a:defRPr>
            </a:lvl7pPr>
            <a:lvl8pPr>
              <a:defRPr sz="1575" b="0">
                <a:solidFill>
                  <a:srgbClr val="536A6D"/>
                </a:solidFill>
              </a:defRPr>
            </a:lvl8pPr>
            <a:lvl9pPr>
              <a:defRPr sz="1575" b="0">
                <a:solidFill>
                  <a:srgbClr val="536A6D"/>
                </a:solidFill>
              </a:defRPr>
            </a:lvl9pPr>
          </a:lstStyle>
          <a:p xmlns:a="http://schemas.openxmlformats.org/drawingml/2006/main">
            <a:pPr>
              <a:defRPr sz="1575" b="0">
                <a:solidFill>
                  <a:srgbClr val="536A6D"/>
                </a:solidFill>
              </a:defRPr>
            </a:pPr>
            <a:r>
              <a:rPr sz="1575" b="0">
                <a:solidFill>
                  <a:srgbClr val="536A6D"/>
                </a:solidFill>
              </a:rPr>
              <a:t>Mean absolute demand error across the three horizons, Mbps  ↓</a:t>
            </a:r>
          </a:p>
        </p:txBody>
      </p:sp>
      <p:sp>
        <p:nvSpPr>
          <p:cNvPr id="7" name="">
            <a:extLst xmlns:a="http://schemas.openxmlformats.org/drawingml/2006/main">
              <a:ext uri="{FF2B5EF4-FFF2-40B4-BE49-F238E27FC236}">
                <a16:creationId xmlns:a16="http://schemas.microsoft.com/office/drawing/2014/main" id="{023F6BF4-1A1D-4971-ACE3-4031A82263B2}"/>
              </a:ext>
            </a:extLst>
          </p:cNvPr>
          <p:cNvSpPr>
            <a:spLocks xmlns:a="http://schemas.openxmlformats.org/drawingml/2006/main" noGrp="1"/>
          </p:cNvSpPr>
          <p:nvPr/>
        </p:nvSpPr>
        <p:spPr>
          <a:xfrm xmlns:a="http://schemas.openxmlformats.org/drawingml/2006/main">
            <a:off x="752475" y="2952750"/>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2F34"/>
                </a:solidFill>
              </a:defRPr>
            </a:defPPr>
            <a:lvl1pPr>
              <a:defRPr sz="1800" b="0">
                <a:solidFill>
                  <a:srgbClr val="152F34"/>
                </a:solidFill>
              </a:defRPr>
            </a:lvl1pPr>
            <a:lvl2pPr>
              <a:defRPr sz="1800" b="0">
                <a:solidFill>
                  <a:srgbClr val="152F34"/>
                </a:solidFill>
              </a:defRPr>
            </a:lvl2pPr>
            <a:lvl3pPr>
              <a:defRPr sz="1800" b="0">
                <a:solidFill>
                  <a:srgbClr val="152F34"/>
                </a:solidFill>
              </a:defRPr>
            </a:lvl3pPr>
            <a:lvl4pPr>
              <a:defRPr sz="1800" b="0">
                <a:solidFill>
                  <a:srgbClr val="152F34"/>
                </a:solidFill>
              </a:defRPr>
            </a:lvl4pPr>
            <a:lvl5pPr>
              <a:defRPr sz="1800" b="0">
                <a:solidFill>
                  <a:srgbClr val="152F34"/>
                </a:solidFill>
              </a:defRPr>
            </a:lvl5pPr>
            <a:lvl6pPr>
              <a:defRPr sz="1800" b="0">
                <a:solidFill>
                  <a:srgbClr val="152F34"/>
                </a:solidFill>
              </a:defRPr>
            </a:lvl6pPr>
            <a:lvl7pPr>
              <a:defRPr sz="1800" b="0">
                <a:solidFill>
                  <a:srgbClr val="152F34"/>
                </a:solidFill>
              </a:defRPr>
            </a:lvl7pPr>
            <a:lvl8pPr>
              <a:defRPr sz="1800" b="0">
                <a:solidFill>
                  <a:srgbClr val="152F34"/>
                </a:solidFill>
              </a:defRPr>
            </a:lvl8pPr>
            <a:lvl9pPr>
              <a:defRPr sz="1800" b="0">
                <a:solidFill>
                  <a:srgbClr val="152F34"/>
                </a:solidFill>
              </a:defRPr>
            </a:lvl9pPr>
          </a:lstStyle>
          <a:p xmlns:a="http://schemas.openxmlformats.org/drawingml/2006/main">
            <a:pPr>
              <a:defRPr sz="1800" b="0">
                <a:solidFill>
                  <a:srgbClr val="152F34"/>
                </a:solidFill>
              </a:defRPr>
            </a:pPr>
            <a:r>
              <a:rPr sz="1800" b="0">
                <a:solidFill>
                  <a:srgbClr val="152F34"/>
                </a:solidFill>
              </a:rPr>
              <a:t>Matched GRU</a:t>
            </a:r>
          </a:p>
        </p:txBody>
      </p:sp>
      <p:sp>
        <p:nvSpPr>
          <p:cNvPr id="8" name="">
            <a:extLst xmlns:a="http://schemas.openxmlformats.org/drawingml/2006/main">
              <a:ext uri="{FF2B5EF4-FFF2-40B4-BE49-F238E27FC236}">
                <a16:creationId xmlns:a16="http://schemas.microsoft.com/office/drawing/2014/main" id="{64E823BE-09FD-45A3-85ED-87D7B3AFAF1D}"/>
              </a:ext>
            </a:extLst>
          </p:cNvPr>
          <p:cNvSpPr>
            <a:spLocks xmlns:a="http://schemas.openxmlformats.org/drawingml/2006/main" noGrp="1"/>
          </p:cNvSpPr>
          <p:nvPr/>
        </p:nvSpPr>
        <p:spPr>
          <a:xfrm xmlns:a="http://schemas.openxmlformats.org/drawingml/2006/main">
            <a:off x="752475" y="3476625"/>
            <a:ext cx="3286125"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007A7A"/>
                </a:solidFill>
              </a:defRPr>
            </a:defPPr>
            <a:lvl1pPr>
              <a:defRPr sz="3600" b="1">
                <a:solidFill>
                  <a:srgbClr val="007A7A"/>
                </a:solidFill>
              </a:defRPr>
            </a:lvl1pPr>
            <a:lvl2pPr>
              <a:defRPr sz="3600" b="1">
                <a:solidFill>
                  <a:srgbClr val="007A7A"/>
                </a:solidFill>
              </a:defRPr>
            </a:lvl2pPr>
            <a:lvl3pPr>
              <a:defRPr sz="3600" b="1">
                <a:solidFill>
                  <a:srgbClr val="007A7A"/>
                </a:solidFill>
              </a:defRPr>
            </a:lvl3pPr>
            <a:lvl4pPr>
              <a:defRPr sz="3600" b="1">
                <a:solidFill>
                  <a:srgbClr val="007A7A"/>
                </a:solidFill>
              </a:defRPr>
            </a:lvl4pPr>
            <a:lvl5pPr>
              <a:defRPr sz="3600" b="1">
                <a:solidFill>
                  <a:srgbClr val="007A7A"/>
                </a:solidFill>
              </a:defRPr>
            </a:lvl5pPr>
            <a:lvl6pPr>
              <a:defRPr sz="3600" b="1">
                <a:solidFill>
                  <a:srgbClr val="007A7A"/>
                </a:solidFill>
              </a:defRPr>
            </a:lvl6pPr>
            <a:lvl7pPr>
              <a:defRPr sz="3600" b="1">
                <a:solidFill>
                  <a:srgbClr val="007A7A"/>
                </a:solidFill>
              </a:defRPr>
            </a:lvl7pPr>
            <a:lvl8pPr>
              <a:defRPr sz="3600" b="1">
                <a:solidFill>
                  <a:srgbClr val="007A7A"/>
                </a:solidFill>
              </a:defRPr>
            </a:lvl8pPr>
            <a:lvl9pPr>
              <a:defRPr sz="3600" b="1">
                <a:solidFill>
                  <a:srgbClr val="007A7A"/>
                </a:solidFill>
              </a:defRPr>
            </a:lvl9pPr>
          </a:lstStyle>
          <a:p xmlns:a="http://schemas.openxmlformats.org/drawingml/2006/main">
            <a:pPr>
              <a:defRPr sz="3600" b="1">
                <a:solidFill>
                  <a:srgbClr val="007A7A"/>
                </a:solidFill>
              </a:defRPr>
            </a:pPr>
            <a:r>
              <a:rPr sz="3600" b="1">
                <a:solidFill>
                  <a:srgbClr val="007A7A"/>
                </a:solidFill>
              </a:rPr>
              <a:t>0.4816</a:t>
            </a:r>
          </a:p>
        </p:txBody>
      </p:sp>
      <p:sp>
        <p:nvSpPr>
          <p:cNvPr id="9" name="">
            <a:extLst xmlns:a="http://schemas.openxmlformats.org/drawingml/2006/main">
              <a:ext uri="{FF2B5EF4-FFF2-40B4-BE49-F238E27FC236}">
                <a16:creationId xmlns:a16="http://schemas.microsoft.com/office/drawing/2014/main" id="{45BBB6AE-BD54-4BDF-9FF1-957498EC3336}"/>
              </a:ext>
            </a:extLst>
          </p:cNvPr>
          <p:cNvSpPr>
            <a:spLocks xmlns:a="http://schemas.openxmlformats.org/drawingml/2006/main" noGrp="1"/>
          </p:cNvSpPr>
          <p:nvPr/>
        </p:nvSpPr>
        <p:spPr>
          <a:xfrm xmlns:a="http://schemas.openxmlformats.org/drawingml/2006/main">
            <a:off x="4048125" y="2952750"/>
            <a:ext cx="9525" cy="1476375"/>
          </a:xfrm>
          <a:prstGeom xmlns:a="http://schemas.openxmlformats.org/drawingml/2006/main" prst="rect">
            <a:avLst/>
          </a:prstGeom>
          <a:solidFill xmlns:a="http://schemas.openxmlformats.org/drawingml/2006/main">
            <a:srgbClr val="C9D5D1"/>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8EF24B1-0F4C-461A-848B-C99C2BB37B0A}"/>
              </a:ext>
            </a:extLst>
          </p:cNvPr>
          <p:cNvSpPr>
            <a:spLocks xmlns:a="http://schemas.openxmlformats.org/drawingml/2006/main" noGrp="1"/>
          </p:cNvSpPr>
          <p:nvPr/>
        </p:nvSpPr>
        <p:spPr>
          <a:xfrm xmlns:a="http://schemas.openxmlformats.org/drawingml/2006/main">
            <a:off x="4314825" y="2952750"/>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152F34"/>
                </a:solidFill>
              </a:defRPr>
            </a:defPPr>
            <a:lvl1pPr>
              <a:defRPr sz="1800" b="0">
                <a:solidFill>
                  <a:srgbClr val="152F34"/>
                </a:solidFill>
              </a:defRPr>
            </a:lvl1pPr>
            <a:lvl2pPr>
              <a:defRPr sz="1800" b="0">
                <a:solidFill>
                  <a:srgbClr val="152F34"/>
                </a:solidFill>
              </a:defRPr>
            </a:lvl2pPr>
            <a:lvl3pPr>
              <a:defRPr sz="1800" b="0">
                <a:solidFill>
                  <a:srgbClr val="152F34"/>
                </a:solidFill>
              </a:defRPr>
            </a:lvl3pPr>
            <a:lvl4pPr>
              <a:defRPr sz="1800" b="0">
                <a:solidFill>
                  <a:srgbClr val="152F34"/>
                </a:solidFill>
              </a:defRPr>
            </a:lvl4pPr>
            <a:lvl5pPr>
              <a:defRPr sz="1800" b="0">
                <a:solidFill>
                  <a:srgbClr val="152F34"/>
                </a:solidFill>
              </a:defRPr>
            </a:lvl5pPr>
            <a:lvl6pPr>
              <a:defRPr sz="1800" b="0">
                <a:solidFill>
                  <a:srgbClr val="152F34"/>
                </a:solidFill>
              </a:defRPr>
            </a:lvl6pPr>
            <a:lvl7pPr>
              <a:defRPr sz="1800" b="0">
                <a:solidFill>
                  <a:srgbClr val="152F34"/>
                </a:solidFill>
              </a:defRPr>
            </a:lvl7pPr>
            <a:lvl8pPr>
              <a:defRPr sz="1800" b="0">
                <a:solidFill>
                  <a:srgbClr val="152F34"/>
                </a:solidFill>
              </a:defRPr>
            </a:lvl8pPr>
            <a:lvl9pPr>
              <a:defRPr sz="1800" b="0">
                <a:solidFill>
                  <a:srgbClr val="152F34"/>
                </a:solidFill>
              </a:defRPr>
            </a:lvl9pPr>
          </a:lstStyle>
          <a:p xmlns:a="http://schemas.openxmlformats.org/drawingml/2006/main">
            <a:pPr>
              <a:defRPr sz="1800" b="0">
                <a:solidFill>
                  <a:srgbClr val="152F34"/>
                </a:solidFill>
              </a:defRPr>
            </a:pPr>
            <a:r>
              <a:rPr sz="1800" b="0">
                <a:solidFill>
                  <a:srgbClr val="152F34"/>
                </a:solidFill>
              </a:rPr>
              <a:t>Persistence</a:t>
            </a:r>
          </a:p>
        </p:txBody>
      </p:sp>
      <p:sp>
        <p:nvSpPr>
          <p:cNvPr id="11" name="">
            <a:extLst xmlns:a="http://schemas.openxmlformats.org/drawingml/2006/main">
              <a:ext uri="{FF2B5EF4-FFF2-40B4-BE49-F238E27FC236}">
                <a16:creationId xmlns:a16="http://schemas.microsoft.com/office/drawing/2014/main" id="{FED85874-1E3C-445E-A3D5-4ED31DEF8FE0}"/>
              </a:ext>
            </a:extLst>
          </p:cNvPr>
          <p:cNvSpPr>
            <a:spLocks xmlns:a="http://schemas.openxmlformats.org/drawingml/2006/main" noGrp="1"/>
          </p:cNvSpPr>
          <p:nvPr/>
        </p:nvSpPr>
        <p:spPr>
          <a:xfrm xmlns:a="http://schemas.openxmlformats.org/drawingml/2006/main">
            <a:off x="4314825" y="3476625"/>
            <a:ext cx="3286125"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007A7A"/>
                </a:solidFill>
              </a:defRPr>
            </a:defPPr>
            <a:lvl1pPr>
              <a:defRPr sz="3600" b="1">
                <a:solidFill>
                  <a:srgbClr val="007A7A"/>
                </a:solidFill>
              </a:defRPr>
            </a:lvl1pPr>
            <a:lvl2pPr>
              <a:defRPr sz="3600" b="1">
                <a:solidFill>
                  <a:srgbClr val="007A7A"/>
                </a:solidFill>
              </a:defRPr>
            </a:lvl2pPr>
            <a:lvl3pPr>
              <a:defRPr sz="3600" b="1">
                <a:solidFill>
                  <a:srgbClr val="007A7A"/>
                </a:solidFill>
              </a:defRPr>
            </a:lvl3pPr>
            <a:lvl4pPr>
              <a:defRPr sz="3600" b="1">
                <a:solidFill>
                  <a:srgbClr val="007A7A"/>
                </a:solidFill>
              </a:defRPr>
            </a:lvl4pPr>
            <a:lvl5pPr>
              <a:defRPr sz="3600" b="1">
                <a:solidFill>
                  <a:srgbClr val="007A7A"/>
                </a:solidFill>
              </a:defRPr>
            </a:lvl5pPr>
            <a:lvl6pPr>
              <a:defRPr sz="3600" b="1">
                <a:solidFill>
                  <a:srgbClr val="007A7A"/>
                </a:solidFill>
              </a:defRPr>
            </a:lvl6pPr>
            <a:lvl7pPr>
              <a:defRPr sz="3600" b="1">
                <a:solidFill>
                  <a:srgbClr val="007A7A"/>
                </a:solidFill>
              </a:defRPr>
            </a:lvl7pPr>
            <a:lvl8pPr>
              <a:defRPr sz="3600" b="1">
                <a:solidFill>
                  <a:srgbClr val="007A7A"/>
                </a:solidFill>
              </a:defRPr>
            </a:lvl8pPr>
            <a:lvl9pPr>
              <a:defRPr sz="3600" b="1">
                <a:solidFill>
                  <a:srgbClr val="007A7A"/>
                </a:solidFill>
              </a:defRPr>
            </a:lvl9pPr>
          </a:lstStyle>
          <a:p xmlns:a="http://schemas.openxmlformats.org/drawingml/2006/main">
            <a:pPr>
              <a:defRPr sz="3600" b="1">
                <a:solidFill>
                  <a:srgbClr val="007A7A"/>
                </a:solidFill>
              </a:defRPr>
            </a:pPr>
            <a:r>
              <a:rPr sz="3600" b="1">
                <a:solidFill>
                  <a:srgbClr val="007A7A"/>
                </a:solidFill>
              </a:rPr>
              <a:t>0.4858</a:t>
            </a:r>
          </a:p>
        </p:txBody>
      </p:sp>
      <p:sp>
        <p:nvSpPr>
          <p:cNvPr id="12" name="">
            <a:extLst xmlns:a="http://schemas.openxmlformats.org/drawingml/2006/main">
              <a:ext uri="{FF2B5EF4-FFF2-40B4-BE49-F238E27FC236}">
                <a16:creationId xmlns:a16="http://schemas.microsoft.com/office/drawing/2014/main" id="{FB759371-DBEA-4016-8F8F-F56CAFB44472}"/>
              </a:ext>
            </a:extLst>
          </p:cNvPr>
          <p:cNvSpPr>
            <a:spLocks xmlns:a="http://schemas.openxmlformats.org/drawingml/2006/main" noGrp="1"/>
          </p:cNvSpPr>
          <p:nvPr/>
        </p:nvSpPr>
        <p:spPr>
          <a:xfrm xmlns:a="http://schemas.openxmlformats.org/drawingml/2006/main">
            <a:off x="7610475" y="2952750"/>
            <a:ext cx="9525" cy="1476375"/>
          </a:xfrm>
          <a:prstGeom xmlns:a="http://schemas.openxmlformats.org/drawingml/2006/main" prst="rect">
            <a:avLst/>
          </a:prstGeom>
          <a:solidFill xmlns:a="http://schemas.openxmlformats.org/drawingml/2006/main">
            <a:srgbClr val="C9D5D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D3A34677-08F9-44F3-82A2-89B72BB1C988}"/>
              </a:ext>
            </a:extLst>
          </p:cNvPr>
          <p:cNvSpPr>
            <a:spLocks xmlns:a="http://schemas.openxmlformats.org/drawingml/2006/main" noGrp="1"/>
          </p:cNvSpPr>
          <p:nvPr/>
        </p:nvSpPr>
        <p:spPr>
          <a:xfrm xmlns:a="http://schemas.openxmlformats.org/drawingml/2006/main">
            <a:off x="7877175" y="2952750"/>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152F34"/>
                </a:solidFill>
              </a:defRPr>
            </a:defPPr>
            <a:lvl1pPr>
              <a:defRPr sz="1800" b="1">
                <a:solidFill>
                  <a:srgbClr val="152F34"/>
                </a:solidFill>
              </a:defRPr>
            </a:lvl1pPr>
            <a:lvl2pPr>
              <a:defRPr sz="1800" b="1">
                <a:solidFill>
                  <a:srgbClr val="152F34"/>
                </a:solidFill>
              </a:defRPr>
            </a:lvl2pPr>
            <a:lvl3pPr>
              <a:defRPr sz="1800" b="1">
                <a:solidFill>
                  <a:srgbClr val="152F34"/>
                </a:solidFill>
              </a:defRPr>
            </a:lvl3pPr>
            <a:lvl4pPr>
              <a:defRPr sz="1800" b="1">
                <a:solidFill>
                  <a:srgbClr val="152F34"/>
                </a:solidFill>
              </a:defRPr>
            </a:lvl4pPr>
            <a:lvl5pPr>
              <a:defRPr sz="1800" b="1">
                <a:solidFill>
                  <a:srgbClr val="152F34"/>
                </a:solidFill>
              </a:defRPr>
            </a:lvl5pPr>
            <a:lvl6pPr>
              <a:defRPr sz="1800" b="1">
                <a:solidFill>
                  <a:srgbClr val="152F34"/>
                </a:solidFill>
              </a:defRPr>
            </a:lvl6pPr>
            <a:lvl7pPr>
              <a:defRPr sz="1800" b="1">
                <a:solidFill>
                  <a:srgbClr val="152F34"/>
                </a:solidFill>
              </a:defRPr>
            </a:lvl7pPr>
            <a:lvl8pPr>
              <a:defRPr sz="1800" b="1">
                <a:solidFill>
                  <a:srgbClr val="152F34"/>
                </a:solidFill>
              </a:defRPr>
            </a:lvl8pPr>
            <a:lvl9pPr>
              <a:defRPr sz="1800" b="1">
                <a:solidFill>
                  <a:srgbClr val="152F34"/>
                </a:solidFill>
              </a:defRPr>
            </a:lvl9pPr>
          </a:lstStyle>
          <a:p xmlns:a="http://schemas.openxmlformats.org/drawingml/2006/main">
            <a:pPr>
              <a:defRPr sz="1800" b="1">
                <a:solidFill>
                  <a:srgbClr val="152F34"/>
                </a:solidFill>
              </a:defRPr>
            </a:pPr>
            <a:r>
              <a:rPr sz="1800" b="1">
                <a:solidFill>
                  <a:srgbClr val="152F34"/>
                </a:solidFill>
              </a:rPr>
              <a:t>GCN–GRU</a:t>
            </a:r>
          </a:p>
        </p:txBody>
      </p:sp>
      <p:sp>
        <p:nvSpPr>
          <p:cNvPr id="14" name="">
            <a:extLst xmlns:a="http://schemas.openxmlformats.org/drawingml/2006/main">
              <a:ext uri="{FF2B5EF4-FFF2-40B4-BE49-F238E27FC236}">
                <a16:creationId xmlns:a16="http://schemas.microsoft.com/office/drawing/2014/main" id="{8D272659-A6CE-46E9-B2C3-433391D1C3E0}"/>
              </a:ext>
            </a:extLst>
          </p:cNvPr>
          <p:cNvSpPr>
            <a:spLocks xmlns:a="http://schemas.openxmlformats.org/drawingml/2006/main" noGrp="1"/>
          </p:cNvSpPr>
          <p:nvPr/>
        </p:nvSpPr>
        <p:spPr>
          <a:xfrm xmlns:a="http://schemas.openxmlformats.org/drawingml/2006/main">
            <a:off x="7877175" y="3476625"/>
            <a:ext cx="3286125"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600" b="1">
                <a:solidFill>
                  <a:srgbClr val="C95C43"/>
                </a:solidFill>
              </a:defRPr>
            </a:defPPr>
            <a:lvl1pPr>
              <a:defRPr sz="3600" b="1">
                <a:solidFill>
                  <a:srgbClr val="C95C43"/>
                </a:solidFill>
              </a:defRPr>
            </a:lvl1pPr>
            <a:lvl2pPr>
              <a:defRPr sz="3600" b="1">
                <a:solidFill>
                  <a:srgbClr val="C95C43"/>
                </a:solidFill>
              </a:defRPr>
            </a:lvl2pPr>
            <a:lvl3pPr>
              <a:defRPr sz="3600" b="1">
                <a:solidFill>
                  <a:srgbClr val="C95C43"/>
                </a:solidFill>
              </a:defRPr>
            </a:lvl3pPr>
            <a:lvl4pPr>
              <a:defRPr sz="3600" b="1">
                <a:solidFill>
                  <a:srgbClr val="C95C43"/>
                </a:solidFill>
              </a:defRPr>
            </a:lvl4pPr>
            <a:lvl5pPr>
              <a:defRPr sz="3600" b="1">
                <a:solidFill>
                  <a:srgbClr val="C95C43"/>
                </a:solidFill>
              </a:defRPr>
            </a:lvl5pPr>
            <a:lvl6pPr>
              <a:defRPr sz="3600" b="1">
                <a:solidFill>
                  <a:srgbClr val="C95C43"/>
                </a:solidFill>
              </a:defRPr>
            </a:lvl6pPr>
            <a:lvl7pPr>
              <a:defRPr sz="3600" b="1">
                <a:solidFill>
                  <a:srgbClr val="C95C43"/>
                </a:solidFill>
              </a:defRPr>
            </a:lvl7pPr>
            <a:lvl8pPr>
              <a:defRPr sz="3600" b="1">
                <a:solidFill>
                  <a:srgbClr val="C95C43"/>
                </a:solidFill>
              </a:defRPr>
            </a:lvl8pPr>
            <a:lvl9pPr>
              <a:defRPr sz="3600" b="1">
                <a:solidFill>
                  <a:srgbClr val="C95C43"/>
                </a:solidFill>
              </a:defRPr>
            </a:lvl9pPr>
          </a:lstStyle>
          <a:p xmlns:a="http://schemas.openxmlformats.org/drawingml/2006/main">
            <a:pPr>
              <a:defRPr sz="3600" b="1">
                <a:solidFill>
                  <a:srgbClr val="C95C43"/>
                </a:solidFill>
              </a:defRPr>
            </a:pPr>
            <a:r>
              <a:rPr sz="3600" b="1">
                <a:solidFill>
                  <a:srgbClr val="C95C43"/>
                </a:solidFill>
              </a:rPr>
              <a:t>0.4948</a:t>
            </a:r>
          </a:p>
        </p:txBody>
      </p:sp>
      <p:sp>
        <p:nvSpPr>
          <p:cNvPr id="15" name="">
            <a:extLst xmlns:a="http://schemas.openxmlformats.org/drawingml/2006/main">
              <a:ext uri="{FF2B5EF4-FFF2-40B4-BE49-F238E27FC236}">
                <a16:creationId xmlns:a16="http://schemas.microsoft.com/office/drawing/2014/main" id="{FF043AAE-04E3-43D9-82AE-61660A5FD74C}"/>
              </a:ext>
            </a:extLst>
          </p:cNvPr>
          <p:cNvSpPr>
            <a:spLocks xmlns:a="http://schemas.openxmlformats.org/drawingml/2006/main" noGrp="1"/>
          </p:cNvSpPr>
          <p:nvPr/>
        </p:nvSpPr>
        <p:spPr>
          <a:xfrm xmlns:a="http://schemas.openxmlformats.org/drawingml/2006/main">
            <a:off x="742950" y="5724525"/>
            <a:ext cx="10296525"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1">
                <a:solidFill>
                  <a:srgbClr val="152F34"/>
                </a:solidFill>
              </a:defRPr>
            </a:defPPr>
            <a:lvl1pPr>
              <a:defRPr sz="1500" b="1">
                <a:solidFill>
                  <a:srgbClr val="152F34"/>
                </a:solidFill>
              </a:defRPr>
            </a:lvl1pPr>
            <a:lvl2pPr>
              <a:defRPr sz="1500" b="1">
                <a:solidFill>
                  <a:srgbClr val="152F34"/>
                </a:solidFill>
              </a:defRPr>
            </a:lvl2pPr>
            <a:lvl3pPr>
              <a:defRPr sz="1500" b="1">
                <a:solidFill>
                  <a:srgbClr val="152F34"/>
                </a:solidFill>
              </a:defRPr>
            </a:lvl3pPr>
            <a:lvl4pPr>
              <a:defRPr sz="1500" b="1">
                <a:solidFill>
                  <a:srgbClr val="152F34"/>
                </a:solidFill>
              </a:defRPr>
            </a:lvl4pPr>
            <a:lvl5pPr>
              <a:defRPr sz="1500" b="1">
                <a:solidFill>
                  <a:srgbClr val="152F34"/>
                </a:solidFill>
              </a:defRPr>
            </a:lvl5pPr>
            <a:lvl6pPr>
              <a:defRPr sz="1500" b="1">
                <a:solidFill>
                  <a:srgbClr val="152F34"/>
                </a:solidFill>
              </a:defRPr>
            </a:lvl6pPr>
            <a:lvl7pPr>
              <a:defRPr sz="1500" b="1">
                <a:solidFill>
                  <a:srgbClr val="152F34"/>
                </a:solidFill>
              </a:defRPr>
            </a:lvl7pPr>
            <a:lvl8pPr>
              <a:defRPr sz="1500" b="1">
                <a:solidFill>
                  <a:srgbClr val="152F34"/>
                </a:solidFill>
              </a:defRPr>
            </a:lvl8pPr>
            <a:lvl9pPr>
              <a:defRPr sz="1500" b="1">
                <a:solidFill>
                  <a:srgbClr val="152F34"/>
                </a:solidFill>
              </a:defRPr>
            </a:lvl9pPr>
          </a:lstStyle>
          <a:p xmlns:a="http://schemas.openxmlformats.org/drawingml/2006/main">
            <a:pPr>
              <a:defRPr sz="1500" b="1">
                <a:solidFill>
                  <a:srgbClr val="152F34"/>
                </a:solidFill>
              </a:defRPr>
            </a:pPr>
            <a:r>
              <a:rPr sz="1500" b="1">
                <a:solidFill>
                  <a:srgbClr val="152F34"/>
                </a:solidFill>
              </a:rPr>
              <a:t>Interpretation: simple time-series baselines remain strong on this small WAN slice. Route safeguards, rather than a lower GNN forecast error, explain much of the overload result.</a:t>
            </a:r>
          </a:p>
        </p:txBody>
      </p:sp>
    </p:spTree>
    <p:extLst>
      <p:ext uri="{BB962C8B-B14F-4D97-AF65-F5344CB8AC3E}">
        <p14:creationId xmlns:p14="http://schemas.microsoft.com/office/powerpoint/2010/main" val="207502892"/>
      </p:ext>
    </p:extLst>
  </p:cSld>
</p:sld>
</file>

<file path=ppt/slides/slide1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464DAA5-FD83-4B54-B092-0E0BC323F01C}"/>
              </a:ext>
            </a:extLst>
          </p:cNvPr>
          <p:cNvSpPr>
            <a:spLocks xmlns:a="http://schemas.openxmlformats.org/drawingml/2006/main" noGrp="1"/>
          </p:cNvSpPr>
          <p:nvPr/>
        </p:nvSpPr>
        <p:spPr>
          <a:xfrm xmlns:a="http://schemas.openxmlformats.org/drawingml/2006/main">
            <a:off x="647700" y="30480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6D"/>
                </a:solidFill>
              </a:defRPr>
            </a:defPPr>
            <a:lvl1pPr>
              <a:defRPr sz="1050" b="1">
                <a:solidFill>
                  <a:srgbClr val="536A6D"/>
                </a:solidFill>
              </a:defRPr>
            </a:lvl1pPr>
            <a:lvl2pPr>
              <a:defRPr sz="1050" b="1">
                <a:solidFill>
                  <a:srgbClr val="536A6D"/>
                </a:solidFill>
              </a:defRPr>
            </a:lvl2pPr>
            <a:lvl3pPr>
              <a:defRPr sz="1050" b="1">
                <a:solidFill>
                  <a:srgbClr val="536A6D"/>
                </a:solidFill>
              </a:defRPr>
            </a:lvl3pPr>
            <a:lvl4pPr>
              <a:defRPr sz="1050" b="1">
                <a:solidFill>
                  <a:srgbClr val="536A6D"/>
                </a:solidFill>
              </a:defRPr>
            </a:lvl4pPr>
            <a:lvl5pPr>
              <a:defRPr sz="1050" b="1">
                <a:solidFill>
                  <a:srgbClr val="536A6D"/>
                </a:solidFill>
              </a:defRPr>
            </a:lvl5pPr>
            <a:lvl6pPr>
              <a:defRPr sz="1050" b="1">
                <a:solidFill>
                  <a:srgbClr val="536A6D"/>
                </a:solidFill>
              </a:defRPr>
            </a:lvl6pPr>
            <a:lvl7pPr>
              <a:defRPr sz="1050" b="1">
                <a:solidFill>
                  <a:srgbClr val="536A6D"/>
                </a:solidFill>
              </a:defRPr>
            </a:lvl7pPr>
            <a:lvl8pPr>
              <a:defRPr sz="1050" b="1">
                <a:solidFill>
                  <a:srgbClr val="536A6D"/>
                </a:solidFill>
              </a:defRPr>
            </a:lvl8pPr>
            <a:lvl9pPr>
              <a:defRPr sz="1050" b="1">
                <a:solidFill>
                  <a:srgbClr val="536A6D"/>
                </a:solidFill>
              </a:defRPr>
            </a:lvl9pPr>
          </a:lstStyle>
          <a:p xmlns:a="http://schemas.openxmlformats.org/drawingml/2006/main">
            <a:pPr>
              <a:defRPr sz="1050" b="1">
                <a:solidFill>
                  <a:srgbClr val="536A6D"/>
                </a:solidFill>
              </a:defRPr>
            </a:pPr>
            <a:r>
              <a:rPr sz="1050" b="1">
                <a:solidFill>
                  <a:srgbClr val="536A6D"/>
                </a:solidFill>
              </a:rPr>
              <a:t>FRIEND’S PR</a:t>
            </a:r>
          </a:p>
        </p:txBody>
      </p:sp>
      <p:sp>
        <p:nvSpPr>
          <p:cNvPr id="2" name="">
            <a:extLst xmlns:a="http://schemas.openxmlformats.org/drawingml/2006/main">
              <a:ext uri="{FF2B5EF4-FFF2-40B4-BE49-F238E27FC236}">
                <a16:creationId xmlns:a16="http://schemas.microsoft.com/office/drawing/2014/main" id="{E78B672F-8888-4E62-9ED6-1BC52C2F7680}"/>
              </a:ext>
            </a:extLst>
          </p:cNvPr>
          <p:cNvSpPr>
            <a:spLocks xmlns:a="http://schemas.openxmlformats.org/drawingml/2006/main" noGrp="1"/>
          </p:cNvSpPr>
          <p:nvPr/>
        </p:nvSpPr>
        <p:spPr>
          <a:xfrm xmlns:a="http://schemas.openxmlformats.org/drawingml/2006/main">
            <a:off x="647700" y="723900"/>
            <a:ext cx="10763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152F34"/>
                </a:solidFill>
              </a:defRPr>
            </a:defPPr>
            <a:lvl1pPr>
              <a:defRPr sz="2775" b="1">
                <a:solidFill>
                  <a:srgbClr val="152F34"/>
                </a:solidFill>
              </a:defRPr>
            </a:lvl1pPr>
            <a:lvl2pPr>
              <a:defRPr sz="2775" b="1">
                <a:solidFill>
                  <a:srgbClr val="152F34"/>
                </a:solidFill>
              </a:defRPr>
            </a:lvl2pPr>
            <a:lvl3pPr>
              <a:defRPr sz="2775" b="1">
                <a:solidFill>
                  <a:srgbClr val="152F34"/>
                </a:solidFill>
              </a:defRPr>
            </a:lvl3pPr>
            <a:lvl4pPr>
              <a:defRPr sz="2775" b="1">
                <a:solidFill>
                  <a:srgbClr val="152F34"/>
                </a:solidFill>
              </a:defRPr>
            </a:lvl4pPr>
            <a:lvl5pPr>
              <a:defRPr sz="2775" b="1">
                <a:solidFill>
                  <a:srgbClr val="152F34"/>
                </a:solidFill>
              </a:defRPr>
            </a:lvl5pPr>
            <a:lvl6pPr>
              <a:defRPr sz="2775" b="1">
                <a:solidFill>
                  <a:srgbClr val="152F34"/>
                </a:solidFill>
              </a:defRPr>
            </a:lvl6pPr>
            <a:lvl7pPr>
              <a:defRPr sz="2775" b="1">
                <a:solidFill>
                  <a:srgbClr val="152F34"/>
                </a:solidFill>
              </a:defRPr>
            </a:lvl7pPr>
            <a:lvl8pPr>
              <a:defRPr sz="2775" b="1">
                <a:solidFill>
                  <a:srgbClr val="152F34"/>
                </a:solidFill>
              </a:defRPr>
            </a:lvl8pPr>
            <a:lvl9pPr>
              <a:defRPr sz="2775" b="1">
                <a:solidFill>
                  <a:srgbClr val="152F34"/>
                </a:solidFill>
              </a:defRPr>
            </a:lvl9pPr>
          </a:lstStyle>
          <a:p xmlns:a="http://schemas.openxmlformats.org/drawingml/2006/main">
            <a:pPr>
              <a:defRPr sz="2775" b="1">
                <a:solidFill>
                  <a:srgbClr val="152F34"/>
                </a:solidFill>
              </a:defRPr>
            </a:pPr>
            <a:r>
              <a:rPr sz="2775" b="1">
                <a:solidFill>
                  <a:srgbClr val="152F34"/>
                </a:solidFill>
              </a:rPr>
              <a:t>Route stability responds to the planner settings</a:t>
            </a:r>
          </a:p>
        </p:txBody>
      </p:sp>
      <p:sp>
        <p:nvSpPr>
          <p:cNvPr id="3" name="">
            <a:extLst xmlns:a="http://schemas.openxmlformats.org/drawingml/2006/main">
              <a:ext uri="{FF2B5EF4-FFF2-40B4-BE49-F238E27FC236}">
                <a16:creationId xmlns:a16="http://schemas.microsoft.com/office/drawing/2014/main" id="{3FCCDF6B-6526-4964-8EF6-9B73E89066BC}"/>
              </a:ext>
            </a:extLst>
          </p:cNvPr>
          <p:cNvSpPr>
            <a:spLocks xmlns:a="http://schemas.openxmlformats.org/drawingml/2006/main" noGrp="1"/>
          </p:cNvSpPr>
          <p:nvPr/>
        </p:nvSpPr>
        <p:spPr>
          <a:xfrm xmlns:a="http://schemas.openxmlformats.org/drawingml/2006/main">
            <a:off x="647700" y="1562100"/>
            <a:ext cx="10896600" cy="19050"/>
          </a:xfrm>
          <a:prstGeom xmlns:a="http://schemas.openxmlformats.org/drawingml/2006/main" prst="rect">
            <a:avLst/>
          </a:prstGeom>
          <a:solidFill xmlns:a="http://schemas.openxmlformats.org/drawingml/2006/main">
            <a:srgbClr val="C9D5D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9413D55-47DD-43B9-9826-AEA91115E3FC}"/>
              </a:ext>
            </a:extLst>
          </p:cNvPr>
          <p:cNvSpPr>
            <a:spLocks xmlns:a="http://schemas.openxmlformats.org/drawingml/2006/main" noGrp="1"/>
          </p:cNvSpPr>
          <p:nvPr/>
        </p:nvSpPr>
        <p:spPr>
          <a:xfrm xmlns:a="http://schemas.openxmlformats.org/drawingml/2006/main">
            <a:off x="647700" y="6467475"/>
            <a:ext cx="6667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536A6D"/>
                </a:solidFill>
              </a:defRPr>
            </a:defPPr>
            <a:lvl1pPr>
              <a:defRPr sz="900" b="1">
                <a:solidFill>
                  <a:srgbClr val="536A6D"/>
                </a:solidFill>
              </a:defRPr>
            </a:lvl1pPr>
            <a:lvl2pPr>
              <a:defRPr sz="900" b="1">
                <a:solidFill>
                  <a:srgbClr val="536A6D"/>
                </a:solidFill>
              </a:defRPr>
            </a:lvl2pPr>
            <a:lvl3pPr>
              <a:defRPr sz="900" b="1">
                <a:solidFill>
                  <a:srgbClr val="536A6D"/>
                </a:solidFill>
              </a:defRPr>
            </a:lvl3pPr>
            <a:lvl4pPr>
              <a:defRPr sz="900" b="1">
                <a:solidFill>
                  <a:srgbClr val="536A6D"/>
                </a:solidFill>
              </a:defRPr>
            </a:lvl4pPr>
            <a:lvl5pPr>
              <a:defRPr sz="900" b="1">
                <a:solidFill>
                  <a:srgbClr val="536A6D"/>
                </a:solidFill>
              </a:defRPr>
            </a:lvl5pPr>
            <a:lvl6pPr>
              <a:defRPr sz="900" b="1">
                <a:solidFill>
                  <a:srgbClr val="536A6D"/>
                </a:solidFill>
              </a:defRPr>
            </a:lvl6pPr>
            <a:lvl7pPr>
              <a:defRPr sz="900" b="1">
                <a:solidFill>
                  <a:srgbClr val="536A6D"/>
                </a:solidFill>
              </a:defRPr>
            </a:lvl7pPr>
            <a:lvl8pPr>
              <a:defRPr sz="900" b="1">
                <a:solidFill>
                  <a:srgbClr val="536A6D"/>
                </a:solidFill>
              </a:defRPr>
            </a:lvl8pPr>
            <a:lvl9pPr>
              <a:defRPr sz="900" b="1">
                <a:solidFill>
                  <a:srgbClr val="536A6D"/>
                </a:solidFill>
              </a:defRPr>
            </a:lvl9pPr>
          </a:lstStyle>
          <a:p xmlns:a="http://schemas.openxmlformats.org/drawingml/2006/main">
            <a:pPr>
              <a:defRPr sz="900" b="1">
                <a:solidFill>
                  <a:srgbClr val="536A6D"/>
                </a:solidFill>
              </a:defRPr>
            </a:pPr>
            <a:r>
              <a:rPr sz="900" b="1">
                <a:solidFill>
                  <a:srgbClr val="536A6D"/>
                </a:solidFill>
              </a:rPr>
              <a:t>CARBONROUTE  /  REVIEW 1</a:t>
            </a:r>
          </a:p>
        </p:txBody>
      </p:sp>
      <p:sp>
        <p:nvSpPr>
          <p:cNvPr id="5" name="">
            <a:extLst xmlns:a="http://schemas.openxmlformats.org/drawingml/2006/main">
              <a:ext uri="{FF2B5EF4-FFF2-40B4-BE49-F238E27FC236}">
                <a16:creationId xmlns:a16="http://schemas.microsoft.com/office/drawing/2014/main" id="{458DDDD6-91B4-4195-94AC-2065748A4A65}"/>
              </a:ext>
            </a:extLst>
          </p:cNvPr>
          <p:cNvSpPr>
            <a:spLocks xmlns:a="http://schemas.openxmlformats.org/drawingml/2006/main" noGrp="1"/>
          </p:cNvSpPr>
          <p:nvPr/>
        </p:nvSpPr>
        <p:spPr>
          <a:xfrm xmlns:a="http://schemas.openxmlformats.org/drawingml/2006/main">
            <a:off x="11077575" y="6448425"/>
            <a:ext cx="4476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36A6D"/>
                </a:solidFill>
              </a:defRPr>
            </a:defPPr>
            <a:lvl1pPr>
              <a:defRPr sz="975" b="1">
                <a:solidFill>
                  <a:srgbClr val="536A6D"/>
                </a:solidFill>
              </a:defRPr>
            </a:lvl1pPr>
            <a:lvl2pPr>
              <a:defRPr sz="975" b="1">
                <a:solidFill>
                  <a:srgbClr val="536A6D"/>
                </a:solidFill>
              </a:defRPr>
            </a:lvl2pPr>
            <a:lvl3pPr>
              <a:defRPr sz="975" b="1">
                <a:solidFill>
                  <a:srgbClr val="536A6D"/>
                </a:solidFill>
              </a:defRPr>
            </a:lvl3pPr>
            <a:lvl4pPr>
              <a:defRPr sz="975" b="1">
                <a:solidFill>
                  <a:srgbClr val="536A6D"/>
                </a:solidFill>
              </a:defRPr>
            </a:lvl4pPr>
            <a:lvl5pPr>
              <a:defRPr sz="975" b="1">
                <a:solidFill>
                  <a:srgbClr val="536A6D"/>
                </a:solidFill>
              </a:defRPr>
            </a:lvl5pPr>
            <a:lvl6pPr>
              <a:defRPr sz="975" b="1">
                <a:solidFill>
                  <a:srgbClr val="536A6D"/>
                </a:solidFill>
              </a:defRPr>
            </a:lvl6pPr>
            <a:lvl7pPr>
              <a:defRPr sz="975" b="1">
                <a:solidFill>
                  <a:srgbClr val="536A6D"/>
                </a:solidFill>
              </a:defRPr>
            </a:lvl7pPr>
            <a:lvl8pPr>
              <a:defRPr sz="975" b="1">
                <a:solidFill>
                  <a:srgbClr val="536A6D"/>
                </a:solidFill>
              </a:defRPr>
            </a:lvl8pPr>
            <a:lvl9pPr>
              <a:defRPr sz="975" b="1">
                <a:solidFill>
                  <a:srgbClr val="536A6D"/>
                </a:solidFill>
              </a:defRPr>
            </a:lvl9pPr>
          </a:lstStyle>
          <a:p xmlns:a="http://schemas.openxmlformats.org/drawingml/2006/main">
            <a:pPr>
              <a:defRPr sz="975" b="1">
                <a:solidFill>
                  <a:srgbClr val="536A6D"/>
                </a:solidFill>
              </a:defRPr>
            </a:pPr>
            <a:r>
              <a:rPr sz="975" b="1">
                <a:solidFill>
                  <a:srgbClr val="536A6D"/>
                </a:solidFill>
              </a:rPr>
              <a:t>12</a:t>
            </a:r>
          </a:p>
        </p:txBody>
      </p:sp>
      <p:sp>
        <p:nvSpPr>
          <p:cNvPr id="6" name="">
            <a:extLst xmlns:a="http://schemas.openxmlformats.org/drawingml/2006/main">
              <a:ext uri="{FF2B5EF4-FFF2-40B4-BE49-F238E27FC236}">
                <a16:creationId xmlns:a16="http://schemas.microsoft.com/office/drawing/2014/main" id="{94BE02E4-4A74-40E4-A450-EA762A96FB79}"/>
              </a:ext>
            </a:extLst>
          </p:cNvPr>
          <p:cNvSpPr>
            <a:spLocks xmlns:a="http://schemas.openxmlformats.org/drawingml/2006/main" noGrp="1"/>
          </p:cNvSpPr>
          <p:nvPr/>
        </p:nvSpPr>
        <p:spPr>
          <a:xfrm xmlns:a="http://schemas.openxmlformats.org/drawingml/2006/main">
            <a:off x="742950" y="1895475"/>
            <a:ext cx="100965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36A6D"/>
                </a:solidFill>
              </a:defRPr>
            </a:defPPr>
            <a:lvl1pPr>
              <a:defRPr sz="1500" b="0">
                <a:solidFill>
                  <a:srgbClr val="536A6D"/>
                </a:solidFill>
              </a:defRPr>
            </a:lvl1pPr>
            <a:lvl2pPr>
              <a:defRPr sz="1500" b="0">
                <a:solidFill>
                  <a:srgbClr val="536A6D"/>
                </a:solidFill>
              </a:defRPr>
            </a:lvl2pPr>
            <a:lvl3pPr>
              <a:defRPr sz="1500" b="0">
                <a:solidFill>
                  <a:srgbClr val="536A6D"/>
                </a:solidFill>
              </a:defRPr>
            </a:lvl3pPr>
            <a:lvl4pPr>
              <a:defRPr sz="1500" b="0">
                <a:solidFill>
                  <a:srgbClr val="536A6D"/>
                </a:solidFill>
              </a:defRPr>
            </a:lvl4pPr>
            <a:lvl5pPr>
              <a:defRPr sz="1500" b="0">
                <a:solidFill>
                  <a:srgbClr val="536A6D"/>
                </a:solidFill>
              </a:defRPr>
            </a:lvl5pPr>
            <a:lvl6pPr>
              <a:defRPr sz="1500" b="0">
                <a:solidFill>
                  <a:srgbClr val="536A6D"/>
                </a:solidFill>
              </a:defRPr>
            </a:lvl6pPr>
            <a:lvl7pPr>
              <a:defRPr sz="1500" b="0">
                <a:solidFill>
                  <a:srgbClr val="536A6D"/>
                </a:solidFill>
              </a:defRPr>
            </a:lvl7pPr>
            <a:lvl8pPr>
              <a:defRPr sz="1500" b="0">
                <a:solidFill>
                  <a:srgbClr val="536A6D"/>
                </a:solidFill>
              </a:defRPr>
            </a:lvl8pPr>
            <a:lvl9pPr>
              <a:defRPr sz="1500" b="0">
                <a:solidFill>
                  <a:srgbClr val="536A6D"/>
                </a:solidFill>
              </a:defRPr>
            </a:lvl9pPr>
          </a:lstStyle>
          <a:p xmlns:a="http://schemas.openxmlformats.org/drawingml/2006/main">
            <a:pPr>
              <a:defRPr sz="1500" b="0">
                <a:solidFill>
                  <a:srgbClr val="536A6D"/>
                </a:solidFill>
              </a:defRPr>
            </a:pPr>
            <a:r>
              <a:rPr sz="1500" b="0">
                <a:solidFill>
                  <a:srgbClr val="536A6D"/>
                </a:solidFill>
              </a:rPr>
              <a:t>Exploratory sweep: 196 configurations / runs on one already-inspected test day</a:t>
            </a:r>
          </a:p>
        </p:txBody>
      </p:sp>
      <p:sp>
        <p:nvSpPr>
          <p:cNvPr id="7" name="">
            <a:extLst xmlns:a="http://schemas.openxmlformats.org/drawingml/2006/main">
              <a:ext uri="{FF2B5EF4-FFF2-40B4-BE49-F238E27FC236}">
                <a16:creationId xmlns:a16="http://schemas.microsoft.com/office/drawing/2014/main" id="{8A1E0504-284E-4F85-8971-4E9A41AE8A72}"/>
              </a:ext>
            </a:extLst>
          </p:cNvPr>
          <p:cNvSpPr>
            <a:spLocks xmlns:a="http://schemas.openxmlformats.org/drawingml/2006/main" noGrp="1"/>
          </p:cNvSpPr>
          <p:nvPr/>
        </p:nvSpPr>
        <p:spPr>
          <a:xfrm xmlns:a="http://schemas.openxmlformats.org/drawingml/2006/main">
            <a:off x="762000" y="2609850"/>
            <a:ext cx="33432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007A7A"/>
                </a:solidFill>
              </a:defRPr>
            </a:defPPr>
            <a:lvl1pPr>
              <a:defRPr sz="1275" b="1">
                <a:solidFill>
                  <a:srgbClr val="007A7A"/>
                </a:solidFill>
              </a:defRPr>
            </a:lvl1pPr>
            <a:lvl2pPr>
              <a:defRPr sz="1275" b="1">
                <a:solidFill>
                  <a:srgbClr val="007A7A"/>
                </a:solidFill>
              </a:defRPr>
            </a:lvl2pPr>
            <a:lvl3pPr>
              <a:defRPr sz="1275" b="1">
                <a:solidFill>
                  <a:srgbClr val="007A7A"/>
                </a:solidFill>
              </a:defRPr>
            </a:lvl3pPr>
            <a:lvl4pPr>
              <a:defRPr sz="1275" b="1">
                <a:solidFill>
                  <a:srgbClr val="007A7A"/>
                </a:solidFill>
              </a:defRPr>
            </a:lvl4pPr>
            <a:lvl5pPr>
              <a:defRPr sz="1275" b="1">
                <a:solidFill>
                  <a:srgbClr val="007A7A"/>
                </a:solidFill>
              </a:defRPr>
            </a:lvl5pPr>
            <a:lvl6pPr>
              <a:defRPr sz="1275" b="1">
                <a:solidFill>
                  <a:srgbClr val="007A7A"/>
                </a:solidFill>
              </a:defRPr>
            </a:lvl6pPr>
            <a:lvl7pPr>
              <a:defRPr sz="1275" b="1">
                <a:solidFill>
                  <a:srgbClr val="007A7A"/>
                </a:solidFill>
              </a:defRPr>
            </a:lvl7pPr>
            <a:lvl8pPr>
              <a:defRPr sz="1275" b="1">
                <a:solidFill>
                  <a:srgbClr val="007A7A"/>
                </a:solidFill>
              </a:defRPr>
            </a:lvl8pPr>
            <a:lvl9pPr>
              <a:defRPr sz="1275" b="1">
                <a:solidFill>
                  <a:srgbClr val="007A7A"/>
                </a:solidFill>
              </a:defRPr>
            </a:lvl9pPr>
          </a:lstStyle>
          <a:p xmlns:a="http://schemas.openxmlformats.org/drawingml/2006/main">
            <a:pPr>
              <a:defRPr sz="1275" b="1">
                <a:solidFill>
                  <a:srgbClr val="007A7A"/>
                </a:solidFill>
              </a:defRPr>
            </a:pPr>
            <a:r>
              <a:rPr sz="1275" b="1">
                <a:solidFill>
                  <a:srgbClr val="007A7A"/>
                </a:solidFill>
              </a:rPr>
              <a:t>SAFETY MARGIN α</a:t>
            </a:r>
          </a:p>
        </p:txBody>
      </p:sp>
      <p:sp>
        <p:nvSpPr>
          <p:cNvPr id="8" name="">
            <a:extLst xmlns:a="http://schemas.openxmlformats.org/drawingml/2006/main">
              <a:ext uri="{FF2B5EF4-FFF2-40B4-BE49-F238E27FC236}">
                <a16:creationId xmlns:a16="http://schemas.microsoft.com/office/drawing/2014/main" id="{226E7BF7-8851-4D38-BA44-C0E8026CC95B}"/>
              </a:ext>
            </a:extLst>
          </p:cNvPr>
          <p:cNvSpPr>
            <a:spLocks xmlns:a="http://schemas.openxmlformats.org/drawingml/2006/main" noGrp="1"/>
          </p:cNvSpPr>
          <p:nvPr/>
        </p:nvSpPr>
        <p:spPr>
          <a:xfrm xmlns:a="http://schemas.openxmlformats.org/drawingml/2006/main">
            <a:off x="4257675" y="2609850"/>
            <a:ext cx="28765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007A7A"/>
                </a:solidFill>
              </a:defRPr>
            </a:defPPr>
            <a:lvl1pPr>
              <a:defRPr sz="1275" b="1">
                <a:solidFill>
                  <a:srgbClr val="007A7A"/>
                </a:solidFill>
              </a:defRPr>
            </a:lvl1pPr>
            <a:lvl2pPr>
              <a:defRPr sz="1275" b="1">
                <a:solidFill>
                  <a:srgbClr val="007A7A"/>
                </a:solidFill>
              </a:defRPr>
            </a:lvl2pPr>
            <a:lvl3pPr>
              <a:defRPr sz="1275" b="1">
                <a:solidFill>
                  <a:srgbClr val="007A7A"/>
                </a:solidFill>
              </a:defRPr>
            </a:lvl3pPr>
            <a:lvl4pPr>
              <a:defRPr sz="1275" b="1">
                <a:solidFill>
                  <a:srgbClr val="007A7A"/>
                </a:solidFill>
              </a:defRPr>
            </a:lvl4pPr>
            <a:lvl5pPr>
              <a:defRPr sz="1275" b="1">
                <a:solidFill>
                  <a:srgbClr val="007A7A"/>
                </a:solidFill>
              </a:defRPr>
            </a:lvl5pPr>
            <a:lvl6pPr>
              <a:defRPr sz="1275" b="1">
                <a:solidFill>
                  <a:srgbClr val="007A7A"/>
                </a:solidFill>
              </a:defRPr>
            </a:lvl6pPr>
            <a:lvl7pPr>
              <a:defRPr sz="1275" b="1">
                <a:solidFill>
                  <a:srgbClr val="007A7A"/>
                </a:solidFill>
              </a:defRPr>
            </a:lvl7pPr>
            <a:lvl8pPr>
              <a:defRPr sz="1275" b="1">
                <a:solidFill>
                  <a:srgbClr val="007A7A"/>
                </a:solidFill>
              </a:defRPr>
            </a:lvl8pPr>
            <a:lvl9pPr>
              <a:defRPr sz="1275" b="1">
                <a:solidFill>
                  <a:srgbClr val="007A7A"/>
                </a:solidFill>
              </a:defRPr>
            </a:lvl9pPr>
          </a:lstStyle>
          <a:p xmlns:a="http://schemas.openxmlformats.org/drawingml/2006/main">
            <a:pPr>
              <a:defRPr sz="1275" b="1">
                <a:solidFill>
                  <a:srgbClr val="007A7A"/>
                </a:solidFill>
              </a:defRPr>
            </a:pPr>
            <a:r>
              <a:rPr sz="1275" b="1">
                <a:solidFill>
                  <a:srgbClr val="007A7A"/>
                </a:solidFill>
              </a:rPr>
              <a:t>HYSTERESIS τ</a:t>
            </a:r>
          </a:p>
        </p:txBody>
      </p:sp>
      <p:sp>
        <p:nvSpPr>
          <p:cNvPr id="9" name="">
            <a:extLst xmlns:a="http://schemas.openxmlformats.org/drawingml/2006/main">
              <a:ext uri="{FF2B5EF4-FFF2-40B4-BE49-F238E27FC236}">
                <a16:creationId xmlns:a16="http://schemas.microsoft.com/office/drawing/2014/main" id="{D522EDAE-1635-4233-ACDF-4840FF52DBDD}"/>
              </a:ext>
            </a:extLst>
          </p:cNvPr>
          <p:cNvSpPr>
            <a:spLocks xmlns:a="http://schemas.openxmlformats.org/drawingml/2006/main" noGrp="1"/>
          </p:cNvSpPr>
          <p:nvPr/>
        </p:nvSpPr>
        <p:spPr>
          <a:xfrm xmlns:a="http://schemas.openxmlformats.org/drawingml/2006/main">
            <a:off x="7362825" y="2609850"/>
            <a:ext cx="3733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275" b="1">
                <a:solidFill>
                  <a:srgbClr val="007A7A"/>
                </a:solidFill>
              </a:defRPr>
            </a:defPPr>
            <a:lvl1pPr>
              <a:defRPr sz="1275" b="1">
                <a:solidFill>
                  <a:srgbClr val="007A7A"/>
                </a:solidFill>
              </a:defRPr>
            </a:lvl1pPr>
            <a:lvl2pPr>
              <a:defRPr sz="1275" b="1">
                <a:solidFill>
                  <a:srgbClr val="007A7A"/>
                </a:solidFill>
              </a:defRPr>
            </a:lvl2pPr>
            <a:lvl3pPr>
              <a:defRPr sz="1275" b="1">
                <a:solidFill>
                  <a:srgbClr val="007A7A"/>
                </a:solidFill>
              </a:defRPr>
            </a:lvl3pPr>
            <a:lvl4pPr>
              <a:defRPr sz="1275" b="1">
                <a:solidFill>
                  <a:srgbClr val="007A7A"/>
                </a:solidFill>
              </a:defRPr>
            </a:lvl4pPr>
            <a:lvl5pPr>
              <a:defRPr sz="1275" b="1">
                <a:solidFill>
                  <a:srgbClr val="007A7A"/>
                </a:solidFill>
              </a:defRPr>
            </a:lvl5pPr>
            <a:lvl6pPr>
              <a:defRPr sz="1275" b="1">
                <a:solidFill>
                  <a:srgbClr val="007A7A"/>
                </a:solidFill>
              </a:defRPr>
            </a:lvl6pPr>
            <a:lvl7pPr>
              <a:defRPr sz="1275" b="1">
                <a:solidFill>
                  <a:srgbClr val="007A7A"/>
                </a:solidFill>
              </a:defRPr>
            </a:lvl7pPr>
            <a:lvl8pPr>
              <a:defRPr sz="1275" b="1">
                <a:solidFill>
                  <a:srgbClr val="007A7A"/>
                </a:solidFill>
              </a:defRPr>
            </a:lvl8pPr>
            <a:lvl9pPr>
              <a:defRPr sz="1275" b="1">
                <a:solidFill>
                  <a:srgbClr val="007A7A"/>
                </a:solidFill>
              </a:defRPr>
            </a:lvl9pPr>
          </a:lstStyle>
          <a:p xmlns:a="http://schemas.openxmlformats.org/drawingml/2006/main">
            <a:pPr>
              <a:defRPr sz="1275" b="1">
                <a:solidFill>
                  <a:srgbClr val="007A7A"/>
                </a:solidFill>
              </a:defRPr>
            </a:pPr>
            <a:r>
              <a:rPr sz="1275" b="1">
                <a:solidFill>
                  <a:srgbClr val="007A7A"/>
                </a:solidFill>
              </a:rPr>
              <a:t>ROUTE CHANGES / DAY</a:t>
            </a:r>
          </a:p>
        </p:txBody>
      </p:sp>
      <p:sp>
        <p:nvSpPr>
          <p:cNvPr id="10" name="">
            <a:extLst xmlns:a="http://schemas.openxmlformats.org/drawingml/2006/main">
              <a:ext uri="{FF2B5EF4-FFF2-40B4-BE49-F238E27FC236}">
                <a16:creationId xmlns:a16="http://schemas.microsoft.com/office/drawing/2014/main" id="{3E0096A4-12DD-44AC-98D0-C2CC4F819486}"/>
              </a:ext>
            </a:extLst>
          </p:cNvPr>
          <p:cNvSpPr>
            <a:spLocks xmlns:a="http://schemas.openxmlformats.org/drawingml/2006/main" noGrp="1"/>
          </p:cNvSpPr>
          <p:nvPr/>
        </p:nvSpPr>
        <p:spPr>
          <a:xfrm xmlns:a="http://schemas.openxmlformats.org/drawingml/2006/main">
            <a:off x="762000" y="3086100"/>
            <a:ext cx="3095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152F34"/>
                </a:solidFill>
              </a:defRPr>
            </a:defPPr>
            <a:lvl1pPr>
              <a:defRPr sz="2100" b="1">
                <a:solidFill>
                  <a:srgbClr val="152F34"/>
                </a:solidFill>
              </a:defRPr>
            </a:lvl1pPr>
            <a:lvl2pPr>
              <a:defRPr sz="2100" b="1">
                <a:solidFill>
                  <a:srgbClr val="152F34"/>
                </a:solidFill>
              </a:defRPr>
            </a:lvl2pPr>
            <a:lvl3pPr>
              <a:defRPr sz="2100" b="1">
                <a:solidFill>
                  <a:srgbClr val="152F34"/>
                </a:solidFill>
              </a:defRPr>
            </a:lvl3pPr>
            <a:lvl4pPr>
              <a:defRPr sz="2100" b="1">
                <a:solidFill>
                  <a:srgbClr val="152F34"/>
                </a:solidFill>
              </a:defRPr>
            </a:lvl4pPr>
            <a:lvl5pPr>
              <a:defRPr sz="2100" b="1">
                <a:solidFill>
                  <a:srgbClr val="152F34"/>
                </a:solidFill>
              </a:defRPr>
            </a:lvl5pPr>
            <a:lvl6pPr>
              <a:defRPr sz="2100" b="1">
                <a:solidFill>
                  <a:srgbClr val="152F34"/>
                </a:solidFill>
              </a:defRPr>
            </a:lvl6pPr>
            <a:lvl7pPr>
              <a:defRPr sz="2100" b="1">
                <a:solidFill>
                  <a:srgbClr val="152F34"/>
                </a:solidFill>
              </a:defRPr>
            </a:lvl7pPr>
            <a:lvl8pPr>
              <a:defRPr sz="2100" b="1">
                <a:solidFill>
                  <a:srgbClr val="152F34"/>
                </a:solidFill>
              </a:defRPr>
            </a:lvl8pPr>
            <a:lvl9pPr>
              <a:defRPr sz="2100" b="1">
                <a:solidFill>
                  <a:srgbClr val="152F34"/>
                </a:solidFill>
              </a:defRPr>
            </a:lvl9pPr>
          </a:lstStyle>
          <a:p xmlns:a="http://schemas.openxmlformats.org/drawingml/2006/main">
            <a:pPr>
              <a:defRPr sz="2100" b="1">
                <a:solidFill>
                  <a:srgbClr val="152F34"/>
                </a:solidFill>
              </a:defRPr>
            </a:pPr>
            <a:r>
              <a:rPr sz="2100" b="1">
                <a:solidFill>
                  <a:srgbClr val="152F34"/>
                </a:solidFill>
              </a:rPr>
              <a:t>0.80</a:t>
            </a:r>
          </a:p>
        </p:txBody>
      </p:sp>
      <p:sp>
        <p:nvSpPr>
          <p:cNvPr id="11" name="">
            <a:extLst xmlns:a="http://schemas.openxmlformats.org/drawingml/2006/main">
              <a:ext uri="{FF2B5EF4-FFF2-40B4-BE49-F238E27FC236}">
                <a16:creationId xmlns:a16="http://schemas.microsoft.com/office/drawing/2014/main" id="{BB890A29-BBDC-4EB7-B70C-0C9B02BD49B3}"/>
              </a:ext>
            </a:extLst>
          </p:cNvPr>
          <p:cNvSpPr>
            <a:spLocks xmlns:a="http://schemas.openxmlformats.org/drawingml/2006/main" noGrp="1"/>
          </p:cNvSpPr>
          <p:nvPr/>
        </p:nvSpPr>
        <p:spPr>
          <a:xfrm xmlns:a="http://schemas.openxmlformats.org/drawingml/2006/main">
            <a:off x="4257675" y="3086100"/>
            <a:ext cx="2714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152F34"/>
                </a:solidFill>
              </a:defRPr>
            </a:defPPr>
            <a:lvl1pPr>
              <a:defRPr sz="2100" b="1">
                <a:solidFill>
                  <a:srgbClr val="152F34"/>
                </a:solidFill>
              </a:defRPr>
            </a:lvl1pPr>
            <a:lvl2pPr>
              <a:defRPr sz="2100" b="1">
                <a:solidFill>
                  <a:srgbClr val="152F34"/>
                </a:solidFill>
              </a:defRPr>
            </a:lvl2pPr>
            <a:lvl3pPr>
              <a:defRPr sz="2100" b="1">
                <a:solidFill>
                  <a:srgbClr val="152F34"/>
                </a:solidFill>
              </a:defRPr>
            </a:lvl3pPr>
            <a:lvl4pPr>
              <a:defRPr sz="2100" b="1">
                <a:solidFill>
                  <a:srgbClr val="152F34"/>
                </a:solidFill>
              </a:defRPr>
            </a:lvl4pPr>
            <a:lvl5pPr>
              <a:defRPr sz="2100" b="1">
                <a:solidFill>
                  <a:srgbClr val="152F34"/>
                </a:solidFill>
              </a:defRPr>
            </a:lvl5pPr>
            <a:lvl6pPr>
              <a:defRPr sz="2100" b="1">
                <a:solidFill>
                  <a:srgbClr val="152F34"/>
                </a:solidFill>
              </a:defRPr>
            </a:lvl6pPr>
            <a:lvl7pPr>
              <a:defRPr sz="2100" b="1">
                <a:solidFill>
                  <a:srgbClr val="152F34"/>
                </a:solidFill>
              </a:defRPr>
            </a:lvl7pPr>
            <a:lvl8pPr>
              <a:defRPr sz="2100" b="1">
                <a:solidFill>
                  <a:srgbClr val="152F34"/>
                </a:solidFill>
              </a:defRPr>
            </a:lvl8pPr>
            <a:lvl9pPr>
              <a:defRPr sz="2100" b="1">
                <a:solidFill>
                  <a:srgbClr val="152F34"/>
                </a:solidFill>
              </a:defRPr>
            </a:lvl9pPr>
          </a:lstStyle>
          <a:p xmlns:a="http://schemas.openxmlformats.org/drawingml/2006/main">
            <a:pPr>
              <a:defRPr sz="2100" b="1">
                <a:solidFill>
                  <a:srgbClr val="152F34"/>
                </a:solidFill>
              </a:defRPr>
            </a:pPr>
            <a:r>
              <a:rPr sz="2100" b="1">
                <a:solidFill>
                  <a:srgbClr val="152F34"/>
                </a:solidFill>
              </a:rPr>
              <a:t>0.00</a:t>
            </a:r>
          </a:p>
        </p:txBody>
      </p:sp>
      <p:sp>
        <p:nvSpPr>
          <p:cNvPr id="12" name="">
            <a:extLst xmlns:a="http://schemas.openxmlformats.org/drawingml/2006/main">
              <a:ext uri="{FF2B5EF4-FFF2-40B4-BE49-F238E27FC236}">
                <a16:creationId xmlns:a16="http://schemas.microsoft.com/office/drawing/2014/main" id="{64B40BEA-5250-4109-A035-FEC8B7FD42EC}"/>
              </a:ext>
            </a:extLst>
          </p:cNvPr>
          <p:cNvSpPr>
            <a:spLocks xmlns:a="http://schemas.openxmlformats.org/drawingml/2006/main" noGrp="1"/>
          </p:cNvSpPr>
          <p:nvPr/>
        </p:nvSpPr>
        <p:spPr>
          <a:xfrm xmlns:a="http://schemas.openxmlformats.org/drawingml/2006/main">
            <a:off x="7486650" y="3086100"/>
            <a:ext cx="3000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52F34"/>
                </a:solidFill>
              </a:defRPr>
            </a:defPPr>
            <a:lvl1pPr>
              <a:defRPr sz="2175" b="1">
                <a:solidFill>
                  <a:srgbClr val="152F34"/>
                </a:solidFill>
              </a:defRPr>
            </a:lvl1pPr>
            <a:lvl2pPr>
              <a:defRPr sz="2175" b="1">
                <a:solidFill>
                  <a:srgbClr val="152F34"/>
                </a:solidFill>
              </a:defRPr>
            </a:lvl2pPr>
            <a:lvl3pPr>
              <a:defRPr sz="2175" b="1">
                <a:solidFill>
                  <a:srgbClr val="152F34"/>
                </a:solidFill>
              </a:defRPr>
            </a:lvl3pPr>
            <a:lvl4pPr>
              <a:defRPr sz="2175" b="1">
                <a:solidFill>
                  <a:srgbClr val="152F34"/>
                </a:solidFill>
              </a:defRPr>
            </a:lvl4pPr>
            <a:lvl5pPr>
              <a:defRPr sz="2175" b="1">
                <a:solidFill>
                  <a:srgbClr val="152F34"/>
                </a:solidFill>
              </a:defRPr>
            </a:lvl5pPr>
            <a:lvl6pPr>
              <a:defRPr sz="2175" b="1">
                <a:solidFill>
                  <a:srgbClr val="152F34"/>
                </a:solidFill>
              </a:defRPr>
            </a:lvl6pPr>
            <a:lvl7pPr>
              <a:defRPr sz="2175" b="1">
                <a:solidFill>
                  <a:srgbClr val="152F34"/>
                </a:solidFill>
              </a:defRPr>
            </a:lvl7pPr>
            <a:lvl8pPr>
              <a:defRPr sz="2175" b="1">
                <a:solidFill>
                  <a:srgbClr val="152F34"/>
                </a:solidFill>
              </a:defRPr>
            </a:lvl8pPr>
            <a:lvl9pPr>
              <a:defRPr sz="2175" b="1">
                <a:solidFill>
                  <a:srgbClr val="152F34"/>
                </a:solidFill>
              </a:defRPr>
            </a:lvl9pPr>
          </a:lstStyle>
          <a:p xmlns:a="http://schemas.openxmlformats.org/drawingml/2006/main">
            <a:pPr>
              <a:defRPr sz="2175" b="1">
                <a:solidFill>
                  <a:srgbClr val="152F34"/>
                </a:solidFill>
              </a:defRPr>
            </a:pPr>
            <a:r>
              <a:rPr sz="2175" b="1">
                <a:solidFill>
                  <a:srgbClr val="152F34"/>
                </a:solidFill>
              </a:rPr>
              <a:t>20</a:t>
            </a:r>
          </a:p>
        </p:txBody>
      </p:sp>
      <p:sp>
        <p:nvSpPr>
          <p:cNvPr id="13" name="">
            <a:extLst xmlns:a="http://schemas.openxmlformats.org/drawingml/2006/main">
              <a:ext uri="{FF2B5EF4-FFF2-40B4-BE49-F238E27FC236}">
                <a16:creationId xmlns:a16="http://schemas.microsoft.com/office/drawing/2014/main" id="{F8A184C6-8EA4-4D22-874D-26E8F5613BDE}"/>
              </a:ext>
            </a:extLst>
          </p:cNvPr>
          <p:cNvSpPr>
            <a:spLocks xmlns:a="http://schemas.openxmlformats.org/drawingml/2006/main" noGrp="1"/>
          </p:cNvSpPr>
          <p:nvPr/>
        </p:nvSpPr>
        <p:spPr>
          <a:xfrm xmlns:a="http://schemas.openxmlformats.org/drawingml/2006/main">
            <a:off x="762000" y="3676650"/>
            <a:ext cx="9953625" cy="9525"/>
          </a:xfrm>
          <a:prstGeom xmlns:a="http://schemas.openxmlformats.org/drawingml/2006/main" prst="rect">
            <a:avLst/>
          </a:prstGeom>
          <a:solidFill xmlns:a="http://schemas.openxmlformats.org/drawingml/2006/main">
            <a:srgbClr val="C9D5D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653150F-98FC-4A3F-8878-0A4EF012D147}"/>
              </a:ext>
            </a:extLst>
          </p:cNvPr>
          <p:cNvSpPr>
            <a:spLocks xmlns:a="http://schemas.openxmlformats.org/drawingml/2006/main" noGrp="1"/>
          </p:cNvSpPr>
          <p:nvPr/>
        </p:nvSpPr>
        <p:spPr>
          <a:xfrm xmlns:a="http://schemas.openxmlformats.org/drawingml/2006/main">
            <a:off x="762000" y="3810000"/>
            <a:ext cx="3095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152F34"/>
                </a:solidFill>
              </a:defRPr>
            </a:defPPr>
            <a:lvl1pPr>
              <a:defRPr sz="2100" b="1">
                <a:solidFill>
                  <a:srgbClr val="152F34"/>
                </a:solidFill>
              </a:defRPr>
            </a:lvl1pPr>
            <a:lvl2pPr>
              <a:defRPr sz="2100" b="1">
                <a:solidFill>
                  <a:srgbClr val="152F34"/>
                </a:solidFill>
              </a:defRPr>
            </a:lvl2pPr>
            <a:lvl3pPr>
              <a:defRPr sz="2100" b="1">
                <a:solidFill>
                  <a:srgbClr val="152F34"/>
                </a:solidFill>
              </a:defRPr>
            </a:lvl3pPr>
            <a:lvl4pPr>
              <a:defRPr sz="2100" b="1">
                <a:solidFill>
                  <a:srgbClr val="152F34"/>
                </a:solidFill>
              </a:defRPr>
            </a:lvl4pPr>
            <a:lvl5pPr>
              <a:defRPr sz="2100" b="1">
                <a:solidFill>
                  <a:srgbClr val="152F34"/>
                </a:solidFill>
              </a:defRPr>
            </a:lvl5pPr>
            <a:lvl6pPr>
              <a:defRPr sz="2100" b="1">
                <a:solidFill>
                  <a:srgbClr val="152F34"/>
                </a:solidFill>
              </a:defRPr>
            </a:lvl6pPr>
            <a:lvl7pPr>
              <a:defRPr sz="2100" b="1">
                <a:solidFill>
                  <a:srgbClr val="152F34"/>
                </a:solidFill>
              </a:defRPr>
            </a:lvl7pPr>
            <a:lvl8pPr>
              <a:defRPr sz="2100" b="1">
                <a:solidFill>
                  <a:srgbClr val="152F34"/>
                </a:solidFill>
              </a:defRPr>
            </a:lvl8pPr>
            <a:lvl9pPr>
              <a:defRPr sz="2100" b="1">
                <a:solidFill>
                  <a:srgbClr val="152F34"/>
                </a:solidFill>
              </a:defRPr>
            </a:lvl9pPr>
          </a:lstStyle>
          <a:p xmlns:a="http://schemas.openxmlformats.org/drawingml/2006/main">
            <a:pPr>
              <a:defRPr sz="2100" b="1">
                <a:solidFill>
                  <a:srgbClr val="152F34"/>
                </a:solidFill>
              </a:defRPr>
            </a:pPr>
            <a:r>
              <a:rPr sz="2100" b="1">
                <a:solidFill>
                  <a:srgbClr val="152F34"/>
                </a:solidFill>
              </a:rPr>
              <a:t>0.80</a:t>
            </a:r>
          </a:p>
        </p:txBody>
      </p:sp>
      <p:sp>
        <p:nvSpPr>
          <p:cNvPr id="15" name="">
            <a:extLst xmlns:a="http://schemas.openxmlformats.org/drawingml/2006/main">
              <a:ext uri="{FF2B5EF4-FFF2-40B4-BE49-F238E27FC236}">
                <a16:creationId xmlns:a16="http://schemas.microsoft.com/office/drawing/2014/main" id="{91631308-F248-48F9-95C8-090A3DA420AB}"/>
              </a:ext>
            </a:extLst>
          </p:cNvPr>
          <p:cNvSpPr>
            <a:spLocks xmlns:a="http://schemas.openxmlformats.org/drawingml/2006/main" noGrp="1"/>
          </p:cNvSpPr>
          <p:nvPr/>
        </p:nvSpPr>
        <p:spPr>
          <a:xfrm xmlns:a="http://schemas.openxmlformats.org/drawingml/2006/main">
            <a:off x="4257675" y="3810000"/>
            <a:ext cx="2714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152F34"/>
                </a:solidFill>
              </a:defRPr>
            </a:defPPr>
            <a:lvl1pPr>
              <a:defRPr sz="2100" b="1">
                <a:solidFill>
                  <a:srgbClr val="152F34"/>
                </a:solidFill>
              </a:defRPr>
            </a:lvl1pPr>
            <a:lvl2pPr>
              <a:defRPr sz="2100" b="1">
                <a:solidFill>
                  <a:srgbClr val="152F34"/>
                </a:solidFill>
              </a:defRPr>
            </a:lvl2pPr>
            <a:lvl3pPr>
              <a:defRPr sz="2100" b="1">
                <a:solidFill>
                  <a:srgbClr val="152F34"/>
                </a:solidFill>
              </a:defRPr>
            </a:lvl3pPr>
            <a:lvl4pPr>
              <a:defRPr sz="2100" b="1">
                <a:solidFill>
                  <a:srgbClr val="152F34"/>
                </a:solidFill>
              </a:defRPr>
            </a:lvl4pPr>
            <a:lvl5pPr>
              <a:defRPr sz="2100" b="1">
                <a:solidFill>
                  <a:srgbClr val="152F34"/>
                </a:solidFill>
              </a:defRPr>
            </a:lvl5pPr>
            <a:lvl6pPr>
              <a:defRPr sz="2100" b="1">
                <a:solidFill>
                  <a:srgbClr val="152F34"/>
                </a:solidFill>
              </a:defRPr>
            </a:lvl6pPr>
            <a:lvl7pPr>
              <a:defRPr sz="2100" b="1">
                <a:solidFill>
                  <a:srgbClr val="152F34"/>
                </a:solidFill>
              </a:defRPr>
            </a:lvl7pPr>
            <a:lvl8pPr>
              <a:defRPr sz="2100" b="1">
                <a:solidFill>
                  <a:srgbClr val="152F34"/>
                </a:solidFill>
              </a:defRPr>
            </a:lvl8pPr>
            <a:lvl9pPr>
              <a:defRPr sz="2100" b="1">
                <a:solidFill>
                  <a:srgbClr val="152F34"/>
                </a:solidFill>
              </a:defRPr>
            </a:lvl9pPr>
          </a:lstStyle>
          <a:p xmlns:a="http://schemas.openxmlformats.org/drawingml/2006/main">
            <a:pPr>
              <a:defRPr sz="2100" b="1">
                <a:solidFill>
                  <a:srgbClr val="152F34"/>
                </a:solidFill>
              </a:defRPr>
            </a:pPr>
            <a:r>
              <a:rPr sz="2100" b="1">
                <a:solidFill>
                  <a:srgbClr val="152F34"/>
                </a:solidFill>
              </a:rPr>
              <a:t>0.20</a:t>
            </a:r>
          </a:p>
        </p:txBody>
      </p:sp>
      <p:sp>
        <p:nvSpPr>
          <p:cNvPr id="16" name="">
            <a:extLst xmlns:a="http://schemas.openxmlformats.org/drawingml/2006/main">
              <a:ext uri="{FF2B5EF4-FFF2-40B4-BE49-F238E27FC236}">
                <a16:creationId xmlns:a16="http://schemas.microsoft.com/office/drawing/2014/main" id="{1B9D28E3-91F4-4E94-A581-CFAC809DB2FF}"/>
              </a:ext>
            </a:extLst>
          </p:cNvPr>
          <p:cNvSpPr>
            <a:spLocks xmlns:a="http://schemas.openxmlformats.org/drawingml/2006/main" noGrp="1"/>
          </p:cNvSpPr>
          <p:nvPr/>
        </p:nvSpPr>
        <p:spPr>
          <a:xfrm xmlns:a="http://schemas.openxmlformats.org/drawingml/2006/main">
            <a:off x="7486650" y="3810000"/>
            <a:ext cx="3000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52F34"/>
                </a:solidFill>
              </a:defRPr>
            </a:defPPr>
            <a:lvl1pPr>
              <a:defRPr sz="2175" b="1">
                <a:solidFill>
                  <a:srgbClr val="152F34"/>
                </a:solidFill>
              </a:defRPr>
            </a:lvl1pPr>
            <a:lvl2pPr>
              <a:defRPr sz="2175" b="1">
                <a:solidFill>
                  <a:srgbClr val="152F34"/>
                </a:solidFill>
              </a:defRPr>
            </a:lvl2pPr>
            <a:lvl3pPr>
              <a:defRPr sz="2175" b="1">
                <a:solidFill>
                  <a:srgbClr val="152F34"/>
                </a:solidFill>
              </a:defRPr>
            </a:lvl3pPr>
            <a:lvl4pPr>
              <a:defRPr sz="2175" b="1">
                <a:solidFill>
                  <a:srgbClr val="152F34"/>
                </a:solidFill>
              </a:defRPr>
            </a:lvl4pPr>
            <a:lvl5pPr>
              <a:defRPr sz="2175" b="1">
                <a:solidFill>
                  <a:srgbClr val="152F34"/>
                </a:solidFill>
              </a:defRPr>
            </a:lvl5pPr>
            <a:lvl6pPr>
              <a:defRPr sz="2175" b="1">
                <a:solidFill>
                  <a:srgbClr val="152F34"/>
                </a:solidFill>
              </a:defRPr>
            </a:lvl6pPr>
            <a:lvl7pPr>
              <a:defRPr sz="2175" b="1">
                <a:solidFill>
                  <a:srgbClr val="152F34"/>
                </a:solidFill>
              </a:defRPr>
            </a:lvl7pPr>
            <a:lvl8pPr>
              <a:defRPr sz="2175" b="1">
                <a:solidFill>
                  <a:srgbClr val="152F34"/>
                </a:solidFill>
              </a:defRPr>
            </a:lvl8pPr>
            <a:lvl9pPr>
              <a:defRPr sz="2175" b="1">
                <a:solidFill>
                  <a:srgbClr val="152F34"/>
                </a:solidFill>
              </a:defRPr>
            </a:lvl9pPr>
          </a:lstStyle>
          <a:p xmlns:a="http://schemas.openxmlformats.org/drawingml/2006/main">
            <a:pPr>
              <a:defRPr sz="2175" b="1">
                <a:solidFill>
                  <a:srgbClr val="152F34"/>
                </a:solidFill>
              </a:defRPr>
            </a:pPr>
            <a:r>
              <a:rPr sz="2175" b="1">
                <a:solidFill>
                  <a:srgbClr val="152F34"/>
                </a:solidFill>
              </a:rPr>
              <a:t>13</a:t>
            </a:r>
          </a:p>
        </p:txBody>
      </p:sp>
      <p:sp>
        <p:nvSpPr>
          <p:cNvPr id="17" name="">
            <a:extLst xmlns:a="http://schemas.openxmlformats.org/drawingml/2006/main">
              <a:ext uri="{FF2B5EF4-FFF2-40B4-BE49-F238E27FC236}">
                <a16:creationId xmlns:a16="http://schemas.microsoft.com/office/drawing/2014/main" id="{EBAD06F7-BDF4-4678-B267-2F993D176722}"/>
              </a:ext>
            </a:extLst>
          </p:cNvPr>
          <p:cNvSpPr>
            <a:spLocks xmlns:a="http://schemas.openxmlformats.org/drawingml/2006/main" noGrp="1"/>
          </p:cNvSpPr>
          <p:nvPr/>
        </p:nvSpPr>
        <p:spPr>
          <a:xfrm xmlns:a="http://schemas.openxmlformats.org/drawingml/2006/main">
            <a:off x="762000" y="4400550"/>
            <a:ext cx="9953625" cy="9525"/>
          </a:xfrm>
          <a:prstGeom xmlns:a="http://schemas.openxmlformats.org/drawingml/2006/main" prst="rect">
            <a:avLst/>
          </a:prstGeom>
          <a:solidFill xmlns:a="http://schemas.openxmlformats.org/drawingml/2006/main">
            <a:srgbClr val="C9D5D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0474EA6-B403-42C2-BADE-B957F8A0D922}"/>
              </a:ext>
            </a:extLst>
          </p:cNvPr>
          <p:cNvSpPr>
            <a:spLocks xmlns:a="http://schemas.openxmlformats.org/drawingml/2006/main" noGrp="1"/>
          </p:cNvSpPr>
          <p:nvPr/>
        </p:nvSpPr>
        <p:spPr>
          <a:xfrm xmlns:a="http://schemas.openxmlformats.org/drawingml/2006/main">
            <a:off x="762000" y="4533900"/>
            <a:ext cx="3095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152F34"/>
                </a:solidFill>
              </a:defRPr>
            </a:defPPr>
            <a:lvl1pPr>
              <a:defRPr sz="2100" b="1">
                <a:solidFill>
                  <a:srgbClr val="152F34"/>
                </a:solidFill>
              </a:defRPr>
            </a:lvl1pPr>
            <a:lvl2pPr>
              <a:defRPr sz="2100" b="1">
                <a:solidFill>
                  <a:srgbClr val="152F34"/>
                </a:solidFill>
              </a:defRPr>
            </a:lvl2pPr>
            <a:lvl3pPr>
              <a:defRPr sz="2100" b="1">
                <a:solidFill>
                  <a:srgbClr val="152F34"/>
                </a:solidFill>
              </a:defRPr>
            </a:lvl3pPr>
            <a:lvl4pPr>
              <a:defRPr sz="2100" b="1">
                <a:solidFill>
                  <a:srgbClr val="152F34"/>
                </a:solidFill>
              </a:defRPr>
            </a:lvl4pPr>
            <a:lvl5pPr>
              <a:defRPr sz="2100" b="1">
                <a:solidFill>
                  <a:srgbClr val="152F34"/>
                </a:solidFill>
              </a:defRPr>
            </a:lvl5pPr>
            <a:lvl6pPr>
              <a:defRPr sz="2100" b="1">
                <a:solidFill>
                  <a:srgbClr val="152F34"/>
                </a:solidFill>
              </a:defRPr>
            </a:lvl6pPr>
            <a:lvl7pPr>
              <a:defRPr sz="2100" b="1">
                <a:solidFill>
                  <a:srgbClr val="152F34"/>
                </a:solidFill>
              </a:defRPr>
            </a:lvl7pPr>
            <a:lvl8pPr>
              <a:defRPr sz="2100" b="1">
                <a:solidFill>
                  <a:srgbClr val="152F34"/>
                </a:solidFill>
              </a:defRPr>
            </a:lvl8pPr>
            <a:lvl9pPr>
              <a:defRPr sz="2100" b="1">
                <a:solidFill>
                  <a:srgbClr val="152F34"/>
                </a:solidFill>
              </a:defRPr>
            </a:lvl9pPr>
          </a:lstStyle>
          <a:p xmlns:a="http://schemas.openxmlformats.org/drawingml/2006/main">
            <a:pPr>
              <a:defRPr sz="2100" b="1">
                <a:solidFill>
                  <a:srgbClr val="152F34"/>
                </a:solidFill>
              </a:defRPr>
            </a:pPr>
            <a:r>
              <a:rPr sz="2100" b="1">
                <a:solidFill>
                  <a:srgbClr val="152F34"/>
                </a:solidFill>
              </a:rPr>
              <a:t>0.99</a:t>
            </a:r>
          </a:p>
        </p:txBody>
      </p:sp>
      <p:sp>
        <p:nvSpPr>
          <p:cNvPr id="19" name="">
            <a:extLst xmlns:a="http://schemas.openxmlformats.org/drawingml/2006/main">
              <a:ext uri="{FF2B5EF4-FFF2-40B4-BE49-F238E27FC236}">
                <a16:creationId xmlns:a16="http://schemas.microsoft.com/office/drawing/2014/main" id="{12A9717B-78D2-4C8F-BD07-03931B221439}"/>
              </a:ext>
            </a:extLst>
          </p:cNvPr>
          <p:cNvSpPr>
            <a:spLocks xmlns:a="http://schemas.openxmlformats.org/drawingml/2006/main" noGrp="1"/>
          </p:cNvSpPr>
          <p:nvPr/>
        </p:nvSpPr>
        <p:spPr>
          <a:xfrm xmlns:a="http://schemas.openxmlformats.org/drawingml/2006/main">
            <a:off x="4257675" y="4533900"/>
            <a:ext cx="2714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152F34"/>
                </a:solidFill>
              </a:defRPr>
            </a:defPPr>
            <a:lvl1pPr>
              <a:defRPr sz="2100" b="1">
                <a:solidFill>
                  <a:srgbClr val="152F34"/>
                </a:solidFill>
              </a:defRPr>
            </a:lvl1pPr>
            <a:lvl2pPr>
              <a:defRPr sz="2100" b="1">
                <a:solidFill>
                  <a:srgbClr val="152F34"/>
                </a:solidFill>
              </a:defRPr>
            </a:lvl2pPr>
            <a:lvl3pPr>
              <a:defRPr sz="2100" b="1">
                <a:solidFill>
                  <a:srgbClr val="152F34"/>
                </a:solidFill>
              </a:defRPr>
            </a:lvl3pPr>
            <a:lvl4pPr>
              <a:defRPr sz="2100" b="1">
                <a:solidFill>
                  <a:srgbClr val="152F34"/>
                </a:solidFill>
              </a:defRPr>
            </a:lvl4pPr>
            <a:lvl5pPr>
              <a:defRPr sz="2100" b="1">
                <a:solidFill>
                  <a:srgbClr val="152F34"/>
                </a:solidFill>
              </a:defRPr>
            </a:lvl5pPr>
            <a:lvl6pPr>
              <a:defRPr sz="2100" b="1">
                <a:solidFill>
                  <a:srgbClr val="152F34"/>
                </a:solidFill>
              </a:defRPr>
            </a:lvl6pPr>
            <a:lvl7pPr>
              <a:defRPr sz="2100" b="1">
                <a:solidFill>
                  <a:srgbClr val="152F34"/>
                </a:solidFill>
              </a:defRPr>
            </a:lvl7pPr>
            <a:lvl8pPr>
              <a:defRPr sz="2100" b="1">
                <a:solidFill>
                  <a:srgbClr val="152F34"/>
                </a:solidFill>
              </a:defRPr>
            </a:lvl8pPr>
            <a:lvl9pPr>
              <a:defRPr sz="2100" b="1">
                <a:solidFill>
                  <a:srgbClr val="152F34"/>
                </a:solidFill>
              </a:defRPr>
            </a:lvl9pPr>
          </a:lstStyle>
          <a:p xmlns:a="http://schemas.openxmlformats.org/drawingml/2006/main">
            <a:pPr>
              <a:defRPr sz="2100" b="1">
                <a:solidFill>
                  <a:srgbClr val="152F34"/>
                </a:solidFill>
              </a:defRPr>
            </a:pPr>
            <a:r>
              <a:rPr sz="2100" b="1">
                <a:solidFill>
                  <a:srgbClr val="152F34"/>
                </a:solidFill>
              </a:rPr>
              <a:t>0.20</a:t>
            </a:r>
          </a:p>
        </p:txBody>
      </p:sp>
      <p:sp>
        <p:nvSpPr>
          <p:cNvPr id="20" name="">
            <a:extLst xmlns:a="http://schemas.openxmlformats.org/drawingml/2006/main">
              <a:ext uri="{FF2B5EF4-FFF2-40B4-BE49-F238E27FC236}">
                <a16:creationId xmlns:a16="http://schemas.microsoft.com/office/drawing/2014/main" id="{596CEBA9-E90F-47DC-954F-6A67313DFBDE}"/>
              </a:ext>
            </a:extLst>
          </p:cNvPr>
          <p:cNvSpPr>
            <a:spLocks xmlns:a="http://schemas.openxmlformats.org/drawingml/2006/main" noGrp="1"/>
          </p:cNvSpPr>
          <p:nvPr/>
        </p:nvSpPr>
        <p:spPr>
          <a:xfrm xmlns:a="http://schemas.openxmlformats.org/drawingml/2006/main">
            <a:off x="7486650" y="4533900"/>
            <a:ext cx="30003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52F34"/>
                </a:solidFill>
              </a:defRPr>
            </a:defPPr>
            <a:lvl1pPr>
              <a:defRPr sz="2175" b="1">
                <a:solidFill>
                  <a:srgbClr val="152F34"/>
                </a:solidFill>
              </a:defRPr>
            </a:lvl1pPr>
            <a:lvl2pPr>
              <a:defRPr sz="2175" b="1">
                <a:solidFill>
                  <a:srgbClr val="152F34"/>
                </a:solidFill>
              </a:defRPr>
            </a:lvl2pPr>
            <a:lvl3pPr>
              <a:defRPr sz="2175" b="1">
                <a:solidFill>
                  <a:srgbClr val="152F34"/>
                </a:solidFill>
              </a:defRPr>
            </a:lvl3pPr>
            <a:lvl4pPr>
              <a:defRPr sz="2175" b="1">
                <a:solidFill>
                  <a:srgbClr val="152F34"/>
                </a:solidFill>
              </a:defRPr>
            </a:lvl4pPr>
            <a:lvl5pPr>
              <a:defRPr sz="2175" b="1">
                <a:solidFill>
                  <a:srgbClr val="152F34"/>
                </a:solidFill>
              </a:defRPr>
            </a:lvl5pPr>
            <a:lvl6pPr>
              <a:defRPr sz="2175" b="1">
                <a:solidFill>
                  <a:srgbClr val="152F34"/>
                </a:solidFill>
              </a:defRPr>
            </a:lvl6pPr>
            <a:lvl7pPr>
              <a:defRPr sz="2175" b="1">
                <a:solidFill>
                  <a:srgbClr val="152F34"/>
                </a:solidFill>
              </a:defRPr>
            </a:lvl7pPr>
            <a:lvl8pPr>
              <a:defRPr sz="2175" b="1">
                <a:solidFill>
                  <a:srgbClr val="152F34"/>
                </a:solidFill>
              </a:defRPr>
            </a:lvl8pPr>
            <a:lvl9pPr>
              <a:defRPr sz="2175" b="1">
                <a:solidFill>
                  <a:srgbClr val="152F34"/>
                </a:solidFill>
              </a:defRPr>
            </a:lvl9pPr>
          </a:lstStyle>
          <a:p xmlns:a="http://schemas.openxmlformats.org/drawingml/2006/main">
            <a:pPr>
              <a:defRPr sz="2175" b="1">
                <a:solidFill>
                  <a:srgbClr val="152F34"/>
                </a:solidFill>
              </a:defRPr>
            </a:pPr>
            <a:r>
              <a:rPr sz="2175" b="1">
                <a:solidFill>
                  <a:srgbClr val="152F34"/>
                </a:solidFill>
              </a:rPr>
              <a:t>6</a:t>
            </a:r>
          </a:p>
        </p:txBody>
      </p:sp>
      <p:sp>
        <p:nvSpPr>
          <p:cNvPr id="21" name="">
            <a:extLst xmlns:a="http://schemas.openxmlformats.org/drawingml/2006/main">
              <a:ext uri="{FF2B5EF4-FFF2-40B4-BE49-F238E27FC236}">
                <a16:creationId xmlns:a16="http://schemas.microsoft.com/office/drawing/2014/main" id="{B88C0235-B60E-4C21-BE24-B60909671DB4}"/>
              </a:ext>
            </a:extLst>
          </p:cNvPr>
          <p:cNvSpPr>
            <a:spLocks xmlns:a="http://schemas.openxmlformats.org/drawingml/2006/main" noGrp="1"/>
          </p:cNvSpPr>
          <p:nvPr/>
        </p:nvSpPr>
        <p:spPr>
          <a:xfrm xmlns:a="http://schemas.openxmlformats.org/drawingml/2006/main">
            <a:off x="762000" y="5514975"/>
            <a:ext cx="100107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C95C43"/>
                </a:solidFill>
              </a:defRPr>
            </a:defPPr>
            <a:lvl1pPr>
              <a:defRPr sz="1575" b="1">
                <a:solidFill>
                  <a:srgbClr val="C95C43"/>
                </a:solidFill>
              </a:defRPr>
            </a:lvl1pPr>
            <a:lvl2pPr>
              <a:defRPr sz="1575" b="1">
                <a:solidFill>
                  <a:srgbClr val="C95C43"/>
                </a:solidFill>
              </a:defRPr>
            </a:lvl2pPr>
            <a:lvl3pPr>
              <a:defRPr sz="1575" b="1">
                <a:solidFill>
                  <a:srgbClr val="C95C43"/>
                </a:solidFill>
              </a:defRPr>
            </a:lvl3pPr>
            <a:lvl4pPr>
              <a:defRPr sz="1575" b="1">
                <a:solidFill>
                  <a:srgbClr val="C95C43"/>
                </a:solidFill>
              </a:defRPr>
            </a:lvl4pPr>
            <a:lvl5pPr>
              <a:defRPr sz="1575" b="1">
                <a:solidFill>
                  <a:srgbClr val="C95C43"/>
                </a:solidFill>
              </a:defRPr>
            </a:lvl5pPr>
            <a:lvl6pPr>
              <a:defRPr sz="1575" b="1">
                <a:solidFill>
                  <a:srgbClr val="C95C43"/>
                </a:solidFill>
              </a:defRPr>
            </a:lvl6pPr>
            <a:lvl7pPr>
              <a:defRPr sz="1575" b="1">
                <a:solidFill>
                  <a:srgbClr val="C95C43"/>
                </a:solidFill>
              </a:defRPr>
            </a:lvl7pPr>
            <a:lvl8pPr>
              <a:defRPr sz="1575" b="1">
                <a:solidFill>
                  <a:srgbClr val="C95C43"/>
                </a:solidFill>
              </a:defRPr>
            </a:lvl8pPr>
            <a:lvl9pPr>
              <a:defRPr sz="1575" b="1">
                <a:solidFill>
                  <a:srgbClr val="C95C43"/>
                </a:solidFill>
              </a:defRPr>
            </a:lvl9pPr>
          </a:lstStyle>
          <a:p xmlns:a="http://schemas.openxmlformats.org/drawingml/2006/main">
            <a:pPr>
              <a:defRPr sz="1575" b="1">
                <a:solidFill>
                  <a:srgbClr val="C95C43"/>
                </a:solidFill>
              </a:defRPr>
            </a:pPr>
            <a:r>
              <a:rPr sz="1575" b="1">
                <a:solidFill>
                  <a:srgbClr val="C95C43"/>
                </a:solidFill>
              </a:rPr>
              <a:t>All three settings show 60 overload minutes/day in that one-day congested, lagged slice. Stronger dampening raises the carbon-oriented score.</a:t>
            </a:r>
          </a:p>
        </p:txBody>
      </p:sp>
    </p:spTree>
    <p:extLst>
      <p:ext uri="{BB962C8B-B14F-4D97-AF65-F5344CB8AC3E}">
        <p14:creationId xmlns:p14="http://schemas.microsoft.com/office/powerpoint/2010/main" val="75202146"/>
      </p:ext>
    </p:extLst>
  </p:cSld>
</p:sld>
</file>

<file path=ppt/slides/slide1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ADDF770-8DE7-48DC-8260-CE04F771A6E4}"/>
              </a:ext>
            </a:extLst>
          </p:cNvPr>
          <p:cNvSpPr>
            <a:spLocks xmlns:a="http://schemas.openxmlformats.org/drawingml/2006/main" noGrp="1"/>
          </p:cNvSpPr>
          <p:nvPr/>
        </p:nvSpPr>
        <p:spPr>
          <a:xfrm xmlns:a="http://schemas.openxmlformats.org/drawingml/2006/main">
            <a:off x="647700" y="30480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6D"/>
                </a:solidFill>
              </a:defRPr>
            </a:defPPr>
            <a:lvl1pPr>
              <a:defRPr sz="1050" b="1">
                <a:solidFill>
                  <a:srgbClr val="536A6D"/>
                </a:solidFill>
              </a:defRPr>
            </a:lvl1pPr>
            <a:lvl2pPr>
              <a:defRPr sz="1050" b="1">
                <a:solidFill>
                  <a:srgbClr val="536A6D"/>
                </a:solidFill>
              </a:defRPr>
            </a:lvl2pPr>
            <a:lvl3pPr>
              <a:defRPr sz="1050" b="1">
                <a:solidFill>
                  <a:srgbClr val="536A6D"/>
                </a:solidFill>
              </a:defRPr>
            </a:lvl3pPr>
            <a:lvl4pPr>
              <a:defRPr sz="1050" b="1">
                <a:solidFill>
                  <a:srgbClr val="536A6D"/>
                </a:solidFill>
              </a:defRPr>
            </a:lvl4pPr>
            <a:lvl5pPr>
              <a:defRPr sz="1050" b="1">
                <a:solidFill>
                  <a:srgbClr val="536A6D"/>
                </a:solidFill>
              </a:defRPr>
            </a:lvl5pPr>
            <a:lvl6pPr>
              <a:defRPr sz="1050" b="1">
                <a:solidFill>
                  <a:srgbClr val="536A6D"/>
                </a:solidFill>
              </a:defRPr>
            </a:lvl6pPr>
            <a:lvl7pPr>
              <a:defRPr sz="1050" b="1">
                <a:solidFill>
                  <a:srgbClr val="536A6D"/>
                </a:solidFill>
              </a:defRPr>
            </a:lvl7pPr>
            <a:lvl8pPr>
              <a:defRPr sz="1050" b="1">
                <a:solidFill>
                  <a:srgbClr val="536A6D"/>
                </a:solidFill>
              </a:defRPr>
            </a:lvl8pPr>
            <a:lvl9pPr>
              <a:defRPr sz="1050" b="1">
                <a:solidFill>
                  <a:srgbClr val="536A6D"/>
                </a:solidFill>
              </a:defRPr>
            </a:lvl9pPr>
          </a:lstStyle>
          <a:p xmlns:a="http://schemas.openxmlformats.org/drawingml/2006/main">
            <a:pPr>
              <a:defRPr sz="1050" b="1">
                <a:solidFill>
                  <a:srgbClr val="536A6D"/>
                </a:solidFill>
              </a:defRPr>
            </a:pPr>
            <a:r>
              <a:rPr sz="1050" b="1">
                <a:solidFill>
                  <a:srgbClr val="536A6D"/>
                </a:solidFill>
              </a:rPr>
              <a:t>INTERPRETATION</a:t>
            </a:r>
          </a:p>
        </p:txBody>
      </p:sp>
      <p:sp>
        <p:nvSpPr>
          <p:cNvPr id="2" name="">
            <a:extLst xmlns:a="http://schemas.openxmlformats.org/drawingml/2006/main">
              <a:ext uri="{FF2B5EF4-FFF2-40B4-BE49-F238E27FC236}">
                <a16:creationId xmlns:a16="http://schemas.microsoft.com/office/drawing/2014/main" id="{81C4A89A-A0AB-48FA-AE8B-E919CB240061}"/>
              </a:ext>
            </a:extLst>
          </p:cNvPr>
          <p:cNvSpPr>
            <a:spLocks xmlns:a="http://schemas.openxmlformats.org/drawingml/2006/main" noGrp="1"/>
          </p:cNvSpPr>
          <p:nvPr/>
        </p:nvSpPr>
        <p:spPr>
          <a:xfrm xmlns:a="http://schemas.openxmlformats.org/drawingml/2006/main">
            <a:off x="647700" y="723900"/>
            <a:ext cx="10763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152F34"/>
                </a:solidFill>
              </a:defRPr>
            </a:defPPr>
            <a:lvl1pPr>
              <a:defRPr sz="2775" b="1">
                <a:solidFill>
                  <a:srgbClr val="152F34"/>
                </a:solidFill>
              </a:defRPr>
            </a:lvl1pPr>
            <a:lvl2pPr>
              <a:defRPr sz="2775" b="1">
                <a:solidFill>
                  <a:srgbClr val="152F34"/>
                </a:solidFill>
              </a:defRPr>
            </a:lvl2pPr>
            <a:lvl3pPr>
              <a:defRPr sz="2775" b="1">
                <a:solidFill>
                  <a:srgbClr val="152F34"/>
                </a:solidFill>
              </a:defRPr>
            </a:lvl3pPr>
            <a:lvl4pPr>
              <a:defRPr sz="2775" b="1">
                <a:solidFill>
                  <a:srgbClr val="152F34"/>
                </a:solidFill>
              </a:defRPr>
            </a:lvl4pPr>
            <a:lvl5pPr>
              <a:defRPr sz="2775" b="1">
                <a:solidFill>
                  <a:srgbClr val="152F34"/>
                </a:solidFill>
              </a:defRPr>
            </a:lvl5pPr>
            <a:lvl6pPr>
              <a:defRPr sz="2775" b="1">
                <a:solidFill>
                  <a:srgbClr val="152F34"/>
                </a:solidFill>
              </a:defRPr>
            </a:lvl6pPr>
            <a:lvl7pPr>
              <a:defRPr sz="2775" b="1">
                <a:solidFill>
                  <a:srgbClr val="152F34"/>
                </a:solidFill>
              </a:defRPr>
            </a:lvl7pPr>
            <a:lvl8pPr>
              <a:defRPr sz="2775" b="1">
                <a:solidFill>
                  <a:srgbClr val="152F34"/>
                </a:solidFill>
              </a:defRPr>
            </a:lvl8pPr>
            <a:lvl9pPr>
              <a:defRPr sz="2775" b="1">
                <a:solidFill>
                  <a:srgbClr val="152F34"/>
                </a:solidFill>
              </a:defRPr>
            </a:lvl9pPr>
          </a:lstStyle>
          <a:p xmlns:a="http://schemas.openxmlformats.org/drawingml/2006/main">
            <a:pPr>
              <a:defRPr sz="2775" b="1">
                <a:solidFill>
                  <a:srgbClr val="152F34"/>
                </a:solidFill>
              </a:defRPr>
            </a:pPr>
            <a:r>
              <a:rPr sz="2775" b="1">
                <a:solidFill>
                  <a:srgbClr val="152F34"/>
                </a:solidFill>
              </a:rPr>
              <a:t>What the evidence supports today</a:t>
            </a:r>
          </a:p>
        </p:txBody>
      </p:sp>
      <p:sp>
        <p:nvSpPr>
          <p:cNvPr id="3" name="">
            <a:extLst xmlns:a="http://schemas.openxmlformats.org/drawingml/2006/main">
              <a:ext uri="{FF2B5EF4-FFF2-40B4-BE49-F238E27FC236}">
                <a16:creationId xmlns:a16="http://schemas.microsoft.com/office/drawing/2014/main" id="{7CB5703A-7759-40CF-94C4-89481271625E}"/>
              </a:ext>
            </a:extLst>
          </p:cNvPr>
          <p:cNvSpPr>
            <a:spLocks xmlns:a="http://schemas.openxmlformats.org/drawingml/2006/main" noGrp="1"/>
          </p:cNvSpPr>
          <p:nvPr/>
        </p:nvSpPr>
        <p:spPr>
          <a:xfrm xmlns:a="http://schemas.openxmlformats.org/drawingml/2006/main">
            <a:off x="647700" y="1562100"/>
            <a:ext cx="10896600" cy="19050"/>
          </a:xfrm>
          <a:prstGeom xmlns:a="http://schemas.openxmlformats.org/drawingml/2006/main" prst="rect">
            <a:avLst/>
          </a:prstGeom>
          <a:solidFill xmlns:a="http://schemas.openxmlformats.org/drawingml/2006/main">
            <a:srgbClr val="C9D5D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FF73066-8DAD-49E3-B486-86A27E0ECEFE}"/>
              </a:ext>
            </a:extLst>
          </p:cNvPr>
          <p:cNvSpPr>
            <a:spLocks xmlns:a="http://schemas.openxmlformats.org/drawingml/2006/main" noGrp="1"/>
          </p:cNvSpPr>
          <p:nvPr/>
        </p:nvSpPr>
        <p:spPr>
          <a:xfrm xmlns:a="http://schemas.openxmlformats.org/drawingml/2006/main">
            <a:off x="647700" y="6467475"/>
            <a:ext cx="6667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536A6D"/>
                </a:solidFill>
              </a:defRPr>
            </a:defPPr>
            <a:lvl1pPr>
              <a:defRPr sz="900" b="1">
                <a:solidFill>
                  <a:srgbClr val="536A6D"/>
                </a:solidFill>
              </a:defRPr>
            </a:lvl1pPr>
            <a:lvl2pPr>
              <a:defRPr sz="900" b="1">
                <a:solidFill>
                  <a:srgbClr val="536A6D"/>
                </a:solidFill>
              </a:defRPr>
            </a:lvl2pPr>
            <a:lvl3pPr>
              <a:defRPr sz="900" b="1">
                <a:solidFill>
                  <a:srgbClr val="536A6D"/>
                </a:solidFill>
              </a:defRPr>
            </a:lvl3pPr>
            <a:lvl4pPr>
              <a:defRPr sz="900" b="1">
                <a:solidFill>
                  <a:srgbClr val="536A6D"/>
                </a:solidFill>
              </a:defRPr>
            </a:lvl4pPr>
            <a:lvl5pPr>
              <a:defRPr sz="900" b="1">
                <a:solidFill>
                  <a:srgbClr val="536A6D"/>
                </a:solidFill>
              </a:defRPr>
            </a:lvl5pPr>
            <a:lvl6pPr>
              <a:defRPr sz="900" b="1">
                <a:solidFill>
                  <a:srgbClr val="536A6D"/>
                </a:solidFill>
              </a:defRPr>
            </a:lvl6pPr>
            <a:lvl7pPr>
              <a:defRPr sz="900" b="1">
                <a:solidFill>
                  <a:srgbClr val="536A6D"/>
                </a:solidFill>
              </a:defRPr>
            </a:lvl7pPr>
            <a:lvl8pPr>
              <a:defRPr sz="900" b="1">
                <a:solidFill>
                  <a:srgbClr val="536A6D"/>
                </a:solidFill>
              </a:defRPr>
            </a:lvl8pPr>
            <a:lvl9pPr>
              <a:defRPr sz="900" b="1">
                <a:solidFill>
                  <a:srgbClr val="536A6D"/>
                </a:solidFill>
              </a:defRPr>
            </a:lvl9pPr>
          </a:lstStyle>
          <a:p xmlns:a="http://schemas.openxmlformats.org/drawingml/2006/main">
            <a:pPr>
              <a:defRPr sz="900" b="1">
                <a:solidFill>
                  <a:srgbClr val="536A6D"/>
                </a:solidFill>
              </a:defRPr>
            </a:pPr>
            <a:r>
              <a:rPr sz="900" b="1">
                <a:solidFill>
                  <a:srgbClr val="536A6D"/>
                </a:solidFill>
              </a:rPr>
              <a:t>CARBONROUTE  /  REVIEW 1</a:t>
            </a:r>
          </a:p>
        </p:txBody>
      </p:sp>
      <p:sp>
        <p:nvSpPr>
          <p:cNvPr id="5" name="">
            <a:extLst xmlns:a="http://schemas.openxmlformats.org/drawingml/2006/main">
              <a:ext uri="{FF2B5EF4-FFF2-40B4-BE49-F238E27FC236}">
                <a16:creationId xmlns:a16="http://schemas.microsoft.com/office/drawing/2014/main" id="{31672983-4C67-468C-87A0-54412B10DA30}"/>
              </a:ext>
            </a:extLst>
          </p:cNvPr>
          <p:cNvSpPr>
            <a:spLocks xmlns:a="http://schemas.openxmlformats.org/drawingml/2006/main" noGrp="1"/>
          </p:cNvSpPr>
          <p:nvPr/>
        </p:nvSpPr>
        <p:spPr>
          <a:xfrm xmlns:a="http://schemas.openxmlformats.org/drawingml/2006/main">
            <a:off x="11077575" y="6448425"/>
            <a:ext cx="4476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36A6D"/>
                </a:solidFill>
              </a:defRPr>
            </a:defPPr>
            <a:lvl1pPr>
              <a:defRPr sz="975" b="1">
                <a:solidFill>
                  <a:srgbClr val="536A6D"/>
                </a:solidFill>
              </a:defRPr>
            </a:lvl1pPr>
            <a:lvl2pPr>
              <a:defRPr sz="975" b="1">
                <a:solidFill>
                  <a:srgbClr val="536A6D"/>
                </a:solidFill>
              </a:defRPr>
            </a:lvl2pPr>
            <a:lvl3pPr>
              <a:defRPr sz="975" b="1">
                <a:solidFill>
                  <a:srgbClr val="536A6D"/>
                </a:solidFill>
              </a:defRPr>
            </a:lvl3pPr>
            <a:lvl4pPr>
              <a:defRPr sz="975" b="1">
                <a:solidFill>
                  <a:srgbClr val="536A6D"/>
                </a:solidFill>
              </a:defRPr>
            </a:lvl4pPr>
            <a:lvl5pPr>
              <a:defRPr sz="975" b="1">
                <a:solidFill>
                  <a:srgbClr val="536A6D"/>
                </a:solidFill>
              </a:defRPr>
            </a:lvl5pPr>
            <a:lvl6pPr>
              <a:defRPr sz="975" b="1">
                <a:solidFill>
                  <a:srgbClr val="536A6D"/>
                </a:solidFill>
              </a:defRPr>
            </a:lvl6pPr>
            <a:lvl7pPr>
              <a:defRPr sz="975" b="1">
                <a:solidFill>
                  <a:srgbClr val="536A6D"/>
                </a:solidFill>
              </a:defRPr>
            </a:lvl7pPr>
            <a:lvl8pPr>
              <a:defRPr sz="975" b="1">
                <a:solidFill>
                  <a:srgbClr val="536A6D"/>
                </a:solidFill>
              </a:defRPr>
            </a:lvl8pPr>
            <a:lvl9pPr>
              <a:defRPr sz="975" b="1">
                <a:solidFill>
                  <a:srgbClr val="536A6D"/>
                </a:solidFill>
              </a:defRPr>
            </a:lvl9pPr>
          </a:lstStyle>
          <a:p xmlns:a="http://schemas.openxmlformats.org/drawingml/2006/main">
            <a:pPr>
              <a:defRPr sz="975" b="1">
                <a:solidFill>
                  <a:srgbClr val="536A6D"/>
                </a:solidFill>
              </a:defRPr>
            </a:pPr>
            <a:r>
              <a:rPr sz="975" b="1">
                <a:solidFill>
                  <a:srgbClr val="536A6D"/>
                </a:solidFill>
              </a:rPr>
              <a:t>13</a:t>
            </a:r>
          </a:p>
        </p:txBody>
      </p:sp>
      <p:sp>
        <p:nvSpPr>
          <p:cNvPr id="6" name="">
            <a:extLst xmlns:a="http://schemas.openxmlformats.org/drawingml/2006/main">
              <a:ext uri="{FF2B5EF4-FFF2-40B4-BE49-F238E27FC236}">
                <a16:creationId xmlns:a16="http://schemas.microsoft.com/office/drawing/2014/main" id="{35CCD288-1387-46FC-936D-72B27D84D989}"/>
              </a:ext>
            </a:extLst>
          </p:cNvPr>
          <p:cNvSpPr>
            <a:spLocks xmlns:a="http://schemas.openxmlformats.org/drawingml/2006/main" noGrp="1"/>
          </p:cNvSpPr>
          <p:nvPr/>
        </p:nvSpPr>
        <p:spPr>
          <a:xfrm xmlns:a="http://schemas.openxmlformats.org/drawingml/2006/main">
            <a:off x="742950" y="2019300"/>
            <a:ext cx="66675" cy="66675"/>
          </a:xfrm>
          <a:prstGeom xmlns:a="http://schemas.openxmlformats.org/drawingml/2006/main" prst="rect">
            <a:avLst/>
          </a:prstGeom>
          <a:solidFill xmlns:a="http://schemas.openxmlformats.org/drawingml/2006/main">
            <a:srgbClr val="007A7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F9FBCE5-8915-4661-AE3F-56CE598401E0}"/>
              </a:ext>
            </a:extLst>
          </p:cNvPr>
          <p:cNvSpPr>
            <a:spLocks xmlns:a="http://schemas.openxmlformats.org/drawingml/2006/main" noGrp="1"/>
          </p:cNvSpPr>
          <p:nvPr/>
        </p:nvSpPr>
        <p:spPr>
          <a:xfrm xmlns:a="http://schemas.openxmlformats.org/drawingml/2006/main">
            <a:off x="952500" y="1962150"/>
            <a:ext cx="10267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152F34"/>
                </a:solidFill>
              </a:defRPr>
            </a:defPPr>
            <a:lvl1pPr>
              <a:defRPr sz="1725" b="1">
                <a:solidFill>
                  <a:srgbClr val="152F34"/>
                </a:solidFill>
              </a:defRPr>
            </a:lvl1pPr>
            <a:lvl2pPr>
              <a:defRPr sz="1725" b="1">
                <a:solidFill>
                  <a:srgbClr val="152F34"/>
                </a:solidFill>
              </a:defRPr>
            </a:lvl2pPr>
            <a:lvl3pPr>
              <a:defRPr sz="1725" b="1">
                <a:solidFill>
                  <a:srgbClr val="152F34"/>
                </a:solidFill>
              </a:defRPr>
            </a:lvl3pPr>
            <a:lvl4pPr>
              <a:defRPr sz="1725" b="1">
                <a:solidFill>
                  <a:srgbClr val="152F34"/>
                </a:solidFill>
              </a:defRPr>
            </a:lvl4pPr>
            <a:lvl5pPr>
              <a:defRPr sz="1725" b="1">
                <a:solidFill>
                  <a:srgbClr val="152F34"/>
                </a:solidFill>
              </a:defRPr>
            </a:lvl5pPr>
            <a:lvl6pPr>
              <a:defRPr sz="1725" b="1">
                <a:solidFill>
                  <a:srgbClr val="152F34"/>
                </a:solidFill>
              </a:defRPr>
            </a:lvl6pPr>
            <a:lvl7pPr>
              <a:defRPr sz="1725" b="1">
                <a:solidFill>
                  <a:srgbClr val="152F34"/>
                </a:solidFill>
              </a:defRPr>
            </a:lvl7pPr>
            <a:lvl8pPr>
              <a:defRPr sz="1725" b="1">
                <a:solidFill>
                  <a:srgbClr val="152F34"/>
                </a:solidFill>
              </a:defRPr>
            </a:lvl8pPr>
            <a:lvl9pPr>
              <a:defRPr sz="1725" b="1">
                <a:solidFill>
                  <a:srgbClr val="152F34"/>
                </a:solidFill>
              </a:defRPr>
            </a:lvl9pPr>
          </a:lstStyle>
          <a:p xmlns:a="http://schemas.openxmlformats.org/drawingml/2006/main">
            <a:pPr>
              <a:defRPr sz="1725" b="1">
                <a:solidFill>
                  <a:srgbClr val="152F34"/>
                </a:solidFill>
              </a:defRPr>
            </a:pPr>
            <a:r>
              <a:rPr sz="1725" b="1">
                <a:solidFill>
                  <a:srgbClr val="152F34"/>
                </a:solidFill>
              </a:rPr>
              <a:t>Observed trade-off</a:t>
            </a:r>
          </a:p>
        </p:txBody>
      </p:sp>
      <p:sp>
        <p:nvSpPr>
          <p:cNvPr id="8" name="">
            <a:extLst xmlns:a="http://schemas.openxmlformats.org/drawingml/2006/main">
              <a:ext uri="{FF2B5EF4-FFF2-40B4-BE49-F238E27FC236}">
                <a16:creationId xmlns:a16="http://schemas.microsoft.com/office/drawing/2014/main" id="{A559502E-61D0-44E6-B031-555D34DC1B71}"/>
              </a:ext>
            </a:extLst>
          </p:cNvPr>
          <p:cNvSpPr>
            <a:spLocks xmlns:a="http://schemas.openxmlformats.org/drawingml/2006/main" noGrp="1"/>
          </p:cNvSpPr>
          <p:nvPr/>
        </p:nvSpPr>
        <p:spPr>
          <a:xfrm xmlns:a="http://schemas.openxmlformats.org/drawingml/2006/main">
            <a:off x="952500" y="2295525"/>
            <a:ext cx="10191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536A6D"/>
                </a:solidFill>
              </a:defRPr>
            </a:defPPr>
            <a:lvl1pPr>
              <a:defRPr sz="1425" b="0">
                <a:solidFill>
                  <a:srgbClr val="536A6D"/>
                </a:solidFill>
              </a:defRPr>
            </a:lvl1pPr>
            <a:lvl2pPr>
              <a:defRPr sz="1425" b="0">
                <a:solidFill>
                  <a:srgbClr val="536A6D"/>
                </a:solidFill>
              </a:defRPr>
            </a:lvl2pPr>
            <a:lvl3pPr>
              <a:defRPr sz="1425" b="0">
                <a:solidFill>
                  <a:srgbClr val="536A6D"/>
                </a:solidFill>
              </a:defRPr>
            </a:lvl3pPr>
            <a:lvl4pPr>
              <a:defRPr sz="1425" b="0">
                <a:solidFill>
                  <a:srgbClr val="536A6D"/>
                </a:solidFill>
              </a:defRPr>
            </a:lvl4pPr>
            <a:lvl5pPr>
              <a:defRPr sz="1425" b="0">
                <a:solidFill>
                  <a:srgbClr val="536A6D"/>
                </a:solidFill>
              </a:defRPr>
            </a:lvl5pPr>
            <a:lvl6pPr>
              <a:defRPr sz="1425" b="0">
                <a:solidFill>
                  <a:srgbClr val="536A6D"/>
                </a:solidFill>
              </a:defRPr>
            </a:lvl6pPr>
            <a:lvl7pPr>
              <a:defRPr sz="1425" b="0">
                <a:solidFill>
                  <a:srgbClr val="536A6D"/>
                </a:solidFill>
              </a:defRPr>
            </a:lvl7pPr>
            <a:lvl8pPr>
              <a:defRPr sz="1425" b="0">
                <a:solidFill>
                  <a:srgbClr val="536A6D"/>
                </a:solidFill>
              </a:defRPr>
            </a:lvl8pPr>
            <a:lvl9pPr>
              <a:defRPr sz="1425" b="0">
                <a:solidFill>
                  <a:srgbClr val="536A6D"/>
                </a:solidFill>
              </a:defRPr>
            </a:lvl9pPr>
          </a:lstStyle>
          <a:p xmlns:a="http://schemas.openxmlformats.org/drawingml/2006/main">
            <a:pPr>
              <a:defRPr sz="1425" b="0">
                <a:solidFill>
                  <a:srgbClr val="536A6D"/>
                </a:solidFill>
              </a:defRPr>
            </a:pPr>
            <a:r>
              <a:rPr sz="1425" b="0">
                <a:solidFill>
                  <a:srgbClr val="536A6D"/>
                </a:solidFill>
              </a:rPr>
              <a:t>Joint routing improves the comparative carbon score; guarded greedy routing reduces overload in the lagged congested replay.</a:t>
            </a:r>
          </a:p>
        </p:txBody>
      </p:sp>
      <p:sp>
        <p:nvSpPr>
          <p:cNvPr id="9" name="">
            <a:extLst xmlns:a="http://schemas.openxmlformats.org/drawingml/2006/main">
              <a:ext uri="{FF2B5EF4-FFF2-40B4-BE49-F238E27FC236}">
                <a16:creationId xmlns:a16="http://schemas.microsoft.com/office/drawing/2014/main" id="{C17434DF-4E32-42BA-8957-7AAAF5A4BA18}"/>
              </a:ext>
            </a:extLst>
          </p:cNvPr>
          <p:cNvSpPr>
            <a:spLocks xmlns:a="http://schemas.openxmlformats.org/drawingml/2006/main" noGrp="1"/>
          </p:cNvSpPr>
          <p:nvPr/>
        </p:nvSpPr>
        <p:spPr>
          <a:xfrm xmlns:a="http://schemas.openxmlformats.org/drawingml/2006/main">
            <a:off x="742950" y="3219450"/>
            <a:ext cx="66675" cy="66675"/>
          </a:xfrm>
          <a:prstGeom xmlns:a="http://schemas.openxmlformats.org/drawingml/2006/main" prst="rect">
            <a:avLst/>
          </a:prstGeom>
          <a:solidFill xmlns:a="http://schemas.openxmlformats.org/drawingml/2006/main">
            <a:srgbClr val="007A7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4230155-7E10-4DF4-B295-2E9763C39DF1}"/>
              </a:ext>
            </a:extLst>
          </p:cNvPr>
          <p:cNvSpPr>
            <a:spLocks xmlns:a="http://schemas.openxmlformats.org/drawingml/2006/main" noGrp="1"/>
          </p:cNvSpPr>
          <p:nvPr/>
        </p:nvSpPr>
        <p:spPr>
          <a:xfrm xmlns:a="http://schemas.openxmlformats.org/drawingml/2006/main">
            <a:off x="952500" y="3162300"/>
            <a:ext cx="10267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152F34"/>
                </a:solidFill>
              </a:defRPr>
            </a:defPPr>
            <a:lvl1pPr>
              <a:defRPr sz="1725" b="1">
                <a:solidFill>
                  <a:srgbClr val="152F34"/>
                </a:solidFill>
              </a:defRPr>
            </a:lvl1pPr>
            <a:lvl2pPr>
              <a:defRPr sz="1725" b="1">
                <a:solidFill>
                  <a:srgbClr val="152F34"/>
                </a:solidFill>
              </a:defRPr>
            </a:lvl2pPr>
            <a:lvl3pPr>
              <a:defRPr sz="1725" b="1">
                <a:solidFill>
                  <a:srgbClr val="152F34"/>
                </a:solidFill>
              </a:defRPr>
            </a:lvl3pPr>
            <a:lvl4pPr>
              <a:defRPr sz="1725" b="1">
                <a:solidFill>
                  <a:srgbClr val="152F34"/>
                </a:solidFill>
              </a:defRPr>
            </a:lvl4pPr>
            <a:lvl5pPr>
              <a:defRPr sz="1725" b="1">
                <a:solidFill>
                  <a:srgbClr val="152F34"/>
                </a:solidFill>
              </a:defRPr>
            </a:lvl5pPr>
            <a:lvl6pPr>
              <a:defRPr sz="1725" b="1">
                <a:solidFill>
                  <a:srgbClr val="152F34"/>
                </a:solidFill>
              </a:defRPr>
            </a:lvl6pPr>
            <a:lvl7pPr>
              <a:defRPr sz="1725" b="1">
                <a:solidFill>
                  <a:srgbClr val="152F34"/>
                </a:solidFill>
              </a:defRPr>
            </a:lvl7pPr>
            <a:lvl8pPr>
              <a:defRPr sz="1725" b="1">
                <a:solidFill>
                  <a:srgbClr val="152F34"/>
                </a:solidFill>
              </a:defRPr>
            </a:lvl8pPr>
            <a:lvl9pPr>
              <a:defRPr sz="1725" b="1">
                <a:solidFill>
                  <a:srgbClr val="152F34"/>
                </a:solidFill>
              </a:defRPr>
            </a:lvl9pPr>
          </a:lstStyle>
          <a:p xmlns:a="http://schemas.openxmlformats.org/drawingml/2006/main">
            <a:pPr>
              <a:defRPr sz="1725" b="1">
                <a:solidFill>
                  <a:srgbClr val="152F34"/>
                </a:solidFill>
              </a:defRPr>
            </a:pPr>
            <a:r>
              <a:rPr sz="1725" b="1">
                <a:solidFill>
                  <a:srgbClr val="152F34"/>
                </a:solidFill>
              </a:rPr>
              <a:t>A negative ML finding</a:t>
            </a:r>
          </a:p>
        </p:txBody>
      </p:sp>
      <p:sp>
        <p:nvSpPr>
          <p:cNvPr id="11" name="">
            <a:extLst xmlns:a="http://schemas.openxmlformats.org/drawingml/2006/main">
              <a:ext uri="{FF2B5EF4-FFF2-40B4-BE49-F238E27FC236}">
                <a16:creationId xmlns:a16="http://schemas.microsoft.com/office/drawing/2014/main" id="{29870E47-5241-42A7-AFDB-760C05BB1FCA}"/>
              </a:ext>
            </a:extLst>
          </p:cNvPr>
          <p:cNvSpPr>
            <a:spLocks xmlns:a="http://schemas.openxmlformats.org/drawingml/2006/main" noGrp="1"/>
          </p:cNvSpPr>
          <p:nvPr/>
        </p:nvSpPr>
        <p:spPr>
          <a:xfrm xmlns:a="http://schemas.openxmlformats.org/drawingml/2006/main">
            <a:off x="952500" y="3495675"/>
            <a:ext cx="10191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536A6D"/>
                </a:solidFill>
              </a:defRPr>
            </a:defPPr>
            <a:lvl1pPr>
              <a:defRPr sz="1425" b="0">
                <a:solidFill>
                  <a:srgbClr val="536A6D"/>
                </a:solidFill>
              </a:defRPr>
            </a:lvl1pPr>
            <a:lvl2pPr>
              <a:defRPr sz="1425" b="0">
                <a:solidFill>
                  <a:srgbClr val="536A6D"/>
                </a:solidFill>
              </a:defRPr>
            </a:lvl2pPr>
            <a:lvl3pPr>
              <a:defRPr sz="1425" b="0">
                <a:solidFill>
                  <a:srgbClr val="536A6D"/>
                </a:solidFill>
              </a:defRPr>
            </a:lvl3pPr>
            <a:lvl4pPr>
              <a:defRPr sz="1425" b="0">
                <a:solidFill>
                  <a:srgbClr val="536A6D"/>
                </a:solidFill>
              </a:defRPr>
            </a:lvl4pPr>
            <a:lvl5pPr>
              <a:defRPr sz="1425" b="0">
                <a:solidFill>
                  <a:srgbClr val="536A6D"/>
                </a:solidFill>
              </a:defRPr>
            </a:lvl5pPr>
            <a:lvl6pPr>
              <a:defRPr sz="1425" b="0">
                <a:solidFill>
                  <a:srgbClr val="536A6D"/>
                </a:solidFill>
              </a:defRPr>
            </a:lvl6pPr>
            <a:lvl7pPr>
              <a:defRPr sz="1425" b="0">
                <a:solidFill>
                  <a:srgbClr val="536A6D"/>
                </a:solidFill>
              </a:defRPr>
            </a:lvl7pPr>
            <a:lvl8pPr>
              <a:defRPr sz="1425" b="0">
                <a:solidFill>
                  <a:srgbClr val="536A6D"/>
                </a:solidFill>
              </a:defRPr>
            </a:lvl8pPr>
            <a:lvl9pPr>
              <a:defRPr sz="1425" b="0">
                <a:solidFill>
                  <a:srgbClr val="536A6D"/>
                </a:solidFill>
              </a:defRPr>
            </a:lvl9pPr>
          </a:lstStyle>
          <a:p xmlns:a="http://schemas.openxmlformats.org/drawingml/2006/main">
            <a:pPr>
              <a:defRPr sz="1425" b="0">
                <a:solidFill>
                  <a:srgbClr val="536A6D"/>
                </a:solidFill>
              </a:defRPr>
            </a:pPr>
            <a:r>
              <a:rPr sz="1425" b="0">
                <a:solidFill>
                  <a:srgbClr val="536A6D"/>
                </a:solidFill>
              </a:rPr>
              <a:t>The GCN–GRU does not beat GRU or persistence in mean demand forecast error on this small topology.</a:t>
            </a:r>
          </a:p>
        </p:txBody>
      </p:sp>
      <p:sp>
        <p:nvSpPr>
          <p:cNvPr id="12" name="">
            <a:extLst xmlns:a="http://schemas.openxmlformats.org/drawingml/2006/main">
              <a:ext uri="{FF2B5EF4-FFF2-40B4-BE49-F238E27FC236}">
                <a16:creationId xmlns:a16="http://schemas.microsoft.com/office/drawing/2014/main" id="{B39A2C83-4DB5-4C90-8ED7-01B12E9C7435}"/>
              </a:ext>
            </a:extLst>
          </p:cNvPr>
          <p:cNvSpPr>
            <a:spLocks xmlns:a="http://schemas.openxmlformats.org/drawingml/2006/main" noGrp="1"/>
          </p:cNvSpPr>
          <p:nvPr/>
        </p:nvSpPr>
        <p:spPr>
          <a:xfrm xmlns:a="http://schemas.openxmlformats.org/drawingml/2006/main">
            <a:off x="742950" y="4419600"/>
            <a:ext cx="66675" cy="66675"/>
          </a:xfrm>
          <a:prstGeom xmlns:a="http://schemas.openxmlformats.org/drawingml/2006/main" prst="rect">
            <a:avLst/>
          </a:prstGeom>
          <a:solidFill xmlns:a="http://schemas.openxmlformats.org/drawingml/2006/main">
            <a:srgbClr val="007A7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2692694-B5B3-4544-8088-1BC213DA0A09}"/>
              </a:ext>
            </a:extLst>
          </p:cNvPr>
          <p:cNvSpPr>
            <a:spLocks xmlns:a="http://schemas.openxmlformats.org/drawingml/2006/main" noGrp="1"/>
          </p:cNvSpPr>
          <p:nvPr/>
        </p:nvSpPr>
        <p:spPr>
          <a:xfrm xmlns:a="http://schemas.openxmlformats.org/drawingml/2006/main">
            <a:off x="952500" y="4362450"/>
            <a:ext cx="10267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b="1">
                <a:solidFill>
                  <a:srgbClr val="152F34"/>
                </a:solidFill>
              </a:defRPr>
            </a:defPPr>
            <a:lvl1pPr>
              <a:defRPr sz="1725" b="1">
                <a:solidFill>
                  <a:srgbClr val="152F34"/>
                </a:solidFill>
              </a:defRPr>
            </a:lvl1pPr>
            <a:lvl2pPr>
              <a:defRPr sz="1725" b="1">
                <a:solidFill>
                  <a:srgbClr val="152F34"/>
                </a:solidFill>
              </a:defRPr>
            </a:lvl2pPr>
            <a:lvl3pPr>
              <a:defRPr sz="1725" b="1">
                <a:solidFill>
                  <a:srgbClr val="152F34"/>
                </a:solidFill>
              </a:defRPr>
            </a:lvl3pPr>
            <a:lvl4pPr>
              <a:defRPr sz="1725" b="1">
                <a:solidFill>
                  <a:srgbClr val="152F34"/>
                </a:solidFill>
              </a:defRPr>
            </a:lvl4pPr>
            <a:lvl5pPr>
              <a:defRPr sz="1725" b="1">
                <a:solidFill>
                  <a:srgbClr val="152F34"/>
                </a:solidFill>
              </a:defRPr>
            </a:lvl5pPr>
            <a:lvl6pPr>
              <a:defRPr sz="1725" b="1">
                <a:solidFill>
                  <a:srgbClr val="152F34"/>
                </a:solidFill>
              </a:defRPr>
            </a:lvl6pPr>
            <a:lvl7pPr>
              <a:defRPr sz="1725" b="1">
                <a:solidFill>
                  <a:srgbClr val="152F34"/>
                </a:solidFill>
              </a:defRPr>
            </a:lvl7pPr>
            <a:lvl8pPr>
              <a:defRPr sz="1725" b="1">
                <a:solidFill>
                  <a:srgbClr val="152F34"/>
                </a:solidFill>
              </a:defRPr>
            </a:lvl8pPr>
            <a:lvl9pPr>
              <a:defRPr sz="1725" b="1">
                <a:solidFill>
                  <a:srgbClr val="152F34"/>
                </a:solidFill>
              </a:defRPr>
            </a:lvl9pPr>
          </a:lstStyle>
          <a:p xmlns:a="http://schemas.openxmlformats.org/drawingml/2006/main">
            <a:pPr>
              <a:defRPr sz="1725" b="1">
                <a:solidFill>
                  <a:srgbClr val="152F34"/>
                </a:solidFill>
              </a:defRPr>
            </a:pPr>
            <a:r>
              <a:rPr sz="1725" b="1">
                <a:solidFill>
                  <a:srgbClr val="152F34"/>
                </a:solidFill>
              </a:rPr>
              <a:t>The limits of this evidence</a:t>
            </a:r>
          </a:p>
        </p:txBody>
      </p:sp>
      <p:sp>
        <p:nvSpPr>
          <p:cNvPr id="14" name="">
            <a:extLst xmlns:a="http://schemas.openxmlformats.org/drawingml/2006/main">
              <a:ext uri="{FF2B5EF4-FFF2-40B4-BE49-F238E27FC236}">
                <a16:creationId xmlns:a16="http://schemas.microsoft.com/office/drawing/2014/main" id="{88FB243E-C3B8-434F-BABF-2C1FFDD25463}"/>
              </a:ext>
            </a:extLst>
          </p:cNvPr>
          <p:cNvSpPr>
            <a:spLocks xmlns:a="http://schemas.openxmlformats.org/drawingml/2006/main" noGrp="1"/>
          </p:cNvSpPr>
          <p:nvPr/>
        </p:nvSpPr>
        <p:spPr>
          <a:xfrm xmlns:a="http://schemas.openxmlformats.org/drawingml/2006/main">
            <a:off x="952500" y="4695825"/>
            <a:ext cx="10191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536A6D"/>
                </a:solidFill>
              </a:defRPr>
            </a:defPPr>
            <a:lvl1pPr>
              <a:defRPr sz="1425" b="0">
                <a:solidFill>
                  <a:srgbClr val="536A6D"/>
                </a:solidFill>
              </a:defRPr>
            </a:lvl1pPr>
            <a:lvl2pPr>
              <a:defRPr sz="1425" b="0">
                <a:solidFill>
                  <a:srgbClr val="536A6D"/>
                </a:solidFill>
              </a:defRPr>
            </a:lvl2pPr>
            <a:lvl3pPr>
              <a:defRPr sz="1425" b="0">
                <a:solidFill>
                  <a:srgbClr val="536A6D"/>
                </a:solidFill>
              </a:defRPr>
            </a:lvl3pPr>
            <a:lvl4pPr>
              <a:defRPr sz="1425" b="0">
                <a:solidFill>
                  <a:srgbClr val="536A6D"/>
                </a:solidFill>
              </a:defRPr>
            </a:lvl4pPr>
            <a:lvl5pPr>
              <a:defRPr sz="1425" b="0">
                <a:solidFill>
                  <a:srgbClr val="536A6D"/>
                </a:solidFill>
              </a:defRPr>
            </a:lvl5pPr>
            <a:lvl6pPr>
              <a:defRPr sz="1425" b="0">
                <a:solidFill>
                  <a:srgbClr val="536A6D"/>
                </a:solidFill>
              </a:defRPr>
            </a:lvl6pPr>
            <a:lvl7pPr>
              <a:defRPr sz="1425" b="0">
                <a:solidFill>
                  <a:srgbClr val="536A6D"/>
                </a:solidFill>
              </a:defRPr>
            </a:lvl7pPr>
            <a:lvl8pPr>
              <a:defRPr sz="1425" b="0">
                <a:solidFill>
                  <a:srgbClr val="536A6D"/>
                </a:solidFill>
              </a:defRPr>
            </a:lvl8pPr>
            <a:lvl9pPr>
              <a:defRPr sz="1425" b="0">
                <a:solidFill>
                  <a:srgbClr val="536A6D"/>
                </a:solidFill>
              </a:defRPr>
            </a:lvl9pPr>
          </a:lstStyle>
          <a:p xmlns:a="http://schemas.openxmlformats.org/drawingml/2006/main">
            <a:pPr>
              <a:defRPr sz="1425" b="0">
                <a:solidFill>
                  <a:srgbClr val="536A6D"/>
                </a:solidFill>
              </a:defRPr>
            </a:pPr>
            <a:r>
              <a:rPr sz="1425" b="0">
                <a:solidFill>
                  <a:srgbClr val="536A6D"/>
                </a:solidFill>
              </a:rPr>
              <a:t>The traffic days are few and reused; 2005 traffic is paired with later grid data; the simulator does not measure packet latency or actual CO₂.</a:t>
            </a:r>
          </a:p>
        </p:txBody>
      </p:sp>
    </p:spTree>
    <p:extLst>
      <p:ext uri="{BB962C8B-B14F-4D97-AF65-F5344CB8AC3E}">
        <p14:creationId xmlns:p14="http://schemas.microsoft.com/office/powerpoint/2010/main" val="414009632"/>
      </p:ext>
    </p:extLst>
  </p:cSld>
</p:sld>
</file>

<file path=ppt/slides/slide14.xml><?xml version="1.0" encoding="utf-8"?>
<p:sld xmlns:p="http://schemas.openxmlformats.org/presentationml/2006/main">
  <p:cSld>
    <p:bg>
      <p:bgPr>
        <a:solidFill xmlns:a="http://schemas.openxmlformats.org/drawingml/2006/main">
          <a:srgbClr val="103239"/>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69AD176-0F7A-483D-B933-23BA9A6C2427}"/>
              </a:ext>
            </a:extLst>
          </p:cNvPr>
          <p:cNvSpPr>
            <a:spLocks xmlns:a="http://schemas.openxmlformats.org/drawingml/2006/main" noGrp="1"/>
          </p:cNvSpPr>
          <p:nvPr/>
        </p:nvSpPr>
        <p:spPr>
          <a:xfrm xmlns:a="http://schemas.openxmlformats.org/drawingml/2006/main">
            <a:off x="647700" y="30480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A9DCD4"/>
                </a:solidFill>
              </a:defRPr>
            </a:defPPr>
            <a:lvl1pPr>
              <a:defRPr sz="1050" b="1">
                <a:solidFill>
                  <a:srgbClr val="A9DCD4"/>
                </a:solidFill>
              </a:defRPr>
            </a:lvl1pPr>
            <a:lvl2pPr>
              <a:defRPr sz="1050" b="1">
                <a:solidFill>
                  <a:srgbClr val="A9DCD4"/>
                </a:solidFill>
              </a:defRPr>
            </a:lvl2pPr>
            <a:lvl3pPr>
              <a:defRPr sz="1050" b="1">
                <a:solidFill>
                  <a:srgbClr val="A9DCD4"/>
                </a:solidFill>
              </a:defRPr>
            </a:lvl3pPr>
            <a:lvl4pPr>
              <a:defRPr sz="1050" b="1">
                <a:solidFill>
                  <a:srgbClr val="A9DCD4"/>
                </a:solidFill>
              </a:defRPr>
            </a:lvl4pPr>
            <a:lvl5pPr>
              <a:defRPr sz="1050" b="1">
                <a:solidFill>
                  <a:srgbClr val="A9DCD4"/>
                </a:solidFill>
              </a:defRPr>
            </a:lvl5pPr>
            <a:lvl6pPr>
              <a:defRPr sz="1050" b="1">
                <a:solidFill>
                  <a:srgbClr val="A9DCD4"/>
                </a:solidFill>
              </a:defRPr>
            </a:lvl6pPr>
            <a:lvl7pPr>
              <a:defRPr sz="1050" b="1">
                <a:solidFill>
                  <a:srgbClr val="A9DCD4"/>
                </a:solidFill>
              </a:defRPr>
            </a:lvl7pPr>
            <a:lvl8pPr>
              <a:defRPr sz="1050" b="1">
                <a:solidFill>
                  <a:srgbClr val="A9DCD4"/>
                </a:solidFill>
              </a:defRPr>
            </a:lvl8pPr>
            <a:lvl9pPr>
              <a:defRPr sz="1050" b="1">
                <a:solidFill>
                  <a:srgbClr val="A9DCD4"/>
                </a:solidFill>
              </a:defRPr>
            </a:lvl9pPr>
          </a:lstStyle>
          <a:p xmlns:a="http://schemas.openxmlformats.org/drawingml/2006/main">
            <a:pPr>
              <a:defRPr sz="1050" b="1">
                <a:solidFill>
                  <a:srgbClr val="A9DCD4"/>
                </a:solidFill>
              </a:defRPr>
            </a:pPr>
            <a:r>
              <a:rPr sz="1050" b="1">
                <a:solidFill>
                  <a:srgbClr val="A9DCD4"/>
                </a:solidFill>
              </a:rPr>
              <a:t>LIVE DEMONSTRATION</a:t>
            </a:r>
          </a:p>
        </p:txBody>
      </p:sp>
      <p:sp>
        <p:nvSpPr>
          <p:cNvPr id="2" name="">
            <a:extLst xmlns:a="http://schemas.openxmlformats.org/drawingml/2006/main">
              <a:ext uri="{FF2B5EF4-FFF2-40B4-BE49-F238E27FC236}">
                <a16:creationId xmlns:a16="http://schemas.microsoft.com/office/drawing/2014/main" id="{5EFBFC0C-BDC8-4630-9AD2-B14D29777438}"/>
              </a:ext>
            </a:extLst>
          </p:cNvPr>
          <p:cNvSpPr>
            <a:spLocks xmlns:a="http://schemas.openxmlformats.org/drawingml/2006/main" noGrp="1"/>
          </p:cNvSpPr>
          <p:nvPr/>
        </p:nvSpPr>
        <p:spPr>
          <a:xfrm xmlns:a="http://schemas.openxmlformats.org/drawingml/2006/main">
            <a:off x="647700" y="723900"/>
            <a:ext cx="10763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FFFFFF"/>
                </a:solidFill>
              </a:defRPr>
            </a:defPPr>
            <a:lvl1pPr>
              <a:defRPr sz="2775" b="1">
                <a:solidFill>
                  <a:srgbClr val="FFFFFF"/>
                </a:solidFill>
              </a:defRPr>
            </a:lvl1pPr>
            <a:lvl2pPr>
              <a:defRPr sz="2775" b="1">
                <a:solidFill>
                  <a:srgbClr val="FFFFFF"/>
                </a:solidFill>
              </a:defRPr>
            </a:lvl2pPr>
            <a:lvl3pPr>
              <a:defRPr sz="2775" b="1">
                <a:solidFill>
                  <a:srgbClr val="FFFFFF"/>
                </a:solidFill>
              </a:defRPr>
            </a:lvl3pPr>
            <a:lvl4pPr>
              <a:defRPr sz="2775" b="1">
                <a:solidFill>
                  <a:srgbClr val="FFFFFF"/>
                </a:solidFill>
              </a:defRPr>
            </a:lvl4pPr>
            <a:lvl5pPr>
              <a:defRPr sz="2775" b="1">
                <a:solidFill>
                  <a:srgbClr val="FFFFFF"/>
                </a:solidFill>
              </a:defRPr>
            </a:lvl5pPr>
            <a:lvl6pPr>
              <a:defRPr sz="2775" b="1">
                <a:solidFill>
                  <a:srgbClr val="FFFFFF"/>
                </a:solidFill>
              </a:defRPr>
            </a:lvl6pPr>
            <a:lvl7pPr>
              <a:defRPr sz="2775" b="1">
                <a:solidFill>
                  <a:srgbClr val="FFFFFF"/>
                </a:solidFill>
              </a:defRPr>
            </a:lvl7pPr>
            <a:lvl8pPr>
              <a:defRPr sz="2775" b="1">
                <a:solidFill>
                  <a:srgbClr val="FFFFFF"/>
                </a:solidFill>
              </a:defRPr>
            </a:lvl8pPr>
            <a:lvl9pPr>
              <a:defRPr sz="2775" b="1">
                <a:solidFill>
                  <a:srgbClr val="FFFFFF"/>
                </a:solidFill>
              </a:defRPr>
            </a:lvl9pPr>
          </a:lstStyle>
          <a:p xmlns:a="http://schemas.openxmlformats.org/drawingml/2006/main">
            <a:pPr>
              <a:defRPr sz="2775" b="1">
                <a:solidFill>
                  <a:srgbClr val="FFFFFF"/>
                </a:solidFill>
              </a:defRPr>
            </a:pPr>
            <a:r>
              <a:rPr sz="2775" b="1">
                <a:solidFill>
                  <a:srgbClr val="FFFFFF"/>
                </a:solidFill>
              </a:rPr>
              <a:t>Use the dashboard to show one decision unfolding</a:t>
            </a:r>
          </a:p>
        </p:txBody>
      </p:sp>
      <p:sp>
        <p:nvSpPr>
          <p:cNvPr id="3" name="">
            <a:extLst xmlns:a="http://schemas.openxmlformats.org/drawingml/2006/main">
              <a:ext uri="{FF2B5EF4-FFF2-40B4-BE49-F238E27FC236}">
                <a16:creationId xmlns:a16="http://schemas.microsoft.com/office/drawing/2014/main" id="{BC2E8D1E-B88E-4B54-A846-1051E253E187}"/>
              </a:ext>
            </a:extLst>
          </p:cNvPr>
          <p:cNvSpPr>
            <a:spLocks xmlns:a="http://schemas.openxmlformats.org/drawingml/2006/main" noGrp="1"/>
          </p:cNvSpPr>
          <p:nvPr/>
        </p:nvSpPr>
        <p:spPr>
          <a:xfrm xmlns:a="http://schemas.openxmlformats.org/drawingml/2006/main">
            <a:off x="647700" y="1562100"/>
            <a:ext cx="10896600" cy="19050"/>
          </a:xfrm>
          <a:prstGeom xmlns:a="http://schemas.openxmlformats.org/drawingml/2006/main" prst="rect">
            <a:avLst/>
          </a:prstGeom>
          <a:solidFill xmlns:a="http://schemas.openxmlformats.org/drawingml/2006/main">
            <a:srgbClr val="A9DCD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C96F862-A423-42BA-A600-8AB3F3E58FB8}"/>
              </a:ext>
            </a:extLst>
          </p:cNvPr>
          <p:cNvSpPr>
            <a:spLocks xmlns:a="http://schemas.openxmlformats.org/drawingml/2006/main" noGrp="1"/>
          </p:cNvSpPr>
          <p:nvPr/>
        </p:nvSpPr>
        <p:spPr>
          <a:xfrm xmlns:a="http://schemas.openxmlformats.org/drawingml/2006/main">
            <a:off x="647700" y="6467475"/>
            <a:ext cx="6667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A9DCD4"/>
                </a:solidFill>
              </a:defRPr>
            </a:defPPr>
            <a:lvl1pPr>
              <a:defRPr sz="900" b="1">
                <a:solidFill>
                  <a:srgbClr val="A9DCD4"/>
                </a:solidFill>
              </a:defRPr>
            </a:lvl1pPr>
            <a:lvl2pPr>
              <a:defRPr sz="900" b="1">
                <a:solidFill>
                  <a:srgbClr val="A9DCD4"/>
                </a:solidFill>
              </a:defRPr>
            </a:lvl2pPr>
            <a:lvl3pPr>
              <a:defRPr sz="900" b="1">
                <a:solidFill>
                  <a:srgbClr val="A9DCD4"/>
                </a:solidFill>
              </a:defRPr>
            </a:lvl3pPr>
            <a:lvl4pPr>
              <a:defRPr sz="900" b="1">
                <a:solidFill>
                  <a:srgbClr val="A9DCD4"/>
                </a:solidFill>
              </a:defRPr>
            </a:lvl4pPr>
            <a:lvl5pPr>
              <a:defRPr sz="900" b="1">
                <a:solidFill>
                  <a:srgbClr val="A9DCD4"/>
                </a:solidFill>
              </a:defRPr>
            </a:lvl5pPr>
            <a:lvl6pPr>
              <a:defRPr sz="900" b="1">
                <a:solidFill>
                  <a:srgbClr val="A9DCD4"/>
                </a:solidFill>
              </a:defRPr>
            </a:lvl6pPr>
            <a:lvl7pPr>
              <a:defRPr sz="900" b="1">
                <a:solidFill>
                  <a:srgbClr val="A9DCD4"/>
                </a:solidFill>
              </a:defRPr>
            </a:lvl7pPr>
            <a:lvl8pPr>
              <a:defRPr sz="900" b="1">
                <a:solidFill>
                  <a:srgbClr val="A9DCD4"/>
                </a:solidFill>
              </a:defRPr>
            </a:lvl8pPr>
            <a:lvl9pPr>
              <a:defRPr sz="900" b="1">
                <a:solidFill>
                  <a:srgbClr val="A9DCD4"/>
                </a:solidFill>
              </a:defRPr>
            </a:lvl9pPr>
          </a:lstStyle>
          <a:p xmlns:a="http://schemas.openxmlformats.org/drawingml/2006/main">
            <a:pPr>
              <a:defRPr sz="900" b="1">
                <a:solidFill>
                  <a:srgbClr val="A9DCD4"/>
                </a:solidFill>
              </a:defRPr>
            </a:pPr>
            <a:r>
              <a:rPr sz="900" b="1">
                <a:solidFill>
                  <a:srgbClr val="A9DCD4"/>
                </a:solidFill>
              </a:rPr>
              <a:t>CARBONROUTE  /  REVIEW 1</a:t>
            </a:r>
          </a:p>
        </p:txBody>
      </p:sp>
      <p:sp>
        <p:nvSpPr>
          <p:cNvPr id="5" name="">
            <a:extLst xmlns:a="http://schemas.openxmlformats.org/drawingml/2006/main">
              <a:ext uri="{FF2B5EF4-FFF2-40B4-BE49-F238E27FC236}">
                <a16:creationId xmlns:a16="http://schemas.microsoft.com/office/drawing/2014/main" id="{AD845EA2-B81D-4E01-A9C4-5DD6D3EEC134}"/>
              </a:ext>
            </a:extLst>
          </p:cNvPr>
          <p:cNvSpPr>
            <a:spLocks xmlns:a="http://schemas.openxmlformats.org/drawingml/2006/main" noGrp="1"/>
          </p:cNvSpPr>
          <p:nvPr/>
        </p:nvSpPr>
        <p:spPr>
          <a:xfrm xmlns:a="http://schemas.openxmlformats.org/drawingml/2006/main">
            <a:off x="11077575" y="6448425"/>
            <a:ext cx="4476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A9DCD4"/>
                </a:solidFill>
              </a:defRPr>
            </a:defPPr>
            <a:lvl1pPr>
              <a:defRPr sz="975" b="1">
                <a:solidFill>
                  <a:srgbClr val="A9DCD4"/>
                </a:solidFill>
              </a:defRPr>
            </a:lvl1pPr>
            <a:lvl2pPr>
              <a:defRPr sz="975" b="1">
                <a:solidFill>
                  <a:srgbClr val="A9DCD4"/>
                </a:solidFill>
              </a:defRPr>
            </a:lvl2pPr>
            <a:lvl3pPr>
              <a:defRPr sz="975" b="1">
                <a:solidFill>
                  <a:srgbClr val="A9DCD4"/>
                </a:solidFill>
              </a:defRPr>
            </a:lvl3pPr>
            <a:lvl4pPr>
              <a:defRPr sz="975" b="1">
                <a:solidFill>
                  <a:srgbClr val="A9DCD4"/>
                </a:solidFill>
              </a:defRPr>
            </a:lvl4pPr>
            <a:lvl5pPr>
              <a:defRPr sz="975" b="1">
                <a:solidFill>
                  <a:srgbClr val="A9DCD4"/>
                </a:solidFill>
              </a:defRPr>
            </a:lvl5pPr>
            <a:lvl6pPr>
              <a:defRPr sz="975" b="1">
                <a:solidFill>
                  <a:srgbClr val="A9DCD4"/>
                </a:solidFill>
              </a:defRPr>
            </a:lvl6pPr>
            <a:lvl7pPr>
              <a:defRPr sz="975" b="1">
                <a:solidFill>
                  <a:srgbClr val="A9DCD4"/>
                </a:solidFill>
              </a:defRPr>
            </a:lvl7pPr>
            <a:lvl8pPr>
              <a:defRPr sz="975" b="1">
                <a:solidFill>
                  <a:srgbClr val="A9DCD4"/>
                </a:solidFill>
              </a:defRPr>
            </a:lvl8pPr>
            <a:lvl9pPr>
              <a:defRPr sz="975" b="1">
                <a:solidFill>
                  <a:srgbClr val="A9DCD4"/>
                </a:solidFill>
              </a:defRPr>
            </a:lvl9pPr>
          </a:lstStyle>
          <a:p xmlns:a="http://schemas.openxmlformats.org/drawingml/2006/main">
            <a:pPr>
              <a:defRPr sz="975" b="1">
                <a:solidFill>
                  <a:srgbClr val="A9DCD4"/>
                </a:solidFill>
              </a:defRPr>
            </a:pPr>
            <a:r>
              <a:rPr sz="975" b="1">
                <a:solidFill>
                  <a:srgbClr val="A9DCD4"/>
                </a:solidFill>
              </a:rPr>
              <a:t>14</a:t>
            </a:r>
          </a:p>
        </p:txBody>
      </p:sp>
      <p:sp>
        <p:nvSpPr>
          <p:cNvPr id="6" name="">
            <a:extLst xmlns:a="http://schemas.openxmlformats.org/drawingml/2006/main">
              <a:ext uri="{FF2B5EF4-FFF2-40B4-BE49-F238E27FC236}">
                <a16:creationId xmlns:a16="http://schemas.microsoft.com/office/drawing/2014/main" id="{DBB0C77D-E26C-4988-A52A-5030AFCE3B86}"/>
              </a:ext>
            </a:extLst>
          </p:cNvPr>
          <p:cNvSpPr>
            <a:spLocks xmlns:a="http://schemas.openxmlformats.org/drawingml/2006/main" noGrp="1"/>
          </p:cNvSpPr>
          <p:nvPr/>
        </p:nvSpPr>
        <p:spPr>
          <a:xfrm xmlns:a="http://schemas.openxmlformats.org/drawingml/2006/main">
            <a:off x="762000" y="1990725"/>
            <a:ext cx="71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75" b="1">
                <a:solidFill>
                  <a:srgbClr val="A9DCD4"/>
                </a:solidFill>
              </a:defRPr>
            </a:defPPr>
            <a:lvl1pPr>
              <a:defRPr sz="3075" b="1">
                <a:solidFill>
                  <a:srgbClr val="A9DCD4"/>
                </a:solidFill>
              </a:defRPr>
            </a:lvl1pPr>
            <a:lvl2pPr>
              <a:defRPr sz="3075" b="1">
                <a:solidFill>
                  <a:srgbClr val="A9DCD4"/>
                </a:solidFill>
              </a:defRPr>
            </a:lvl2pPr>
            <a:lvl3pPr>
              <a:defRPr sz="3075" b="1">
                <a:solidFill>
                  <a:srgbClr val="A9DCD4"/>
                </a:solidFill>
              </a:defRPr>
            </a:lvl3pPr>
            <a:lvl4pPr>
              <a:defRPr sz="3075" b="1">
                <a:solidFill>
                  <a:srgbClr val="A9DCD4"/>
                </a:solidFill>
              </a:defRPr>
            </a:lvl4pPr>
            <a:lvl5pPr>
              <a:defRPr sz="3075" b="1">
                <a:solidFill>
                  <a:srgbClr val="A9DCD4"/>
                </a:solidFill>
              </a:defRPr>
            </a:lvl5pPr>
            <a:lvl6pPr>
              <a:defRPr sz="3075" b="1">
                <a:solidFill>
                  <a:srgbClr val="A9DCD4"/>
                </a:solidFill>
              </a:defRPr>
            </a:lvl6pPr>
            <a:lvl7pPr>
              <a:defRPr sz="3075" b="1">
                <a:solidFill>
                  <a:srgbClr val="A9DCD4"/>
                </a:solidFill>
              </a:defRPr>
            </a:lvl7pPr>
            <a:lvl8pPr>
              <a:defRPr sz="3075" b="1">
                <a:solidFill>
                  <a:srgbClr val="A9DCD4"/>
                </a:solidFill>
              </a:defRPr>
            </a:lvl8pPr>
            <a:lvl9pPr>
              <a:defRPr sz="3075" b="1">
                <a:solidFill>
                  <a:srgbClr val="A9DCD4"/>
                </a:solidFill>
              </a:defRPr>
            </a:lvl9pPr>
          </a:lstStyle>
          <a:p xmlns:a="http://schemas.openxmlformats.org/drawingml/2006/main">
            <a:pPr>
              <a:defRPr sz="3075" b="1">
                <a:solidFill>
                  <a:srgbClr val="A9DCD4"/>
                </a:solidFill>
              </a:defRPr>
            </a:pPr>
            <a:r>
              <a:rPr sz="3075" b="1">
                <a:solidFill>
                  <a:srgbClr val="A9DCD4"/>
                </a:solidFill>
              </a:rPr>
              <a:t>1</a:t>
            </a:r>
          </a:p>
        </p:txBody>
      </p:sp>
      <p:sp>
        <p:nvSpPr>
          <p:cNvPr id="7" name="">
            <a:extLst xmlns:a="http://schemas.openxmlformats.org/drawingml/2006/main">
              <a:ext uri="{FF2B5EF4-FFF2-40B4-BE49-F238E27FC236}">
                <a16:creationId xmlns:a16="http://schemas.microsoft.com/office/drawing/2014/main" id="{4386F69F-6742-4296-893A-9CB6A25E0EF2}"/>
              </a:ext>
            </a:extLst>
          </p:cNvPr>
          <p:cNvSpPr>
            <a:spLocks xmlns:a="http://schemas.openxmlformats.org/drawingml/2006/main" noGrp="1"/>
          </p:cNvSpPr>
          <p:nvPr/>
        </p:nvSpPr>
        <p:spPr>
          <a:xfrm xmlns:a="http://schemas.openxmlformats.org/drawingml/2006/main">
            <a:off x="1571625" y="1990725"/>
            <a:ext cx="9277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FFFFFF"/>
                </a:solidFill>
              </a:defRPr>
            </a:defPPr>
            <a:lvl1pPr>
              <a:defRPr sz="1875" b="0">
                <a:solidFill>
                  <a:srgbClr val="FFFFFF"/>
                </a:solidFill>
              </a:defRPr>
            </a:lvl1pPr>
            <a:lvl2pPr>
              <a:defRPr sz="1875" b="0">
                <a:solidFill>
                  <a:srgbClr val="FFFFFF"/>
                </a:solidFill>
              </a:defRPr>
            </a:lvl2pPr>
            <a:lvl3pPr>
              <a:defRPr sz="1875" b="0">
                <a:solidFill>
                  <a:srgbClr val="FFFFFF"/>
                </a:solidFill>
              </a:defRPr>
            </a:lvl3pPr>
            <a:lvl4pPr>
              <a:defRPr sz="1875" b="0">
                <a:solidFill>
                  <a:srgbClr val="FFFFFF"/>
                </a:solidFill>
              </a:defRPr>
            </a:lvl4pPr>
            <a:lvl5pPr>
              <a:defRPr sz="1875" b="0">
                <a:solidFill>
                  <a:srgbClr val="FFFFFF"/>
                </a:solidFill>
              </a:defRPr>
            </a:lvl5pPr>
            <a:lvl6pPr>
              <a:defRPr sz="1875" b="0">
                <a:solidFill>
                  <a:srgbClr val="FFFFFF"/>
                </a:solidFill>
              </a:defRPr>
            </a:lvl6pPr>
            <a:lvl7pPr>
              <a:defRPr sz="1875" b="0">
                <a:solidFill>
                  <a:srgbClr val="FFFFFF"/>
                </a:solidFill>
              </a:defRPr>
            </a:lvl7pPr>
            <a:lvl8pPr>
              <a:defRPr sz="1875" b="0">
                <a:solidFill>
                  <a:srgbClr val="FFFFFF"/>
                </a:solidFill>
              </a:defRPr>
            </a:lvl8pPr>
            <a:lvl9pPr>
              <a:defRPr sz="1875" b="0">
                <a:solidFill>
                  <a:srgbClr val="FFFFFF"/>
                </a:solidFill>
              </a:defRPr>
            </a:lvl9pPr>
          </a:lstStyle>
          <a:p xmlns:a="http://schemas.openxmlformats.org/drawingml/2006/main">
            <a:pPr>
              <a:defRPr sz="1875" b="0">
                <a:solidFill>
                  <a:srgbClr val="FFFFFF"/>
                </a:solidFill>
              </a:defRPr>
            </a:pPr>
            <a:r>
              <a:rPr sz="1875" b="0">
                <a:solidFill>
                  <a:srgbClr val="FFFFFF"/>
                </a:solidFill>
              </a:rPr>
              <a:t>Choose congested traffic and 15-minute observation lag.</a:t>
            </a:r>
          </a:p>
        </p:txBody>
      </p:sp>
      <p:sp>
        <p:nvSpPr>
          <p:cNvPr id="8" name="">
            <a:extLst xmlns:a="http://schemas.openxmlformats.org/drawingml/2006/main">
              <a:ext uri="{FF2B5EF4-FFF2-40B4-BE49-F238E27FC236}">
                <a16:creationId xmlns:a16="http://schemas.microsoft.com/office/drawing/2014/main" id="{8547E333-43F8-4C80-A062-1BA15FBF1044}"/>
              </a:ext>
            </a:extLst>
          </p:cNvPr>
          <p:cNvSpPr>
            <a:spLocks xmlns:a="http://schemas.openxmlformats.org/drawingml/2006/main" noGrp="1"/>
          </p:cNvSpPr>
          <p:nvPr/>
        </p:nvSpPr>
        <p:spPr>
          <a:xfrm xmlns:a="http://schemas.openxmlformats.org/drawingml/2006/main">
            <a:off x="1571625" y="2895600"/>
            <a:ext cx="9086850" cy="9525"/>
          </a:xfrm>
          <a:prstGeom xmlns:a="http://schemas.openxmlformats.org/drawingml/2006/main" prst="rect">
            <a:avLst/>
          </a:prstGeom>
          <a:solidFill xmlns:a="http://schemas.openxmlformats.org/drawingml/2006/main">
            <a:srgbClr val="45646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CBFB70D-75FF-4FC1-B9F1-3E81BD6B5E1F}"/>
              </a:ext>
            </a:extLst>
          </p:cNvPr>
          <p:cNvSpPr>
            <a:spLocks xmlns:a="http://schemas.openxmlformats.org/drawingml/2006/main" noGrp="1"/>
          </p:cNvSpPr>
          <p:nvPr/>
        </p:nvSpPr>
        <p:spPr>
          <a:xfrm xmlns:a="http://schemas.openxmlformats.org/drawingml/2006/main">
            <a:off x="762000" y="3124200"/>
            <a:ext cx="71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75" b="1">
                <a:solidFill>
                  <a:srgbClr val="A9DCD4"/>
                </a:solidFill>
              </a:defRPr>
            </a:defPPr>
            <a:lvl1pPr>
              <a:defRPr sz="3075" b="1">
                <a:solidFill>
                  <a:srgbClr val="A9DCD4"/>
                </a:solidFill>
              </a:defRPr>
            </a:lvl1pPr>
            <a:lvl2pPr>
              <a:defRPr sz="3075" b="1">
                <a:solidFill>
                  <a:srgbClr val="A9DCD4"/>
                </a:solidFill>
              </a:defRPr>
            </a:lvl2pPr>
            <a:lvl3pPr>
              <a:defRPr sz="3075" b="1">
                <a:solidFill>
                  <a:srgbClr val="A9DCD4"/>
                </a:solidFill>
              </a:defRPr>
            </a:lvl3pPr>
            <a:lvl4pPr>
              <a:defRPr sz="3075" b="1">
                <a:solidFill>
                  <a:srgbClr val="A9DCD4"/>
                </a:solidFill>
              </a:defRPr>
            </a:lvl4pPr>
            <a:lvl5pPr>
              <a:defRPr sz="3075" b="1">
                <a:solidFill>
                  <a:srgbClr val="A9DCD4"/>
                </a:solidFill>
              </a:defRPr>
            </a:lvl5pPr>
            <a:lvl6pPr>
              <a:defRPr sz="3075" b="1">
                <a:solidFill>
                  <a:srgbClr val="A9DCD4"/>
                </a:solidFill>
              </a:defRPr>
            </a:lvl6pPr>
            <a:lvl7pPr>
              <a:defRPr sz="3075" b="1">
                <a:solidFill>
                  <a:srgbClr val="A9DCD4"/>
                </a:solidFill>
              </a:defRPr>
            </a:lvl7pPr>
            <a:lvl8pPr>
              <a:defRPr sz="3075" b="1">
                <a:solidFill>
                  <a:srgbClr val="A9DCD4"/>
                </a:solidFill>
              </a:defRPr>
            </a:lvl8pPr>
            <a:lvl9pPr>
              <a:defRPr sz="3075" b="1">
                <a:solidFill>
                  <a:srgbClr val="A9DCD4"/>
                </a:solidFill>
              </a:defRPr>
            </a:lvl9pPr>
          </a:lstStyle>
          <a:p xmlns:a="http://schemas.openxmlformats.org/drawingml/2006/main">
            <a:pPr>
              <a:defRPr sz="3075" b="1">
                <a:solidFill>
                  <a:srgbClr val="A9DCD4"/>
                </a:solidFill>
              </a:defRPr>
            </a:pPr>
            <a:r>
              <a:rPr sz="3075" b="1">
                <a:solidFill>
                  <a:srgbClr val="A9DCD4"/>
                </a:solidFill>
              </a:rPr>
              <a:t>2</a:t>
            </a:r>
          </a:p>
        </p:txBody>
      </p:sp>
      <p:sp>
        <p:nvSpPr>
          <p:cNvPr id="10" name="">
            <a:extLst xmlns:a="http://schemas.openxmlformats.org/drawingml/2006/main">
              <a:ext uri="{FF2B5EF4-FFF2-40B4-BE49-F238E27FC236}">
                <a16:creationId xmlns:a16="http://schemas.microsoft.com/office/drawing/2014/main" id="{CCB2BED7-C009-4064-BC3D-FA18DA07FB91}"/>
              </a:ext>
            </a:extLst>
          </p:cNvPr>
          <p:cNvSpPr>
            <a:spLocks xmlns:a="http://schemas.openxmlformats.org/drawingml/2006/main" noGrp="1"/>
          </p:cNvSpPr>
          <p:nvPr/>
        </p:nvSpPr>
        <p:spPr>
          <a:xfrm xmlns:a="http://schemas.openxmlformats.org/drawingml/2006/main">
            <a:off x="1571625" y="3124200"/>
            <a:ext cx="9277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FFFFFF"/>
                </a:solidFill>
              </a:defRPr>
            </a:defPPr>
            <a:lvl1pPr>
              <a:defRPr sz="1875" b="1">
                <a:solidFill>
                  <a:srgbClr val="FFFFFF"/>
                </a:solidFill>
              </a:defRPr>
            </a:lvl1pPr>
            <a:lvl2pPr>
              <a:defRPr sz="1875" b="1">
                <a:solidFill>
                  <a:srgbClr val="FFFFFF"/>
                </a:solidFill>
              </a:defRPr>
            </a:lvl2pPr>
            <a:lvl3pPr>
              <a:defRPr sz="1875" b="1">
                <a:solidFill>
                  <a:srgbClr val="FFFFFF"/>
                </a:solidFill>
              </a:defRPr>
            </a:lvl3pPr>
            <a:lvl4pPr>
              <a:defRPr sz="1875" b="1">
                <a:solidFill>
                  <a:srgbClr val="FFFFFF"/>
                </a:solidFill>
              </a:defRPr>
            </a:lvl4pPr>
            <a:lvl5pPr>
              <a:defRPr sz="1875" b="1">
                <a:solidFill>
                  <a:srgbClr val="FFFFFF"/>
                </a:solidFill>
              </a:defRPr>
            </a:lvl5pPr>
            <a:lvl6pPr>
              <a:defRPr sz="1875" b="1">
                <a:solidFill>
                  <a:srgbClr val="FFFFFF"/>
                </a:solidFill>
              </a:defRPr>
            </a:lvl6pPr>
            <a:lvl7pPr>
              <a:defRPr sz="1875" b="1">
                <a:solidFill>
                  <a:srgbClr val="FFFFFF"/>
                </a:solidFill>
              </a:defRPr>
            </a:lvl7pPr>
            <a:lvl8pPr>
              <a:defRPr sz="1875" b="1">
                <a:solidFill>
                  <a:srgbClr val="FFFFFF"/>
                </a:solidFill>
              </a:defRPr>
            </a:lvl8pPr>
            <a:lvl9pPr>
              <a:defRPr sz="1875" b="1">
                <a:solidFill>
                  <a:srgbClr val="FFFFFF"/>
                </a:solidFill>
              </a:defRPr>
            </a:lvl9pPr>
          </a:lstStyle>
          <a:p xmlns:a="http://schemas.openxmlformats.org/drawingml/2006/main">
            <a:pPr>
              <a:defRPr sz="1875" b="1">
                <a:solidFill>
                  <a:srgbClr val="FFFFFF"/>
                </a:solidFill>
              </a:defRPr>
            </a:pPr>
            <a:r>
              <a:rPr sz="1875" b="1">
                <a:solidFill>
                  <a:srgbClr val="FFFFFF"/>
                </a:solidFill>
              </a:rPr>
              <a:t>Compare reactive carbon with joint budget GNN: score falls, overload stays level.</a:t>
            </a:r>
          </a:p>
        </p:txBody>
      </p:sp>
      <p:sp>
        <p:nvSpPr>
          <p:cNvPr id="11" name="">
            <a:extLst xmlns:a="http://schemas.openxmlformats.org/drawingml/2006/main">
              <a:ext uri="{FF2B5EF4-FFF2-40B4-BE49-F238E27FC236}">
                <a16:creationId xmlns:a16="http://schemas.microsoft.com/office/drawing/2014/main" id="{0182BE55-0DDD-4AB9-9905-A320F6739028}"/>
              </a:ext>
            </a:extLst>
          </p:cNvPr>
          <p:cNvSpPr>
            <a:spLocks xmlns:a="http://schemas.openxmlformats.org/drawingml/2006/main" noGrp="1"/>
          </p:cNvSpPr>
          <p:nvPr/>
        </p:nvSpPr>
        <p:spPr>
          <a:xfrm xmlns:a="http://schemas.openxmlformats.org/drawingml/2006/main">
            <a:off x="1571625" y="4029075"/>
            <a:ext cx="9086850" cy="9525"/>
          </a:xfrm>
          <a:prstGeom xmlns:a="http://schemas.openxmlformats.org/drawingml/2006/main" prst="rect">
            <a:avLst/>
          </a:prstGeom>
          <a:solidFill xmlns:a="http://schemas.openxmlformats.org/drawingml/2006/main">
            <a:srgbClr val="45646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B4E9F16-78F4-4359-9B8D-225BD7D27072}"/>
              </a:ext>
            </a:extLst>
          </p:cNvPr>
          <p:cNvSpPr>
            <a:spLocks xmlns:a="http://schemas.openxmlformats.org/drawingml/2006/main" noGrp="1"/>
          </p:cNvSpPr>
          <p:nvPr/>
        </p:nvSpPr>
        <p:spPr>
          <a:xfrm xmlns:a="http://schemas.openxmlformats.org/drawingml/2006/main">
            <a:off x="762000" y="4257675"/>
            <a:ext cx="71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075" b="1">
                <a:solidFill>
                  <a:srgbClr val="A9DCD4"/>
                </a:solidFill>
              </a:defRPr>
            </a:defPPr>
            <a:lvl1pPr>
              <a:defRPr sz="3075" b="1">
                <a:solidFill>
                  <a:srgbClr val="A9DCD4"/>
                </a:solidFill>
              </a:defRPr>
            </a:lvl1pPr>
            <a:lvl2pPr>
              <a:defRPr sz="3075" b="1">
                <a:solidFill>
                  <a:srgbClr val="A9DCD4"/>
                </a:solidFill>
              </a:defRPr>
            </a:lvl2pPr>
            <a:lvl3pPr>
              <a:defRPr sz="3075" b="1">
                <a:solidFill>
                  <a:srgbClr val="A9DCD4"/>
                </a:solidFill>
              </a:defRPr>
            </a:lvl3pPr>
            <a:lvl4pPr>
              <a:defRPr sz="3075" b="1">
                <a:solidFill>
                  <a:srgbClr val="A9DCD4"/>
                </a:solidFill>
              </a:defRPr>
            </a:lvl4pPr>
            <a:lvl5pPr>
              <a:defRPr sz="3075" b="1">
                <a:solidFill>
                  <a:srgbClr val="A9DCD4"/>
                </a:solidFill>
              </a:defRPr>
            </a:lvl5pPr>
            <a:lvl6pPr>
              <a:defRPr sz="3075" b="1">
                <a:solidFill>
                  <a:srgbClr val="A9DCD4"/>
                </a:solidFill>
              </a:defRPr>
            </a:lvl6pPr>
            <a:lvl7pPr>
              <a:defRPr sz="3075" b="1">
                <a:solidFill>
                  <a:srgbClr val="A9DCD4"/>
                </a:solidFill>
              </a:defRPr>
            </a:lvl7pPr>
            <a:lvl8pPr>
              <a:defRPr sz="3075" b="1">
                <a:solidFill>
                  <a:srgbClr val="A9DCD4"/>
                </a:solidFill>
              </a:defRPr>
            </a:lvl8pPr>
            <a:lvl9pPr>
              <a:defRPr sz="3075" b="1">
                <a:solidFill>
                  <a:srgbClr val="A9DCD4"/>
                </a:solidFill>
              </a:defRPr>
            </a:lvl9pPr>
          </a:lstStyle>
          <a:p xmlns:a="http://schemas.openxmlformats.org/drawingml/2006/main">
            <a:pPr>
              <a:defRPr sz="3075" b="1">
                <a:solidFill>
                  <a:srgbClr val="A9DCD4"/>
                </a:solidFill>
              </a:defRPr>
            </a:pPr>
            <a:r>
              <a:rPr sz="3075" b="1">
                <a:solidFill>
                  <a:srgbClr val="A9DCD4"/>
                </a:solidFill>
              </a:rPr>
              <a:t>3</a:t>
            </a:r>
          </a:p>
        </p:txBody>
      </p:sp>
      <p:sp>
        <p:nvSpPr>
          <p:cNvPr id="13" name="">
            <a:extLst xmlns:a="http://schemas.openxmlformats.org/drawingml/2006/main">
              <a:ext uri="{FF2B5EF4-FFF2-40B4-BE49-F238E27FC236}">
                <a16:creationId xmlns:a16="http://schemas.microsoft.com/office/drawing/2014/main" id="{7874BFFA-7DB0-4A45-85BD-192D80BF8707}"/>
              </a:ext>
            </a:extLst>
          </p:cNvPr>
          <p:cNvSpPr>
            <a:spLocks xmlns:a="http://schemas.openxmlformats.org/drawingml/2006/main" noGrp="1"/>
          </p:cNvSpPr>
          <p:nvPr/>
        </p:nvSpPr>
        <p:spPr>
          <a:xfrm xmlns:a="http://schemas.openxmlformats.org/drawingml/2006/main">
            <a:off x="1571625" y="4257675"/>
            <a:ext cx="9277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0">
                <a:solidFill>
                  <a:srgbClr val="FFFFFF"/>
                </a:solidFill>
              </a:defRPr>
            </a:defPPr>
            <a:lvl1pPr>
              <a:defRPr sz="1875" b="0">
                <a:solidFill>
                  <a:srgbClr val="FFFFFF"/>
                </a:solidFill>
              </a:defRPr>
            </a:lvl1pPr>
            <a:lvl2pPr>
              <a:defRPr sz="1875" b="0">
                <a:solidFill>
                  <a:srgbClr val="FFFFFF"/>
                </a:solidFill>
              </a:defRPr>
            </a:lvl2pPr>
            <a:lvl3pPr>
              <a:defRPr sz="1875" b="0">
                <a:solidFill>
                  <a:srgbClr val="FFFFFF"/>
                </a:solidFill>
              </a:defRPr>
            </a:lvl3pPr>
            <a:lvl4pPr>
              <a:defRPr sz="1875" b="0">
                <a:solidFill>
                  <a:srgbClr val="FFFFFF"/>
                </a:solidFill>
              </a:defRPr>
            </a:lvl4pPr>
            <a:lvl5pPr>
              <a:defRPr sz="1875" b="0">
                <a:solidFill>
                  <a:srgbClr val="FFFFFF"/>
                </a:solidFill>
              </a:defRPr>
            </a:lvl5pPr>
            <a:lvl6pPr>
              <a:defRPr sz="1875" b="0">
                <a:solidFill>
                  <a:srgbClr val="FFFFFF"/>
                </a:solidFill>
              </a:defRPr>
            </a:lvl6pPr>
            <a:lvl7pPr>
              <a:defRPr sz="1875" b="0">
                <a:solidFill>
                  <a:srgbClr val="FFFFFF"/>
                </a:solidFill>
              </a:defRPr>
            </a:lvl7pPr>
            <a:lvl8pPr>
              <a:defRPr sz="1875" b="0">
                <a:solidFill>
                  <a:srgbClr val="FFFFFF"/>
                </a:solidFill>
              </a:defRPr>
            </a:lvl8pPr>
            <a:lvl9pPr>
              <a:defRPr sz="1875" b="0">
                <a:solidFill>
                  <a:srgbClr val="FFFFFF"/>
                </a:solidFill>
              </a:defRPr>
            </a:lvl9pPr>
          </a:lstStyle>
          <a:p xmlns:a="http://schemas.openxmlformats.org/drawingml/2006/main">
            <a:pPr>
              <a:defRPr sz="1875" b="0">
                <a:solidFill>
                  <a:srgbClr val="FFFFFF"/>
                </a:solidFill>
              </a:defRPr>
            </a:pPr>
            <a:r>
              <a:rPr sz="1875" b="0">
                <a:solidFill>
                  <a:srgbClr val="FFFFFF"/>
                </a:solidFill>
              </a:rPr>
              <a:t>Switch to greedy GNN: overload falls, score rises. Scrub time to inspect a link and route.</a:t>
            </a:r>
          </a:p>
        </p:txBody>
      </p:sp>
      <p:sp>
        <p:nvSpPr>
          <p:cNvPr id="14" name="">
            <a:extLst xmlns:a="http://schemas.openxmlformats.org/drawingml/2006/main">
              <a:ext uri="{FF2B5EF4-FFF2-40B4-BE49-F238E27FC236}">
                <a16:creationId xmlns:a16="http://schemas.microsoft.com/office/drawing/2014/main" id="{09237137-4950-44A7-96FB-31AD01DD666B}"/>
              </a:ext>
            </a:extLst>
          </p:cNvPr>
          <p:cNvSpPr>
            <a:spLocks xmlns:a="http://schemas.openxmlformats.org/drawingml/2006/main" noGrp="1"/>
          </p:cNvSpPr>
          <p:nvPr/>
        </p:nvSpPr>
        <p:spPr>
          <a:xfrm xmlns:a="http://schemas.openxmlformats.org/drawingml/2006/main">
            <a:off x="762000" y="5838825"/>
            <a:ext cx="1000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1">
                <a:solidFill>
                  <a:srgbClr val="A9DCD4"/>
                </a:solidFill>
              </a:defRPr>
            </a:defPPr>
            <a:lvl1pPr>
              <a:defRPr sz="1575" b="1">
                <a:solidFill>
                  <a:srgbClr val="A9DCD4"/>
                </a:solidFill>
              </a:defRPr>
            </a:lvl1pPr>
            <a:lvl2pPr>
              <a:defRPr sz="1575" b="1">
                <a:solidFill>
                  <a:srgbClr val="A9DCD4"/>
                </a:solidFill>
              </a:defRPr>
            </a:lvl2pPr>
            <a:lvl3pPr>
              <a:defRPr sz="1575" b="1">
                <a:solidFill>
                  <a:srgbClr val="A9DCD4"/>
                </a:solidFill>
              </a:defRPr>
            </a:lvl3pPr>
            <a:lvl4pPr>
              <a:defRPr sz="1575" b="1">
                <a:solidFill>
                  <a:srgbClr val="A9DCD4"/>
                </a:solidFill>
              </a:defRPr>
            </a:lvl4pPr>
            <a:lvl5pPr>
              <a:defRPr sz="1575" b="1">
                <a:solidFill>
                  <a:srgbClr val="A9DCD4"/>
                </a:solidFill>
              </a:defRPr>
            </a:lvl5pPr>
            <a:lvl6pPr>
              <a:defRPr sz="1575" b="1">
                <a:solidFill>
                  <a:srgbClr val="A9DCD4"/>
                </a:solidFill>
              </a:defRPr>
            </a:lvl6pPr>
            <a:lvl7pPr>
              <a:defRPr sz="1575" b="1">
                <a:solidFill>
                  <a:srgbClr val="A9DCD4"/>
                </a:solidFill>
              </a:defRPr>
            </a:lvl7pPr>
            <a:lvl8pPr>
              <a:defRPr sz="1575" b="1">
                <a:solidFill>
                  <a:srgbClr val="A9DCD4"/>
                </a:solidFill>
              </a:defRPr>
            </a:lvl8pPr>
            <a:lvl9pPr>
              <a:defRPr sz="1575" b="1">
                <a:solidFill>
                  <a:srgbClr val="A9DCD4"/>
                </a:solidFill>
              </a:defRPr>
            </a:lvl9pPr>
          </a:lstStyle>
          <a:p xmlns:a="http://schemas.openxmlformats.org/drawingml/2006/main">
            <a:pPr>
              <a:defRPr sz="1575" b="1">
                <a:solidFill>
                  <a:srgbClr val="A9DCD4"/>
                </a:solidFill>
              </a:defRPr>
            </a:pPr>
            <a:r>
              <a:rPr sz="1575" b="1">
                <a:solidFill>
                  <a:srgbClr val="A9DCD4"/>
                </a:solidFill>
              </a:rPr>
              <a:t>Open: docs/reports/joint-validation.html</a:t>
            </a:r>
          </a:p>
        </p:txBody>
      </p:sp>
    </p:spTree>
    <p:extLst>
      <p:ext uri="{BB962C8B-B14F-4D97-AF65-F5344CB8AC3E}">
        <p14:creationId xmlns:p14="http://schemas.microsoft.com/office/powerpoint/2010/main" val="1010888000"/>
      </p:ext>
    </p:extLst>
  </p:cSld>
</p:sld>
</file>

<file path=ppt/slides/slide1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5C9CFDC-8749-4E05-99FF-B350EFF71ACD}"/>
              </a:ext>
            </a:extLst>
          </p:cNvPr>
          <p:cNvSpPr>
            <a:spLocks xmlns:a="http://schemas.openxmlformats.org/drawingml/2006/main" noGrp="1"/>
          </p:cNvSpPr>
          <p:nvPr/>
        </p:nvSpPr>
        <p:spPr>
          <a:xfrm xmlns:a="http://schemas.openxmlformats.org/drawingml/2006/main">
            <a:off x="647700" y="30480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6D"/>
                </a:solidFill>
              </a:defRPr>
            </a:defPPr>
            <a:lvl1pPr>
              <a:defRPr sz="1050" b="1">
                <a:solidFill>
                  <a:srgbClr val="536A6D"/>
                </a:solidFill>
              </a:defRPr>
            </a:lvl1pPr>
            <a:lvl2pPr>
              <a:defRPr sz="1050" b="1">
                <a:solidFill>
                  <a:srgbClr val="536A6D"/>
                </a:solidFill>
              </a:defRPr>
            </a:lvl2pPr>
            <a:lvl3pPr>
              <a:defRPr sz="1050" b="1">
                <a:solidFill>
                  <a:srgbClr val="536A6D"/>
                </a:solidFill>
              </a:defRPr>
            </a:lvl3pPr>
            <a:lvl4pPr>
              <a:defRPr sz="1050" b="1">
                <a:solidFill>
                  <a:srgbClr val="536A6D"/>
                </a:solidFill>
              </a:defRPr>
            </a:lvl4pPr>
            <a:lvl5pPr>
              <a:defRPr sz="1050" b="1">
                <a:solidFill>
                  <a:srgbClr val="536A6D"/>
                </a:solidFill>
              </a:defRPr>
            </a:lvl5pPr>
            <a:lvl6pPr>
              <a:defRPr sz="1050" b="1">
                <a:solidFill>
                  <a:srgbClr val="536A6D"/>
                </a:solidFill>
              </a:defRPr>
            </a:lvl6pPr>
            <a:lvl7pPr>
              <a:defRPr sz="1050" b="1">
                <a:solidFill>
                  <a:srgbClr val="536A6D"/>
                </a:solidFill>
              </a:defRPr>
            </a:lvl7pPr>
            <a:lvl8pPr>
              <a:defRPr sz="1050" b="1">
                <a:solidFill>
                  <a:srgbClr val="536A6D"/>
                </a:solidFill>
              </a:defRPr>
            </a:lvl8pPr>
            <a:lvl9pPr>
              <a:defRPr sz="1050" b="1">
                <a:solidFill>
                  <a:srgbClr val="536A6D"/>
                </a:solidFill>
              </a:defRPr>
            </a:lvl9pPr>
          </a:lstStyle>
          <a:p xmlns:a="http://schemas.openxmlformats.org/drawingml/2006/main">
            <a:pPr>
              <a:defRPr sz="1050" b="1">
                <a:solidFill>
                  <a:srgbClr val="536A6D"/>
                </a:solidFill>
              </a:defRPr>
            </a:pPr>
            <a:r>
              <a:rPr sz="1050" b="1">
                <a:solidFill>
                  <a:srgbClr val="536A6D"/>
                </a:solidFill>
              </a:rPr>
              <a:t>CLOSE</a:t>
            </a:r>
          </a:p>
        </p:txBody>
      </p:sp>
      <p:sp>
        <p:nvSpPr>
          <p:cNvPr id="2" name="">
            <a:extLst xmlns:a="http://schemas.openxmlformats.org/drawingml/2006/main">
              <a:ext uri="{FF2B5EF4-FFF2-40B4-BE49-F238E27FC236}">
                <a16:creationId xmlns:a16="http://schemas.microsoft.com/office/drawing/2014/main" id="{C959A94F-8B70-4C24-B494-58C8976377C7}"/>
              </a:ext>
            </a:extLst>
          </p:cNvPr>
          <p:cNvSpPr>
            <a:spLocks xmlns:a="http://schemas.openxmlformats.org/drawingml/2006/main" noGrp="1"/>
          </p:cNvSpPr>
          <p:nvPr/>
        </p:nvSpPr>
        <p:spPr>
          <a:xfrm xmlns:a="http://schemas.openxmlformats.org/drawingml/2006/main">
            <a:off x="647700" y="723900"/>
            <a:ext cx="10763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152F34"/>
                </a:solidFill>
              </a:defRPr>
            </a:defPPr>
            <a:lvl1pPr>
              <a:defRPr sz="2775" b="1">
                <a:solidFill>
                  <a:srgbClr val="152F34"/>
                </a:solidFill>
              </a:defRPr>
            </a:lvl1pPr>
            <a:lvl2pPr>
              <a:defRPr sz="2775" b="1">
                <a:solidFill>
                  <a:srgbClr val="152F34"/>
                </a:solidFill>
              </a:defRPr>
            </a:lvl2pPr>
            <a:lvl3pPr>
              <a:defRPr sz="2775" b="1">
                <a:solidFill>
                  <a:srgbClr val="152F34"/>
                </a:solidFill>
              </a:defRPr>
            </a:lvl3pPr>
            <a:lvl4pPr>
              <a:defRPr sz="2775" b="1">
                <a:solidFill>
                  <a:srgbClr val="152F34"/>
                </a:solidFill>
              </a:defRPr>
            </a:lvl4pPr>
            <a:lvl5pPr>
              <a:defRPr sz="2775" b="1">
                <a:solidFill>
                  <a:srgbClr val="152F34"/>
                </a:solidFill>
              </a:defRPr>
            </a:lvl5pPr>
            <a:lvl6pPr>
              <a:defRPr sz="2775" b="1">
                <a:solidFill>
                  <a:srgbClr val="152F34"/>
                </a:solidFill>
              </a:defRPr>
            </a:lvl6pPr>
            <a:lvl7pPr>
              <a:defRPr sz="2775" b="1">
                <a:solidFill>
                  <a:srgbClr val="152F34"/>
                </a:solidFill>
              </a:defRPr>
            </a:lvl7pPr>
            <a:lvl8pPr>
              <a:defRPr sz="2775" b="1">
                <a:solidFill>
                  <a:srgbClr val="152F34"/>
                </a:solidFill>
              </a:defRPr>
            </a:lvl8pPr>
            <a:lvl9pPr>
              <a:defRPr sz="2775" b="1">
                <a:solidFill>
                  <a:srgbClr val="152F34"/>
                </a:solidFill>
              </a:defRPr>
            </a:lvl9pPr>
          </a:lstStyle>
          <a:p xmlns:a="http://schemas.openxmlformats.org/drawingml/2006/main">
            <a:pPr>
              <a:defRPr sz="2775" b="1">
                <a:solidFill>
                  <a:srgbClr val="152F34"/>
                </a:solidFill>
              </a:defRPr>
            </a:pPr>
            <a:r>
              <a:rPr sz="2775" b="1">
                <a:solidFill>
                  <a:srgbClr val="152F34"/>
                </a:solidFill>
              </a:rPr>
              <a:t>Our contribution is a reproducible comparison of routing choices</a:t>
            </a:r>
          </a:p>
        </p:txBody>
      </p:sp>
      <p:sp>
        <p:nvSpPr>
          <p:cNvPr id="3" name="">
            <a:extLst xmlns:a="http://schemas.openxmlformats.org/drawingml/2006/main">
              <a:ext uri="{FF2B5EF4-FFF2-40B4-BE49-F238E27FC236}">
                <a16:creationId xmlns:a16="http://schemas.microsoft.com/office/drawing/2014/main" id="{90799FEC-40CE-4AB4-B585-CB8B55944CE1}"/>
              </a:ext>
            </a:extLst>
          </p:cNvPr>
          <p:cNvSpPr>
            <a:spLocks xmlns:a="http://schemas.openxmlformats.org/drawingml/2006/main" noGrp="1"/>
          </p:cNvSpPr>
          <p:nvPr/>
        </p:nvSpPr>
        <p:spPr>
          <a:xfrm xmlns:a="http://schemas.openxmlformats.org/drawingml/2006/main">
            <a:off x="647700" y="1562100"/>
            <a:ext cx="10896600" cy="19050"/>
          </a:xfrm>
          <a:prstGeom xmlns:a="http://schemas.openxmlformats.org/drawingml/2006/main" prst="rect">
            <a:avLst/>
          </a:prstGeom>
          <a:solidFill xmlns:a="http://schemas.openxmlformats.org/drawingml/2006/main">
            <a:srgbClr val="C9D5D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5B0C6D8-077C-47D0-9C30-7667EFFA33B5}"/>
              </a:ext>
            </a:extLst>
          </p:cNvPr>
          <p:cNvSpPr>
            <a:spLocks xmlns:a="http://schemas.openxmlformats.org/drawingml/2006/main" noGrp="1"/>
          </p:cNvSpPr>
          <p:nvPr/>
        </p:nvSpPr>
        <p:spPr>
          <a:xfrm xmlns:a="http://schemas.openxmlformats.org/drawingml/2006/main">
            <a:off x="647700" y="6467475"/>
            <a:ext cx="6667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536A6D"/>
                </a:solidFill>
              </a:defRPr>
            </a:defPPr>
            <a:lvl1pPr>
              <a:defRPr sz="900" b="1">
                <a:solidFill>
                  <a:srgbClr val="536A6D"/>
                </a:solidFill>
              </a:defRPr>
            </a:lvl1pPr>
            <a:lvl2pPr>
              <a:defRPr sz="900" b="1">
                <a:solidFill>
                  <a:srgbClr val="536A6D"/>
                </a:solidFill>
              </a:defRPr>
            </a:lvl2pPr>
            <a:lvl3pPr>
              <a:defRPr sz="900" b="1">
                <a:solidFill>
                  <a:srgbClr val="536A6D"/>
                </a:solidFill>
              </a:defRPr>
            </a:lvl3pPr>
            <a:lvl4pPr>
              <a:defRPr sz="900" b="1">
                <a:solidFill>
                  <a:srgbClr val="536A6D"/>
                </a:solidFill>
              </a:defRPr>
            </a:lvl4pPr>
            <a:lvl5pPr>
              <a:defRPr sz="900" b="1">
                <a:solidFill>
                  <a:srgbClr val="536A6D"/>
                </a:solidFill>
              </a:defRPr>
            </a:lvl5pPr>
            <a:lvl6pPr>
              <a:defRPr sz="900" b="1">
                <a:solidFill>
                  <a:srgbClr val="536A6D"/>
                </a:solidFill>
              </a:defRPr>
            </a:lvl6pPr>
            <a:lvl7pPr>
              <a:defRPr sz="900" b="1">
                <a:solidFill>
                  <a:srgbClr val="536A6D"/>
                </a:solidFill>
              </a:defRPr>
            </a:lvl7pPr>
            <a:lvl8pPr>
              <a:defRPr sz="900" b="1">
                <a:solidFill>
                  <a:srgbClr val="536A6D"/>
                </a:solidFill>
              </a:defRPr>
            </a:lvl8pPr>
            <a:lvl9pPr>
              <a:defRPr sz="900" b="1">
                <a:solidFill>
                  <a:srgbClr val="536A6D"/>
                </a:solidFill>
              </a:defRPr>
            </a:lvl9pPr>
          </a:lstStyle>
          <a:p xmlns:a="http://schemas.openxmlformats.org/drawingml/2006/main">
            <a:pPr>
              <a:defRPr sz="900" b="1">
                <a:solidFill>
                  <a:srgbClr val="536A6D"/>
                </a:solidFill>
              </a:defRPr>
            </a:pPr>
            <a:r>
              <a:rPr sz="900" b="1">
                <a:solidFill>
                  <a:srgbClr val="536A6D"/>
                </a:solidFill>
              </a:rPr>
              <a:t>CARBONROUTE  /  REVIEW 1</a:t>
            </a:r>
          </a:p>
        </p:txBody>
      </p:sp>
      <p:sp>
        <p:nvSpPr>
          <p:cNvPr id="5" name="">
            <a:extLst xmlns:a="http://schemas.openxmlformats.org/drawingml/2006/main">
              <a:ext uri="{FF2B5EF4-FFF2-40B4-BE49-F238E27FC236}">
                <a16:creationId xmlns:a16="http://schemas.microsoft.com/office/drawing/2014/main" id="{A5C0CC98-8580-41D6-BE4E-38DDCB4C6D5B}"/>
              </a:ext>
            </a:extLst>
          </p:cNvPr>
          <p:cNvSpPr>
            <a:spLocks xmlns:a="http://schemas.openxmlformats.org/drawingml/2006/main" noGrp="1"/>
          </p:cNvSpPr>
          <p:nvPr/>
        </p:nvSpPr>
        <p:spPr>
          <a:xfrm xmlns:a="http://schemas.openxmlformats.org/drawingml/2006/main">
            <a:off x="11077575" y="6448425"/>
            <a:ext cx="4476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36A6D"/>
                </a:solidFill>
              </a:defRPr>
            </a:defPPr>
            <a:lvl1pPr>
              <a:defRPr sz="975" b="1">
                <a:solidFill>
                  <a:srgbClr val="536A6D"/>
                </a:solidFill>
              </a:defRPr>
            </a:lvl1pPr>
            <a:lvl2pPr>
              <a:defRPr sz="975" b="1">
                <a:solidFill>
                  <a:srgbClr val="536A6D"/>
                </a:solidFill>
              </a:defRPr>
            </a:lvl2pPr>
            <a:lvl3pPr>
              <a:defRPr sz="975" b="1">
                <a:solidFill>
                  <a:srgbClr val="536A6D"/>
                </a:solidFill>
              </a:defRPr>
            </a:lvl3pPr>
            <a:lvl4pPr>
              <a:defRPr sz="975" b="1">
                <a:solidFill>
                  <a:srgbClr val="536A6D"/>
                </a:solidFill>
              </a:defRPr>
            </a:lvl4pPr>
            <a:lvl5pPr>
              <a:defRPr sz="975" b="1">
                <a:solidFill>
                  <a:srgbClr val="536A6D"/>
                </a:solidFill>
              </a:defRPr>
            </a:lvl5pPr>
            <a:lvl6pPr>
              <a:defRPr sz="975" b="1">
                <a:solidFill>
                  <a:srgbClr val="536A6D"/>
                </a:solidFill>
              </a:defRPr>
            </a:lvl6pPr>
            <a:lvl7pPr>
              <a:defRPr sz="975" b="1">
                <a:solidFill>
                  <a:srgbClr val="536A6D"/>
                </a:solidFill>
              </a:defRPr>
            </a:lvl7pPr>
            <a:lvl8pPr>
              <a:defRPr sz="975" b="1">
                <a:solidFill>
                  <a:srgbClr val="536A6D"/>
                </a:solidFill>
              </a:defRPr>
            </a:lvl8pPr>
            <a:lvl9pPr>
              <a:defRPr sz="975" b="1">
                <a:solidFill>
                  <a:srgbClr val="536A6D"/>
                </a:solidFill>
              </a:defRPr>
            </a:lvl9pPr>
          </a:lstStyle>
          <a:p xmlns:a="http://schemas.openxmlformats.org/drawingml/2006/main">
            <a:pPr>
              <a:defRPr sz="975" b="1">
                <a:solidFill>
                  <a:srgbClr val="536A6D"/>
                </a:solidFill>
              </a:defRPr>
            </a:pPr>
            <a:r>
              <a:rPr sz="975" b="1">
                <a:solidFill>
                  <a:srgbClr val="536A6D"/>
                </a:solidFill>
              </a:rPr>
              <a:t>15</a:t>
            </a:r>
          </a:p>
        </p:txBody>
      </p:sp>
      <p:sp>
        <p:nvSpPr>
          <p:cNvPr id="6" name="">
            <a:extLst xmlns:a="http://schemas.openxmlformats.org/drawingml/2006/main">
              <a:ext uri="{FF2B5EF4-FFF2-40B4-BE49-F238E27FC236}">
                <a16:creationId xmlns:a16="http://schemas.microsoft.com/office/drawing/2014/main" id="{F132876B-58EA-4083-B4C5-DF2EE0A75E67}"/>
              </a:ext>
            </a:extLst>
          </p:cNvPr>
          <p:cNvSpPr>
            <a:spLocks xmlns:a="http://schemas.openxmlformats.org/drawingml/2006/main" noGrp="1"/>
          </p:cNvSpPr>
          <p:nvPr/>
        </p:nvSpPr>
        <p:spPr>
          <a:xfrm xmlns:a="http://schemas.openxmlformats.org/drawingml/2006/main">
            <a:off x="742950" y="2038350"/>
            <a:ext cx="21240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07A7A"/>
                </a:solidFill>
              </a:defRPr>
            </a:defPPr>
            <a:lvl1pPr>
              <a:defRPr sz="2100" b="1">
                <a:solidFill>
                  <a:srgbClr val="007A7A"/>
                </a:solidFill>
              </a:defRPr>
            </a:lvl1pPr>
            <a:lvl2pPr>
              <a:defRPr sz="2100" b="1">
                <a:solidFill>
                  <a:srgbClr val="007A7A"/>
                </a:solidFill>
              </a:defRPr>
            </a:lvl2pPr>
            <a:lvl3pPr>
              <a:defRPr sz="2100" b="1">
                <a:solidFill>
                  <a:srgbClr val="007A7A"/>
                </a:solidFill>
              </a:defRPr>
            </a:lvl3pPr>
            <a:lvl4pPr>
              <a:defRPr sz="2100" b="1">
                <a:solidFill>
                  <a:srgbClr val="007A7A"/>
                </a:solidFill>
              </a:defRPr>
            </a:lvl4pPr>
            <a:lvl5pPr>
              <a:defRPr sz="2100" b="1">
                <a:solidFill>
                  <a:srgbClr val="007A7A"/>
                </a:solidFill>
              </a:defRPr>
            </a:lvl5pPr>
            <a:lvl6pPr>
              <a:defRPr sz="2100" b="1">
                <a:solidFill>
                  <a:srgbClr val="007A7A"/>
                </a:solidFill>
              </a:defRPr>
            </a:lvl6pPr>
            <a:lvl7pPr>
              <a:defRPr sz="2100" b="1">
                <a:solidFill>
                  <a:srgbClr val="007A7A"/>
                </a:solidFill>
              </a:defRPr>
            </a:lvl7pPr>
            <a:lvl8pPr>
              <a:defRPr sz="2100" b="1">
                <a:solidFill>
                  <a:srgbClr val="007A7A"/>
                </a:solidFill>
              </a:defRPr>
            </a:lvl8pPr>
            <a:lvl9pPr>
              <a:defRPr sz="2100" b="1">
                <a:solidFill>
                  <a:srgbClr val="007A7A"/>
                </a:solidFill>
              </a:defRPr>
            </a:lvl9pPr>
          </a:lstStyle>
          <a:p xmlns:a="http://schemas.openxmlformats.org/drawingml/2006/main">
            <a:pPr>
              <a:defRPr sz="2100" b="1">
                <a:solidFill>
                  <a:srgbClr val="007A7A"/>
                </a:solidFill>
              </a:defRPr>
            </a:pPr>
            <a:r>
              <a:rPr sz="2100" b="1">
                <a:solidFill>
                  <a:srgbClr val="007A7A"/>
                </a:solidFill>
              </a:rPr>
              <a:t>Built</a:t>
            </a:r>
          </a:p>
        </p:txBody>
      </p:sp>
      <p:sp>
        <p:nvSpPr>
          <p:cNvPr id="7" name="">
            <a:extLst xmlns:a="http://schemas.openxmlformats.org/drawingml/2006/main">
              <a:ext uri="{FF2B5EF4-FFF2-40B4-BE49-F238E27FC236}">
                <a16:creationId xmlns:a16="http://schemas.microsoft.com/office/drawing/2014/main" id="{D39CAB50-E7DC-47FA-A6F6-0A2390A31E22}"/>
              </a:ext>
            </a:extLst>
          </p:cNvPr>
          <p:cNvSpPr>
            <a:spLocks xmlns:a="http://schemas.openxmlformats.org/drawingml/2006/main" noGrp="1"/>
          </p:cNvSpPr>
          <p:nvPr/>
        </p:nvSpPr>
        <p:spPr>
          <a:xfrm xmlns:a="http://schemas.openxmlformats.org/drawingml/2006/main">
            <a:off x="2619375" y="2038350"/>
            <a:ext cx="81248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52F34"/>
                </a:solidFill>
              </a:defRPr>
            </a:defPPr>
            <a:lvl1pPr>
              <a:defRPr sz="1650" b="0">
                <a:solidFill>
                  <a:srgbClr val="152F34"/>
                </a:solidFill>
              </a:defRPr>
            </a:lvl1pPr>
            <a:lvl2pPr>
              <a:defRPr sz="1650" b="0">
                <a:solidFill>
                  <a:srgbClr val="152F34"/>
                </a:solidFill>
              </a:defRPr>
            </a:lvl2pPr>
            <a:lvl3pPr>
              <a:defRPr sz="1650" b="0">
                <a:solidFill>
                  <a:srgbClr val="152F34"/>
                </a:solidFill>
              </a:defRPr>
            </a:lvl3pPr>
            <a:lvl4pPr>
              <a:defRPr sz="1650" b="0">
                <a:solidFill>
                  <a:srgbClr val="152F34"/>
                </a:solidFill>
              </a:defRPr>
            </a:lvl4pPr>
            <a:lvl5pPr>
              <a:defRPr sz="1650" b="0">
                <a:solidFill>
                  <a:srgbClr val="152F34"/>
                </a:solidFill>
              </a:defRPr>
            </a:lvl5pPr>
            <a:lvl6pPr>
              <a:defRPr sz="1650" b="0">
                <a:solidFill>
                  <a:srgbClr val="152F34"/>
                </a:solidFill>
              </a:defRPr>
            </a:lvl6pPr>
            <a:lvl7pPr>
              <a:defRPr sz="1650" b="0">
                <a:solidFill>
                  <a:srgbClr val="152F34"/>
                </a:solidFill>
              </a:defRPr>
            </a:lvl7pPr>
            <a:lvl8pPr>
              <a:defRPr sz="1650" b="0">
                <a:solidFill>
                  <a:srgbClr val="152F34"/>
                </a:solidFill>
              </a:defRPr>
            </a:lvl8pPr>
            <a:lvl9pPr>
              <a:defRPr sz="1650" b="0">
                <a:solidFill>
                  <a:srgbClr val="152F34"/>
                </a:solidFill>
              </a:defRPr>
            </a:lvl9pPr>
          </a:lstStyle>
          <a:p xmlns:a="http://schemas.openxmlformats.org/drawingml/2006/main">
            <a:pPr>
              <a:defRPr sz="1650" b="0">
                <a:solidFill>
                  <a:srgbClr val="152F34"/>
                </a:solidFill>
              </a:defRPr>
            </a:pPr>
            <a:r>
              <a:rPr sz="1650" b="0">
                <a:solidFill>
                  <a:srgbClr val="152F34"/>
                </a:solidFill>
              </a:rPr>
              <a:t>A trace-driven GÉANT replay with trained demand prediction, safeguards, two carbon-aware planners, four baselines, and a dashboard.</a:t>
            </a:r>
          </a:p>
        </p:txBody>
      </p:sp>
      <p:sp>
        <p:nvSpPr>
          <p:cNvPr id="8" name="">
            <a:extLst xmlns:a="http://schemas.openxmlformats.org/drawingml/2006/main">
              <a:ext uri="{FF2B5EF4-FFF2-40B4-BE49-F238E27FC236}">
                <a16:creationId xmlns:a16="http://schemas.microsoft.com/office/drawing/2014/main" id="{ED147540-FCF0-4380-98B0-A9A84C9FE708}"/>
              </a:ext>
            </a:extLst>
          </p:cNvPr>
          <p:cNvSpPr>
            <a:spLocks xmlns:a="http://schemas.openxmlformats.org/drawingml/2006/main" noGrp="1"/>
          </p:cNvSpPr>
          <p:nvPr/>
        </p:nvSpPr>
        <p:spPr>
          <a:xfrm xmlns:a="http://schemas.openxmlformats.org/drawingml/2006/main">
            <a:off x="742950" y="3257550"/>
            <a:ext cx="10201275" cy="9525"/>
          </a:xfrm>
          <a:prstGeom xmlns:a="http://schemas.openxmlformats.org/drawingml/2006/main" prst="rect">
            <a:avLst/>
          </a:prstGeom>
          <a:solidFill xmlns:a="http://schemas.openxmlformats.org/drawingml/2006/main">
            <a:srgbClr val="C9D5D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2D9D5F2-6FD8-45E6-A7BA-47ECEE5538D9}"/>
              </a:ext>
            </a:extLst>
          </p:cNvPr>
          <p:cNvSpPr>
            <a:spLocks xmlns:a="http://schemas.openxmlformats.org/drawingml/2006/main" noGrp="1"/>
          </p:cNvSpPr>
          <p:nvPr/>
        </p:nvSpPr>
        <p:spPr>
          <a:xfrm xmlns:a="http://schemas.openxmlformats.org/drawingml/2006/main">
            <a:off x="742950" y="3543300"/>
            <a:ext cx="21240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07A7A"/>
                </a:solidFill>
              </a:defRPr>
            </a:defPPr>
            <a:lvl1pPr>
              <a:defRPr sz="2100" b="1">
                <a:solidFill>
                  <a:srgbClr val="007A7A"/>
                </a:solidFill>
              </a:defRPr>
            </a:lvl1pPr>
            <a:lvl2pPr>
              <a:defRPr sz="2100" b="1">
                <a:solidFill>
                  <a:srgbClr val="007A7A"/>
                </a:solidFill>
              </a:defRPr>
            </a:lvl2pPr>
            <a:lvl3pPr>
              <a:defRPr sz="2100" b="1">
                <a:solidFill>
                  <a:srgbClr val="007A7A"/>
                </a:solidFill>
              </a:defRPr>
            </a:lvl3pPr>
            <a:lvl4pPr>
              <a:defRPr sz="2100" b="1">
                <a:solidFill>
                  <a:srgbClr val="007A7A"/>
                </a:solidFill>
              </a:defRPr>
            </a:lvl4pPr>
            <a:lvl5pPr>
              <a:defRPr sz="2100" b="1">
                <a:solidFill>
                  <a:srgbClr val="007A7A"/>
                </a:solidFill>
              </a:defRPr>
            </a:lvl5pPr>
            <a:lvl6pPr>
              <a:defRPr sz="2100" b="1">
                <a:solidFill>
                  <a:srgbClr val="007A7A"/>
                </a:solidFill>
              </a:defRPr>
            </a:lvl6pPr>
            <a:lvl7pPr>
              <a:defRPr sz="2100" b="1">
                <a:solidFill>
                  <a:srgbClr val="007A7A"/>
                </a:solidFill>
              </a:defRPr>
            </a:lvl7pPr>
            <a:lvl8pPr>
              <a:defRPr sz="2100" b="1">
                <a:solidFill>
                  <a:srgbClr val="007A7A"/>
                </a:solidFill>
              </a:defRPr>
            </a:lvl8pPr>
            <a:lvl9pPr>
              <a:defRPr sz="2100" b="1">
                <a:solidFill>
                  <a:srgbClr val="007A7A"/>
                </a:solidFill>
              </a:defRPr>
            </a:lvl9pPr>
          </a:lstStyle>
          <a:p xmlns:a="http://schemas.openxmlformats.org/drawingml/2006/main">
            <a:pPr>
              <a:defRPr sz="2100" b="1">
                <a:solidFill>
                  <a:srgbClr val="007A7A"/>
                </a:solidFill>
              </a:defRPr>
            </a:pPr>
            <a:r>
              <a:rPr sz="2100" b="1">
                <a:solidFill>
                  <a:srgbClr val="007A7A"/>
                </a:solidFill>
              </a:rPr>
              <a:t>Learned</a:t>
            </a:r>
          </a:p>
        </p:txBody>
      </p:sp>
      <p:sp>
        <p:nvSpPr>
          <p:cNvPr id="10" name="">
            <a:extLst xmlns:a="http://schemas.openxmlformats.org/drawingml/2006/main">
              <a:ext uri="{FF2B5EF4-FFF2-40B4-BE49-F238E27FC236}">
                <a16:creationId xmlns:a16="http://schemas.microsoft.com/office/drawing/2014/main" id="{5E01CBEA-6751-477F-88FB-4F7C7AE5455C}"/>
              </a:ext>
            </a:extLst>
          </p:cNvPr>
          <p:cNvSpPr>
            <a:spLocks xmlns:a="http://schemas.openxmlformats.org/drawingml/2006/main" noGrp="1"/>
          </p:cNvSpPr>
          <p:nvPr/>
        </p:nvSpPr>
        <p:spPr>
          <a:xfrm xmlns:a="http://schemas.openxmlformats.org/drawingml/2006/main">
            <a:off x="2619375" y="3543300"/>
            <a:ext cx="81248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52F34"/>
                </a:solidFill>
              </a:defRPr>
            </a:defPPr>
            <a:lvl1pPr>
              <a:defRPr sz="1650" b="0">
                <a:solidFill>
                  <a:srgbClr val="152F34"/>
                </a:solidFill>
              </a:defRPr>
            </a:lvl1pPr>
            <a:lvl2pPr>
              <a:defRPr sz="1650" b="0">
                <a:solidFill>
                  <a:srgbClr val="152F34"/>
                </a:solidFill>
              </a:defRPr>
            </a:lvl2pPr>
            <a:lvl3pPr>
              <a:defRPr sz="1650" b="0">
                <a:solidFill>
                  <a:srgbClr val="152F34"/>
                </a:solidFill>
              </a:defRPr>
            </a:lvl3pPr>
            <a:lvl4pPr>
              <a:defRPr sz="1650" b="0">
                <a:solidFill>
                  <a:srgbClr val="152F34"/>
                </a:solidFill>
              </a:defRPr>
            </a:lvl4pPr>
            <a:lvl5pPr>
              <a:defRPr sz="1650" b="0">
                <a:solidFill>
                  <a:srgbClr val="152F34"/>
                </a:solidFill>
              </a:defRPr>
            </a:lvl5pPr>
            <a:lvl6pPr>
              <a:defRPr sz="1650" b="0">
                <a:solidFill>
                  <a:srgbClr val="152F34"/>
                </a:solidFill>
              </a:defRPr>
            </a:lvl6pPr>
            <a:lvl7pPr>
              <a:defRPr sz="1650" b="0">
                <a:solidFill>
                  <a:srgbClr val="152F34"/>
                </a:solidFill>
              </a:defRPr>
            </a:lvl7pPr>
            <a:lvl8pPr>
              <a:defRPr sz="1650" b="0">
                <a:solidFill>
                  <a:srgbClr val="152F34"/>
                </a:solidFill>
              </a:defRPr>
            </a:lvl8pPr>
            <a:lvl9pPr>
              <a:defRPr sz="1650" b="0">
                <a:solidFill>
                  <a:srgbClr val="152F34"/>
                </a:solidFill>
              </a:defRPr>
            </a:lvl9pPr>
          </a:lstStyle>
          <a:p xmlns:a="http://schemas.openxmlformats.org/drawingml/2006/main">
            <a:pPr>
              <a:defRPr sz="1650" b="0">
                <a:solidFill>
                  <a:srgbClr val="152F34"/>
                </a:solidFill>
              </a:defRPr>
            </a:pPr>
            <a:r>
              <a:rPr sz="1650" b="0">
                <a:solidFill>
                  <a:srgbClr val="152F34"/>
                </a:solidFill>
              </a:rPr>
              <a:t>The best route depends on the objective. The GNN is not the forecast winner; safety policies and joint selection drive different trade-offs.</a:t>
            </a:r>
          </a:p>
        </p:txBody>
      </p:sp>
      <p:sp>
        <p:nvSpPr>
          <p:cNvPr id="11" name="">
            <a:extLst xmlns:a="http://schemas.openxmlformats.org/drawingml/2006/main">
              <a:ext uri="{FF2B5EF4-FFF2-40B4-BE49-F238E27FC236}">
                <a16:creationId xmlns:a16="http://schemas.microsoft.com/office/drawing/2014/main" id="{A5217664-E3B9-486B-9EF4-4A449676203D}"/>
              </a:ext>
            </a:extLst>
          </p:cNvPr>
          <p:cNvSpPr>
            <a:spLocks xmlns:a="http://schemas.openxmlformats.org/drawingml/2006/main" noGrp="1"/>
          </p:cNvSpPr>
          <p:nvPr/>
        </p:nvSpPr>
        <p:spPr>
          <a:xfrm xmlns:a="http://schemas.openxmlformats.org/drawingml/2006/main">
            <a:off x="742950" y="4781550"/>
            <a:ext cx="10201275" cy="9525"/>
          </a:xfrm>
          <a:prstGeom xmlns:a="http://schemas.openxmlformats.org/drawingml/2006/main" prst="rect">
            <a:avLst/>
          </a:prstGeom>
          <a:solidFill xmlns:a="http://schemas.openxmlformats.org/drawingml/2006/main">
            <a:srgbClr val="C9D5D1"/>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DD57DAF-AC38-41A3-8CE8-474714445D0A}"/>
              </a:ext>
            </a:extLst>
          </p:cNvPr>
          <p:cNvSpPr>
            <a:spLocks xmlns:a="http://schemas.openxmlformats.org/drawingml/2006/main" noGrp="1"/>
          </p:cNvSpPr>
          <p:nvPr/>
        </p:nvSpPr>
        <p:spPr>
          <a:xfrm xmlns:a="http://schemas.openxmlformats.org/drawingml/2006/main">
            <a:off x="742950" y="5067300"/>
            <a:ext cx="21240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07A7A"/>
                </a:solidFill>
              </a:defRPr>
            </a:defPPr>
            <a:lvl1pPr>
              <a:defRPr sz="2100" b="1">
                <a:solidFill>
                  <a:srgbClr val="007A7A"/>
                </a:solidFill>
              </a:defRPr>
            </a:lvl1pPr>
            <a:lvl2pPr>
              <a:defRPr sz="2100" b="1">
                <a:solidFill>
                  <a:srgbClr val="007A7A"/>
                </a:solidFill>
              </a:defRPr>
            </a:lvl2pPr>
            <a:lvl3pPr>
              <a:defRPr sz="2100" b="1">
                <a:solidFill>
                  <a:srgbClr val="007A7A"/>
                </a:solidFill>
              </a:defRPr>
            </a:lvl3pPr>
            <a:lvl4pPr>
              <a:defRPr sz="2100" b="1">
                <a:solidFill>
                  <a:srgbClr val="007A7A"/>
                </a:solidFill>
              </a:defRPr>
            </a:lvl4pPr>
            <a:lvl5pPr>
              <a:defRPr sz="2100" b="1">
                <a:solidFill>
                  <a:srgbClr val="007A7A"/>
                </a:solidFill>
              </a:defRPr>
            </a:lvl5pPr>
            <a:lvl6pPr>
              <a:defRPr sz="2100" b="1">
                <a:solidFill>
                  <a:srgbClr val="007A7A"/>
                </a:solidFill>
              </a:defRPr>
            </a:lvl6pPr>
            <a:lvl7pPr>
              <a:defRPr sz="2100" b="1">
                <a:solidFill>
                  <a:srgbClr val="007A7A"/>
                </a:solidFill>
              </a:defRPr>
            </a:lvl7pPr>
            <a:lvl8pPr>
              <a:defRPr sz="2100" b="1">
                <a:solidFill>
                  <a:srgbClr val="007A7A"/>
                </a:solidFill>
              </a:defRPr>
            </a:lvl8pPr>
            <a:lvl9pPr>
              <a:defRPr sz="2100" b="1">
                <a:solidFill>
                  <a:srgbClr val="007A7A"/>
                </a:solidFill>
              </a:defRPr>
            </a:lvl9pPr>
          </a:lstStyle>
          <a:p xmlns:a="http://schemas.openxmlformats.org/drawingml/2006/main">
            <a:pPr>
              <a:defRPr sz="2100" b="1">
                <a:solidFill>
                  <a:srgbClr val="007A7A"/>
                </a:solidFill>
              </a:defRPr>
            </a:pPr>
            <a:r>
              <a:rPr sz="2100" b="1">
                <a:solidFill>
                  <a:srgbClr val="007A7A"/>
                </a:solidFill>
              </a:rPr>
              <a:t>Next</a:t>
            </a:r>
          </a:p>
        </p:txBody>
      </p:sp>
      <p:sp>
        <p:nvSpPr>
          <p:cNvPr id="13" name="">
            <a:extLst xmlns:a="http://schemas.openxmlformats.org/drawingml/2006/main">
              <a:ext uri="{FF2B5EF4-FFF2-40B4-BE49-F238E27FC236}">
                <a16:creationId xmlns:a16="http://schemas.microsoft.com/office/drawing/2014/main" id="{4B55E207-1A9C-4A75-BCD9-59BB538BDA24}"/>
              </a:ext>
            </a:extLst>
          </p:cNvPr>
          <p:cNvSpPr>
            <a:spLocks xmlns:a="http://schemas.openxmlformats.org/drawingml/2006/main" noGrp="1"/>
          </p:cNvSpPr>
          <p:nvPr/>
        </p:nvSpPr>
        <p:spPr>
          <a:xfrm xmlns:a="http://schemas.openxmlformats.org/drawingml/2006/main">
            <a:off x="2619375" y="5067300"/>
            <a:ext cx="81248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650" b="0">
                <a:solidFill>
                  <a:srgbClr val="152F34"/>
                </a:solidFill>
              </a:defRPr>
            </a:defPPr>
            <a:lvl1pPr>
              <a:defRPr sz="1650" b="0">
                <a:solidFill>
                  <a:srgbClr val="152F34"/>
                </a:solidFill>
              </a:defRPr>
            </a:lvl1pPr>
            <a:lvl2pPr>
              <a:defRPr sz="1650" b="0">
                <a:solidFill>
                  <a:srgbClr val="152F34"/>
                </a:solidFill>
              </a:defRPr>
            </a:lvl2pPr>
            <a:lvl3pPr>
              <a:defRPr sz="1650" b="0">
                <a:solidFill>
                  <a:srgbClr val="152F34"/>
                </a:solidFill>
              </a:defRPr>
            </a:lvl3pPr>
            <a:lvl4pPr>
              <a:defRPr sz="1650" b="0">
                <a:solidFill>
                  <a:srgbClr val="152F34"/>
                </a:solidFill>
              </a:defRPr>
            </a:lvl4pPr>
            <a:lvl5pPr>
              <a:defRPr sz="1650" b="0">
                <a:solidFill>
                  <a:srgbClr val="152F34"/>
                </a:solidFill>
              </a:defRPr>
            </a:lvl5pPr>
            <a:lvl6pPr>
              <a:defRPr sz="1650" b="0">
                <a:solidFill>
                  <a:srgbClr val="152F34"/>
                </a:solidFill>
              </a:defRPr>
            </a:lvl6pPr>
            <a:lvl7pPr>
              <a:defRPr sz="1650" b="0">
                <a:solidFill>
                  <a:srgbClr val="152F34"/>
                </a:solidFill>
              </a:defRPr>
            </a:lvl7pPr>
            <a:lvl8pPr>
              <a:defRPr sz="1650" b="0">
                <a:solidFill>
                  <a:srgbClr val="152F34"/>
                </a:solidFill>
              </a:defRPr>
            </a:lvl8pPr>
            <a:lvl9pPr>
              <a:defRPr sz="1650" b="0">
                <a:solidFill>
                  <a:srgbClr val="152F34"/>
                </a:solidFill>
              </a:defRPr>
            </a:lvl9pPr>
          </a:lstStyle>
          <a:p xmlns:a="http://schemas.openxmlformats.org/drawingml/2006/main">
            <a:pPr>
              <a:defRPr sz="1650" b="0">
                <a:solidFill>
                  <a:srgbClr val="152F34"/>
                </a:solidFill>
              </a:defRPr>
            </a:pPr>
            <a:r>
              <a:rPr sz="1650" b="0">
                <a:solidFill>
                  <a:srgbClr val="152F34"/>
                </a:solidFill>
              </a:rPr>
              <a:t>Freeze settings, evaluate more independent traffic days, and test packet-level behavior before stronger paper claims.</a:t>
            </a:r>
          </a:p>
        </p:txBody>
      </p:sp>
    </p:spTree>
    <p:extLst>
      <p:ext uri="{BB962C8B-B14F-4D97-AF65-F5344CB8AC3E}">
        <p14:creationId xmlns:p14="http://schemas.microsoft.com/office/powerpoint/2010/main" val="1261073630"/>
      </p:ext>
    </p:extLst>
  </p:cSld>
</p:sld>
</file>

<file path=ppt/slides/slide1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AB57DD0-DACF-412D-A413-73B709FCA6B9}"/>
              </a:ext>
            </a:extLst>
          </p:cNvPr>
          <p:cNvSpPr>
            <a:spLocks xmlns:a="http://schemas.openxmlformats.org/drawingml/2006/main" noGrp="1"/>
          </p:cNvSpPr>
          <p:nvPr/>
        </p:nvSpPr>
        <p:spPr>
          <a:xfrm xmlns:a="http://schemas.openxmlformats.org/drawingml/2006/main">
            <a:off x="647700" y="304800"/>
            <a:ext cx="809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050" b="1">
                <a:solidFill>
                  <a:srgbClr val="536A6D"/>
                </a:solidFill>
              </a:defRPr>
            </a:defPPr>
            <a:lvl1pPr>
              <a:defRPr sz="1050" b="1">
                <a:solidFill>
                  <a:srgbClr val="536A6D"/>
                </a:solidFill>
              </a:defRPr>
            </a:lvl1pPr>
            <a:lvl2pPr>
              <a:defRPr sz="1050" b="1">
                <a:solidFill>
                  <a:srgbClr val="536A6D"/>
                </a:solidFill>
              </a:defRPr>
            </a:lvl2pPr>
            <a:lvl3pPr>
              <a:defRPr sz="1050" b="1">
                <a:solidFill>
                  <a:srgbClr val="536A6D"/>
                </a:solidFill>
              </a:defRPr>
            </a:lvl3pPr>
            <a:lvl4pPr>
              <a:defRPr sz="1050" b="1">
                <a:solidFill>
                  <a:srgbClr val="536A6D"/>
                </a:solidFill>
              </a:defRPr>
            </a:lvl4pPr>
            <a:lvl5pPr>
              <a:defRPr sz="1050" b="1">
                <a:solidFill>
                  <a:srgbClr val="536A6D"/>
                </a:solidFill>
              </a:defRPr>
            </a:lvl5pPr>
            <a:lvl6pPr>
              <a:defRPr sz="1050" b="1">
                <a:solidFill>
                  <a:srgbClr val="536A6D"/>
                </a:solidFill>
              </a:defRPr>
            </a:lvl6pPr>
            <a:lvl7pPr>
              <a:defRPr sz="1050" b="1">
                <a:solidFill>
                  <a:srgbClr val="536A6D"/>
                </a:solidFill>
              </a:defRPr>
            </a:lvl7pPr>
            <a:lvl8pPr>
              <a:defRPr sz="1050" b="1">
                <a:solidFill>
                  <a:srgbClr val="536A6D"/>
                </a:solidFill>
              </a:defRPr>
            </a:lvl8pPr>
            <a:lvl9pPr>
              <a:defRPr sz="1050" b="1">
                <a:solidFill>
                  <a:srgbClr val="536A6D"/>
                </a:solidFill>
              </a:defRPr>
            </a:lvl9pPr>
          </a:lstStyle>
          <a:p xmlns:a="http://schemas.openxmlformats.org/drawingml/2006/main">
            <a:pPr>
              <a:defRPr sz="1050" b="1">
                <a:solidFill>
                  <a:srgbClr val="536A6D"/>
                </a:solidFill>
              </a:defRPr>
            </a:pPr>
            <a:r>
              <a:rPr sz="1050" b="1">
                <a:solidFill>
                  <a:srgbClr val="536A6D"/>
                </a:solidFill>
              </a:rPr>
              <a:t>SOURCES</a:t>
            </a:r>
          </a:p>
        </p:txBody>
      </p:sp>
      <p:sp>
        <p:nvSpPr>
          <p:cNvPr id="2" name="">
            <a:extLst xmlns:a="http://schemas.openxmlformats.org/drawingml/2006/main">
              <a:ext uri="{FF2B5EF4-FFF2-40B4-BE49-F238E27FC236}">
                <a16:creationId xmlns:a16="http://schemas.microsoft.com/office/drawing/2014/main" id="{B60EF910-208B-479E-8FFD-92BB0E4BB792}"/>
              </a:ext>
            </a:extLst>
          </p:cNvPr>
          <p:cNvSpPr>
            <a:spLocks xmlns:a="http://schemas.openxmlformats.org/drawingml/2006/main" noGrp="1"/>
          </p:cNvSpPr>
          <p:nvPr/>
        </p:nvSpPr>
        <p:spPr>
          <a:xfrm xmlns:a="http://schemas.openxmlformats.org/drawingml/2006/main">
            <a:off x="647700" y="723900"/>
            <a:ext cx="10763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152F34"/>
                </a:solidFill>
              </a:defRPr>
            </a:defPPr>
            <a:lvl1pPr>
              <a:defRPr sz="2775" b="1">
                <a:solidFill>
                  <a:srgbClr val="152F34"/>
                </a:solidFill>
              </a:defRPr>
            </a:lvl1pPr>
            <a:lvl2pPr>
              <a:defRPr sz="2775" b="1">
                <a:solidFill>
                  <a:srgbClr val="152F34"/>
                </a:solidFill>
              </a:defRPr>
            </a:lvl2pPr>
            <a:lvl3pPr>
              <a:defRPr sz="2775" b="1">
                <a:solidFill>
                  <a:srgbClr val="152F34"/>
                </a:solidFill>
              </a:defRPr>
            </a:lvl3pPr>
            <a:lvl4pPr>
              <a:defRPr sz="2775" b="1">
                <a:solidFill>
                  <a:srgbClr val="152F34"/>
                </a:solidFill>
              </a:defRPr>
            </a:lvl4pPr>
            <a:lvl5pPr>
              <a:defRPr sz="2775" b="1">
                <a:solidFill>
                  <a:srgbClr val="152F34"/>
                </a:solidFill>
              </a:defRPr>
            </a:lvl5pPr>
            <a:lvl6pPr>
              <a:defRPr sz="2775" b="1">
                <a:solidFill>
                  <a:srgbClr val="152F34"/>
                </a:solidFill>
              </a:defRPr>
            </a:lvl6pPr>
            <a:lvl7pPr>
              <a:defRPr sz="2775" b="1">
                <a:solidFill>
                  <a:srgbClr val="152F34"/>
                </a:solidFill>
              </a:defRPr>
            </a:lvl7pPr>
            <a:lvl8pPr>
              <a:defRPr sz="2775" b="1">
                <a:solidFill>
                  <a:srgbClr val="152F34"/>
                </a:solidFill>
              </a:defRPr>
            </a:lvl8pPr>
            <a:lvl9pPr>
              <a:defRPr sz="2775" b="1">
                <a:solidFill>
                  <a:srgbClr val="152F34"/>
                </a:solidFill>
              </a:defRPr>
            </a:lvl9pPr>
          </a:lstStyle>
          <a:p xmlns:a="http://schemas.openxmlformats.org/drawingml/2006/main">
            <a:pPr>
              <a:defRPr sz="2775" b="1">
                <a:solidFill>
                  <a:srgbClr val="152F34"/>
                </a:solidFill>
              </a:defRPr>
            </a:pPr>
            <a:r>
              <a:rPr sz="2775" b="1">
                <a:solidFill>
                  <a:srgbClr val="152F34"/>
                </a:solidFill>
              </a:rPr>
              <a:t>Data and research sources</a:t>
            </a:r>
          </a:p>
        </p:txBody>
      </p:sp>
      <p:sp>
        <p:nvSpPr>
          <p:cNvPr id="3" name="">
            <a:extLst xmlns:a="http://schemas.openxmlformats.org/drawingml/2006/main">
              <a:ext uri="{FF2B5EF4-FFF2-40B4-BE49-F238E27FC236}">
                <a16:creationId xmlns:a16="http://schemas.microsoft.com/office/drawing/2014/main" id="{A1A2C7C5-FD1A-44D1-A27C-CDF30EBF6FF5}"/>
              </a:ext>
            </a:extLst>
          </p:cNvPr>
          <p:cNvSpPr>
            <a:spLocks xmlns:a="http://schemas.openxmlformats.org/drawingml/2006/main" noGrp="1"/>
          </p:cNvSpPr>
          <p:nvPr/>
        </p:nvSpPr>
        <p:spPr>
          <a:xfrm xmlns:a="http://schemas.openxmlformats.org/drawingml/2006/main">
            <a:off x="647700" y="1562100"/>
            <a:ext cx="10896600" cy="19050"/>
          </a:xfrm>
          <a:prstGeom xmlns:a="http://schemas.openxmlformats.org/drawingml/2006/main" prst="rect">
            <a:avLst/>
          </a:prstGeom>
          <a:solidFill xmlns:a="http://schemas.openxmlformats.org/drawingml/2006/main">
            <a:srgbClr val="C9D5D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38323BB-293B-4CC3-B0D6-984D86E5A75C}"/>
              </a:ext>
            </a:extLst>
          </p:cNvPr>
          <p:cNvSpPr>
            <a:spLocks xmlns:a="http://schemas.openxmlformats.org/drawingml/2006/main" noGrp="1"/>
          </p:cNvSpPr>
          <p:nvPr/>
        </p:nvSpPr>
        <p:spPr>
          <a:xfrm xmlns:a="http://schemas.openxmlformats.org/drawingml/2006/main">
            <a:off x="647700" y="6467475"/>
            <a:ext cx="66675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00" b="1">
                <a:solidFill>
                  <a:srgbClr val="536A6D"/>
                </a:solidFill>
              </a:defRPr>
            </a:defPPr>
            <a:lvl1pPr>
              <a:defRPr sz="900" b="1">
                <a:solidFill>
                  <a:srgbClr val="536A6D"/>
                </a:solidFill>
              </a:defRPr>
            </a:lvl1pPr>
            <a:lvl2pPr>
              <a:defRPr sz="900" b="1">
                <a:solidFill>
                  <a:srgbClr val="536A6D"/>
                </a:solidFill>
              </a:defRPr>
            </a:lvl2pPr>
            <a:lvl3pPr>
              <a:defRPr sz="900" b="1">
                <a:solidFill>
                  <a:srgbClr val="536A6D"/>
                </a:solidFill>
              </a:defRPr>
            </a:lvl3pPr>
            <a:lvl4pPr>
              <a:defRPr sz="900" b="1">
                <a:solidFill>
                  <a:srgbClr val="536A6D"/>
                </a:solidFill>
              </a:defRPr>
            </a:lvl4pPr>
            <a:lvl5pPr>
              <a:defRPr sz="900" b="1">
                <a:solidFill>
                  <a:srgbClr val="536A6D"/>
                </a:solidFill>
              </a:defRPr>
            </a:lvl5pPr>
            <a:lvl6pPr>
              <a:defRPr sz="900" b="1">
                <a:solidFill>
                  <a:srgbClr val="536A6D"/>
                </a:solidFill>
              </a:defRPr>
            </a:lvl6pPr>
            <a:lvl7pPr>
              <a:defRPr sz="900" b="1">
                <a:solidFill>
                  <a:srgbClr val="536A6D"/>
                </a:solidFill>
              </a:defRPr>
            </a:lvl7pPr>
            <a:lvl8pPr>
              <a:defRPr sz="900" b="1">
                <a:solidFill>
                  <a:srgbClr val="536A6D"/>
                </a:solidFill>
              </a:defRPr>
            </a:lvl8pPr>
            <a:lvl9pPr>
              <a:defRPr sz="900" b="1">
                <a:solidFill>
                  <a:srgbClr val="536A6D"/>
                </a:solidFill>
              </a:defRPr>
            </a:lvl9pPr>
          </a:lstStyle>
          <a:p xmlns:a="http://schemas.openxmlformats.org/drawingml/2006/main">
            <a:pPr>
              <a:defRPr sz="900" b="1">
                <a:solidFill>
                  <a:srgbClr val="536A6D"/>
                </a:solidFill>
              </a:defRPr>
            </a:pPr>
            <a:r>
              <a:rPr sz="900" b="1">
                <a:solidFill>
                  <a:srgbClr val="536A6D"/>
                </a:solidFill>
              </a:rPr>
              <a:t>CARBONROUTE  /  REVIEW 1</a:t>
            </a:r>
          </a:p>
        </p:txBody>
      </p:sp>
      <p:sp>
        <p:nvSpPr>
          <p:cNvPr id="5" name="">
            <a:extLst xmlns:a="http://schemas.openxmlformats.org/drawingml/2006/main">
              <a:ext uri="{FF2B5EF4-FFF2-40B4-BE49-F238E27FC236}">
                <a16:creationId xmlns:a16="http://schemas.microsoft.com/office/drawing/2014/main" id="{124088E9-5591-403D-B97E-4C63123C09C8}"/>
              </a:ext>
            </a:extLst>
          </p:cNvPr>
          <p:cNvSpPr>
            <a:spLocks xmlns:a="http://schemas.openxmlformats.org/drawingml/2006/main" noGrp="1"/>
          </p:cNvSpPr>
          <p:nvPr/>
        </p:nvSpPr>
        <p:spPr>
          <a:xfrm xmlns:a="http://schemas.openxmlformats.org/drawingml/2006/main">
            <a:off x="11077575" y="6448425"/>
            <a:ext cx="4476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1">
                <a:solidFill>
                  <a:srgbClr val="536A6D"/>
                </a:solidFill>
              </a:defRPr>
            </a:defPPr>
            <a:lvl1pPr>
              <a:defRPr sz="975" b="1">
                <a:solidFill>
                  <a:srgbClr val="536A6D"/>
                </a:solidFill>
              </a:defRPr>
            </a:lvl1pPr>
            <a:lvl2pPr>
              <a:defRPr sz="975" b="1">
                <a:solidFill>
                  <a:srgbClr val="536A6D"/>
                </a:solidFill>
              </a:defRPr>
            </a:lvl2pPr>
            <a:lvl3pPr>
              <a:defRPr sz="975" b="1">
                <a:solidFill>
                  <a:srgbClr val="536A6D"/>
                </a:solidFill>
              </a:defRPr>
            </a:lvl3pPr>
            <a:lvl4pPr>
              <a:defRPr sz="975" b="1">
                <a:solidFill>
                  <a:srgbClr val="536A6D"/>
                </a:solidFill>
              </a:defRPr>
            </a:lvl4pPr>
            <a:lvl5pPr>
              <a:defRPr sz="975" b="1">
                <a:solidFill>
                  <a:srgbClr val="536A6D"/>
                </a:solidFill>
              </a:defRPr>
            </a:lvl5pPr>
            <a:lvl6pPr>
              <a:defRPr sz="975" b="1">
                <a:solidFill>
                  <a:srgbClr val="536A6D"/>
                </a:solidFill>
              </a:defRPr>
            </a:lvl6pPr>
            <a:lvl7pPr>
              <a:defRPr sz="975" b="1">
                <a:solidFill>
                  <a:srgbClr val="536A6D"/>
                </a:solidFill>
              </a:defRPr>
            </a:lvl7pPr>
            <a:lvl8pPr>
              <a:defRPr sz="975" b="1">
                <a:solidFill>
                  <a:srgbClr val="536A6D"/>
                </a:solidFill>
              </a:defRPr>
            </a:lvl8pPr>
            <a:lvl9pPr>
              <a:defRPr sz="975" b="1">
                <a:solidFill>
                  <a:srgbClr val="536A6D"/>
                </a:solidFill>
              </a:defRPr>
            </a:lvl9pPr>
          </a:lstStyle>
          <a:p xmlns:a="http://schemas.openxmlformats.org/drawingml/2006/main">
            <a:pPr>
              <a:defRPr sz="975" b="1">
                <a:solidFill>
                  <a:srgbClr val="536A6D"/>
                </a:solidFill>
              </a:defRPr>
            </a:pPr>
            <a:r>
              <a:rPr sz="975" b="1">
                <a:solidFill>
                  <a:srgbClr val="536A6D"/>
                </a:solidFill>
              </a:rPr>
              <a:t>16</a:t>
            </a:r>
          </a:p>
        </p:txBody>
      </p:sp>
      <p:sp>
        <p:nvSpPr>
          <p:cNvPr id="6" name="">
            <a:extLst xmlns:a="http://schemas.openxmlformats.org/drawingml/2006/main">
              <a:ext uri="{FF2B5EF4-FFF2-40B4-BE49-F238E27FC236}">
                <a16:creationId xmlns:a16="http://schemas.microsoft.com/office/drawing/2014/main" id="{B2A34A89-5988-48B4-A162-8A6FABB9A5BF}"/>
              </a:ext>
            </a:extLst>
          </p:cNvPr>
          <p:cNvSpPr>
            <a:spLocks xmlns:a="http://schemas.openxmlformats.org/drawingml/2006/main" noGrp="1"/>
          </p:cNvSpPr>
          <p:nvPr/>
        </p:nvSpPr>
        <p:spPr>
          <a:xfrm xmlns:a="http://schemas.openxmlformats.org/drawingml/2006/main">
            <a:off x="752475" y="2047875"/>
            <a:ext cx="66675" cy="66675"/>
          </a:xfrm>
          <a:prstGeom xmlns:a="http://schemas.openxmlformats.org/drawingml/2006/main" prst="rect">
            <a:avLst/>
          </a:prstGeom>
          <a:solidFill xmlns:a="http://schemas.openxmlformats.org/drawingml/2006/main">
            <a:srgbClr val="007A7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72CFE36-2EF3-4D52-8FDC-A606C510B2B4}"/>
              </a:ext>
            </a:extLst>
          </p:cNvPr>
          <p:cNvSpPr>
            <a:spLocks xmlns:a="http://schemas.openxmlformats.org/drawingml/2006/main" noGrp="1"/>
          </p:cNvSpPr>
          <p:nvPr/>
        </p:nvSpPr>
        <p:spPr>
          <a:xfrm xmlns:a="http://schemas.openxmlformats.org/drawingml/2006/main">
            <a:off x="971550" y="1933575"/>
            <a:ext cx="1009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152F34"/>
                </a:solidFill>
              </a:defRPr>
            </a:defPPr>
            <a:lvl1pPr>
              <a:defRPr sz="1425" b="0">
                <a:solidFill>
                  <a:srgbClr val="152F34"/>
                </a:solidFill>
              </a:defRPr>
            </a:lvl1pPr>
            <a:lvl2pPr>
              <a:defRPr sz="1425" b="0">
                <a:solidFill>
                  <a:srgbClr val="152F34"/>
                </a:solidFill>
              </a:defRPr>
            </a:lvl2pPr>
            <a:lvl3pPr>
              <a:defRPr sz="1425" b="0">
                <a:solidFill>
                  <a:srgbClr val="152F34"/>
                </a:solidFill>
              </a:defRPr>
            </a:lvl3pPr>
            <a:lvl4pPr>
              <a:defRPr sz="1425" b="0">
                <a:solidFill>
                  <a:srgbClr val="152F34"/>
                </a:solidFill>
              </a:defRPr>
            </a:lvl4pPr>
            <a:lvl5pPr>
              <a:defRPr sz="1425" b="0">
                <a:solidFill>
                  <a:srgbClr val="152F34"/>
                </a:solidFill>
              </a:defRPr>
            </a:lvl5pPr>
            <a:lvl6pPr>
              <a:defRPr sz="1425" b="0">
                <a:solidFill>
                  <a:srgbClr val="152F34"/>
                </a:solidFill>
              </a:defRPr>
            </a:lvl6pPr>
            <a:lvl7pPr>
              <a:defRPr sz="1425" b="0">
                <a:solidFill>
                  <a:srgbClr val="152F34"/>
                </a:solidFill>
              </a:defRPr>
            </a:lvl7pPr>
            <a:lvl8pPr>
              <a:defRPr sz="1425" b="0">
                <a:solidFill>
                  <a:srgbClr val="152F34"/>
                </a:solidFill>
              </a:defRPr>
            </a:lvl8pPr>
            <a:lvl9pPr>
              <a:defRPr sz="1425" b="0">
                <a:solidFill>
                  <a:srgbClr val="152F34"/>
                </a:solidFill>
              </a:defRPr>
            </a:lvl9pPr>
          </a:lstStyle>
          <a:p xmlns:a="http://schemas.openxmlformats.org/drawingml/2006/main">
            <a:pPr>
              <a:defRPr sz="1425" b="0">
                <a:solidFill>
                  <a:srgbClr val="152F34"/>
                </a:solidFill>
              </a:defRPr>
            </a:pPr>
            <a:r>
              <a:rPr sz="1425" b="0">
                <a:solidFill>
                  <a:srgbClr val="152F34"/>
                </a:solidFill>
              </a:rPr>
              <a:t>SNDlib GÉANT topology / traffic: sndlib.put.poznan.pl</a:t>
            </a:r>
          </a:p>
        </p:txBody>
      </p:sp>
      <p:sp>
        <p:nvSpPr>
          <p:cNvPr id="8" name="">
            <a:extLst xmlns:a="http://schemas.openxmlformats.org/drawingml/2006/main">
              <a:ext uri="{FF2B5EF4-FFF2-40B4-BE49-F238E27FC236}">
                <a16:creationId xmlns:a16="http://schemas.microsoft.com/office/drawing/2014/main" id="{AF8CD695-8934-4A1B-8944-AC781DE9CA6A}"/>
              </a:ext>
            </a:extLst>
          </p:cNvPr>
          <p:cNvSpPr>
            <a:spLocks xmlns:a="http://schemas.openxmlformats.org/drawingml/2006/main" noGrp="1"/>
          </p:cNvSpPr>
          <p:nvPr/>
        </p:nvSpPr>
        <p:spPr>
          <a:xfrm xmlns:a="http://schemas.openxmlformats.org/drawingml/2006/main">
            <a:off x="752475" y="2638425"/>
            <a:ext cx="66675" cy="66675"/>
          </a:xfrm>
          <a:prstGeom xmlns:a="http://schemas.openxmlformats.org/drawingml/2006/main" prst="rect">
            <a:avLst/>
          </a:prstGeom>
          <a:solidFill xmlns:a="http://schemas.openxmlformats.org/drawingml/2006/main">
            <a:srgbClr val="007A7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F0132D9-6CA3-4D03-8F63-5AAAD2A5504D}"/>
              </a:ext>
            </a:extLst>
          </p:cNvPr>
          <p:cNvSpPr>
            <a:spLocks xmlns:a="http://schemas.openxmlformats.org/drawingml/2006/main" noGrp="1"/>
          </p:cNvSpPr>
          <p:nvPr/>
        </p:nvSpPr>
        <p:spPr>
          <a:xfrm xmlns:a="http://schemas.openxmlformats.org/drawingml/2006/main">
            <a:off x="971550" y="2524125"/>
            <a:ext cx="1009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152F34"/>
                </a:solidFill>
              </a:defRPr>
            </a:defPPr>
            <a:lvl1pPr>
              <a:defRPr sz="1425" b="0">
                <a:solidFill>
                  <a:srgbClr val="152F34"/>
                </a:solidFill>
              </a:defRPr>
            </a:lvl1pPr>
            <a:lvl2pPr>
              <a:defRPr sz="1425" b="0">
                <a:solidFill>
                  <a:srgbClr val="152F34"/>
                </a:solidFill>
              </a:defRPr>
            </a:lvl2pPr>
            <a:lvl3pPr>
              <a:defRPr sz="1425" b="0">
                <a:solidFill>
                  <a:srgbClr val="152F34"/>
                </a:solidFill>
              </a:defRPr>
            </a:lvl3pPr>
            <a:lvl4pPr>
              <a:defRPr sz="1425" b="0">
                <a:solidFill>
                  <a:srgbClr val="152F34"/>
                </a:solidFill>
              </a:defRPr>
            </a:lvl4pPr>
            <a:lvl5pPr>
              <a:defRPr sz="1425" b="0">
                <a:solidFill>
                  <a:srgbClr val="152F34"/>
                </a:solidFill>
              </a:defRPr>
            </a:lvl5pPr>
            <a:lvl6pPr>
              <a:defRPr sz="1425" b="0">
                <a:solidFill>
                  <a:srgbClr val="152F34"/>
                </a:solidFill>
              </a:defRPr>
            </a:lvl6pPr>
            <a:lvl7pPr>
              <a:defRPr sz="1425" b="0">
                <a:solidFill>
                  <a:srgbClr val="152F34"/>
                </a:solidFill>
              </a:defRPr>
            </a:lvl7pPr>
            <a:lvl8pPr>
              <a:defRPr sz="1425" b="0">
                <a:solidFill>
                  <a:srgbClr val="152F34"/>
                </a:solidFill>
              </a:defRPr>
            </a:lvl8pPr>
            <a:lvl9pPr>
              <a:defRPr sz="1425" b="0">
                <a:solidFill>
                  <a:srgbClr val="152F34"/>
                </a:solidFill>
              </a:defRPr>
            </a:lvl9pPr>
          </a:lstStyle>
          <a:p xmlns:a="http://schemas.openxmlformats.org/drawingml/2006/main">
            <a:pPr>
              <a:defRPr sz="1425" b="0">
                <a:solidFill>
                  <a:srgbClr val="152F34"/>
                </a:solidFill>
              </a:defRPr>
            </a:pPr>
            <a:r>
              <a:rPr sz="1425" b="0">
                <a:solidFill>
                  <a:srgbClr val="152F34"/>
                </a:solidFill>
              </a:rPr>
              <a:t>ECON-PowerCI grid intensity dataset: zenodo.org/records/15987717</a:t>
            </a:r>
          </a:p>
        </p:txBody>
      </p:sp>
      <p:sp>
        <p:nvSpPr>
          <p:cNvPr id="10" name="">
            <a:extLst xmlns:a="http://schemas.openxmlformats.org/drawingml/2006/main">
              <a:ext uri="{FF2B5EF4-FFF2-40B4-BE49-F238E27FC236}">
                <a16:creationId xmlns:a16="http://schemas.microsoft.com/office/drawing/2014/main" id="{C8590C31-6113-424D-923A-9524EB4A306D}"/>
              </a:ext>
            </a:extLst>
          </p:cNvPr>
          <p:cNvSpPr>
            <a:spLocks xmlns:a="http://schemas.openxmlformats.org/drawingml/2006/main" noGrp="1"/>
          </p:cNvSpPr>
          <p:nvPr/>
        </p:nvSpPr>
        <p:spPr>
          <a:xfrm xmlns:a="http://schemas.openxmlformats.org/drawingml/2006/main">
            <a:off x="752475" y="3228975"/>
            <a:ext cx="66675" cy="66675"/>
          </a:xfrm>
          <a:prstGeom xmlns:a="http://schemas.openxmlformats.org/drawingml/2006/main" prst="rect">
            <a:avLst/>
          </a:prstGeom>
          <a:solidFill xmlns:a="http://schemas.openxmlformats.org/drawingml/2006/main">
            <a:srgbClr val="007A7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2B74480-3F5A-424A-9BC7-8469204D846C}"/>
              </a:ext>
            </a:extLst>
          </p:cNvPr>
          <p:cNvSpPr>
            <a:spLocks xmlns:a="http://schemas.openxmlformats.org/drawingml/2006/main" noGrp="1"/>
          </p:cNvSpPr>
          <p:nvPr/>
        </p:nvSpPr>
        <p:spPr>
          <a:xfrm xmlns:a="http://schemas.openxmlformats.org/drawingml/2006/main">
            <a:off x="971550" y="3114675"/>
            <a:ext cx="1009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152F34"/>
                </a:solidFill>
              </a:defRPr>
            </a:defPPr>
            <a:lvl1pPr>
              <a:defRPr sz="1425" b="0">
                <a:solidFill>
                  <a:srgbClr val="152F34"/>
                </a:solidFill>
              </a:defRPr>
            </a:lvl1pPr>
            <a:lvl2pPr>
              <a:defRPr sz="1425" b="0">
                <a:solidFill>
                  <a:srgbClr val="152F34"/>
                </a:solidFill>
              </a:defRPr>
            </a:lvl2pPr>
            <a:lvl3pPr>
              <a:defRPr sz="1425" b="0">
                <a:solidFill>
                  <a:srgbClr val="152F34"/>
                </a:solidFill>
              </a:defRPr>
            </a:lvl3pPr>
            <a:lvl4pPr>
              <a:defRPr sz="1425" b="0">
                <a:solidFill>
                  <a:srgbClr val="152F34"/>
                </a:solidFill>
              </a:defRPr>
            </a:lvl4pPr>
            <a:lvl5pPr>
              <a:defRPr sz="1425" b="0">
                <a:solidFill>
                  <a:srgbClr val="152F34"/>
                </a:solidFill>
              </a:defRPr>
            </a:lvl5pPr>
            <a:lvl6pPr>
              <a:defRPr sz="1425" b="0">
                <a:solidFill>
                  <a:srgbClr val="152F34"/>
                </a:solidFill>
              </a:defRPr>
            </a:lvl6pPr>
            <a:lvl7pPr>
              <a:defRPr sz="1425" b="0">
                <a:solidFill>
                  <a:srgbClr val="152F34"/>
                </a:solidFill>
              </a:defRPr>
            </a:lvl7pPr>
            <a:lvl8pPr>
              <a:defRPr sz="1425" b="0">
                <a:solidFill>
                  <a:srgbClr val="152F34"/>
                </a:solidFill>
              </a:defRPr>
            </a:lvl8pPr>
            <a:lvl9pPr>
              <a:defRPr sz="1425" b="0">
                <a:solidFill>
                  <a:srgbClr val="152F34"/>
                </a:solidFill>
              </a:defRPr>
            </a:lvl9pPr>
          </a:lstStyle>
          <a:p xmlns:a="http://schemas.openxmlformats.org/drawingml/2006/main">
            <a:pPr>
              <a:defRPr sz="1425" b="0">
                <a:solidFill>
                  <a:srgbClr val="152F34"/>
                </a:solidFill>
              </a:defRPr>
            </a:pPr>
            <a:r>
              <a:rPr sz="1425" b="0">
                <a:solidFill>
                  <a:srgbClr val="152F34"/>
                </a:solidFill>
              </a:rPr>
              <a:t>B4 software-defined WAN traffic engineering: research.google.com/pubs/archive/41761.pdf</a:t>
            </a:r>
          </a:p>
        </p:txBody>
      </p:sp>
      <p:sp>
        <p:nvSpPr>
          <p:cNvPr id="12" name="">
            <a:extLst xmlns:a="http://schemas.openxmlformats.org/drawingml/2006/main">
              <a:ext uri="{FF2B5EF4-FFF2-40B4-BE49-F238E27FC236}">
                <a16:creationId xmlns:a16="http://schemas.microsoft.com/office/drawing/2014/main" id="{C83BA404-B539-4921-BCC5-507AA2C8FDE7}"/>
              </a:ext>
            </a:extLst>
          </p:cNvPr>
          <p:cNvSpPr>
            <a:spLocks xmlns:a="http://schemas.openxmlformats.org/drawingml/2006/main" noGrp="1"/>
          </p:cNvSpPr>
          <p:nvPr/>
        </p:nvSpPr>
        <p:spPr>
          <a:xfrm xmlns:a="http://schemas.openxmlformats.org/drawingml/2006/main">
            <a:off x="752475" y="3819525"/>
            <a:ext cx="66675" cy="66675"/>
          </a:xfrm>
          <a:prstGeom xmlns:a="http://schemas.openxmlformats.org/drawingml/2006/main" prst="rect">
            <a:avLst/>
          </a:prstGeom>
          <a:solidFill xmlns:a="http://schemas.openxmlformats.org/drawingml/2006/main">
            <a:srgbClr val="007A7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20CCF06-EB9B-4B5F-AA36-6C017BF37050}"/>
              </a:ext>
            </a:extLst>
          </p:cNvPr>
          <p:cNvSpPr>
            <a:spLocks xmlns:a="http://schemas.openxmlformats.org/drawingml/2006/main" noGrp="1"/>
          </p:cNvSpPr>
          <p:nvPr/>
        </p:nvSpPr>
        <p:spPr>
          <a:xfrm xmlns:a="http://schemas.openxmlformats.org/drawingml/2006/main">
            <a:off x="971550" y="3705225"/>
            <a:ext cx="1009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152F34"/>
                </a:solidFill>
              </a:defRPr>
            </a:defPPr>
            <a:lvl1pPr>
              <a:defRPr sz="1425" b="0">
                <a:solidFill>
                  <a:srgbClr val="152F34"/>
                </a:solidFill>
              </a:defRPr>
            </a:lvl1pPr>
            <a:lvl2pPr>
              <a:defRPr sz="1425" b="0">
                <a:solidFill>
                  <a:srgbClr val="152F34"/>
                </a:solidFill>
              </a:defRPr>
            </a:lvl2pPr>
            <a:lvl3pPr>
              <a:defRPr sz="1425" b="0">
                <a:solidFill>
                  <a:srgbClr val="152F34"/>
                </a:solidFill>
              </a:defRPr>
            </a:lvl3pPr>
            <a:lvl4pPr>
              <a:defRPr sz="1425" b="0">
                <a:solidFill>
                  <a:srgbClr val="152F34"/>
                </a:solidFill>
              </a:defRPr>
            </a:lvl4pPr>
            <a:lvl5pPr>
              <a:defRPr sz="1425" b="0">
                <a:solidFill>
                  <a:srgbClr val="152F34"/>
                </a:solidFill>
              </a:defRPr>
            </a:lvl5pPr>
            <a:lvl6pPr>
              <a:defRPr sz="1425" b="0">
                <a:solidFill>
                  <a:srgbClr val="152F34"/>
                </a:solidFill>
              </a:defRPr>
            </a:lvl6pPr>
            <a:lvl7pPr>
              <a:defRPr sz="1425" b="0">
                <a:solidFill>
                  <a:srgbClr val="152F34"/>
                </a:solidFill>
              </a:defRPr>
            </a:lvl7pPr>
            <a:lvl8pPr>
              <a:defRPr sz="1425" b="0">
                <a:solidFill>
                  <a:srgbClr val="152F34"/>
                </a:solidFill>
              </a:defRPr>
            </a:lvl8pPr>
            <a:lvl9pPr>
              <a:defRPr sz="1425" b="0">
                <a:solidFill>
                  <a:srgbClr val="152F34"/>
                </a:solidFill>
              </a:defRPr>
            </a:lvl9pPr>
          </a:lstStyle>
          <a:p xmlns:a="http://schemas.openxmlformats.org/drawingml/2006/main">
            <a:pPr>
              <a:defRPr sz="1425" b="0">
                <a:solidFill>
                  <a:srgbClr val="152F34"/>
                </a:solidFill>
              </a:defRPr>
            </a:pPr>
            <a:r>
              <a:rPr sz="1425" b="0">
                <a:solidFill>
                  <a:srgbClr val="152F34"/>
                </a:solidFill>
              </a:rPr>
              <a:t>CIRo carbon-aware inter-domain routing: netsec.ethz.ch/publications/papers/green_routing2023.pdf</a:t>
            </a:r>
          </a:p>
        </p:txBody>
      </p:sp>
      <p:sp>
        <p:nvSpPr>
          <p:cNvPr id="14" name="">
            <a:extLst xmlns:a="http://schemas.openxmlformats.org/drawingml/2006/main">
              <a:ext uri="{FF2B5EF4-FFF2-40B4-BE49-F238E27FC236}">
                <a16:creationId xmlns:a16="http://schemas.microsoft.com/office/drawing/2014/main" id="{9E551E80-5F74-4611-A008-AD7293EF08ED}"/>
              </a:ext>
            </a:extLst>
          </p:cNvPr>
          <p:cNvSpPr>
            <a:spLocks xmlns:a="http://schemas.openxmlformats.org/drawingml/2006/main" noGrp="1"/>
          </p:cNvSpPr>
          <p:nvPr/>
        </p:nvSpPr>
        <p:spPr>
          <a:xfrm xmlns:a="http://schemas.openxmlformats.org/drawingml/2006/main">
            <a:off x="752475" y="4410075"/>
            <a:ext cx="66675" cy="66675"/>
          </a:xfrm>
          <a:prstGeom xmlns:a="http://schemas.openxmlformats.org/drawingml/2006/main" prst="rect">
            <a:avLst/>
          </a:prstGeom>
          <a:solidFill xmlns:a="http://schemas.openxmlformats.org/drawingml/2006/main">
            <a:srgbClr val="007A7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77A95D3-1474-4446-AC5F-4C6B61E09095}"/>
              </a:ext>
            </a:extLst>
          </p:cNvPr>
          <p:cNvSpPr>
            <a:spLocks xmlns:a="http://schemas.openxmlformats.org/drawingml/2006/main" noGrp="1"/>
          </p:cNvSpPr>
          <p:nvPr/>
        </p:nvSpPr>
        <p:spPr>
          <a:xfrm xmlns:a="http://schemas.openxmlformats.org/drawingml/2006/main">
            <a:off x="971550" y="4295775"/>
            <a:ext cx="1009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152F34"/>
                </a:solidFill>
              </a:defRPr>
            </a:defPPr>
            <a:lvl1pPr>
              <a:defRPr sz="1425" b="0">
                <a:solidFill>
                  <a:srgbClr val="152F34"/>
                </a:solidFill>
              </a:defRPr>
            </a:lvl1pPr>
            <a:lvl2pPr>
              <a:defRPr sz="1425" b="0">
                <a:solidFill>
                  <a:srgbClr val="152F34"/>
                </a:solidFill>
              </a:defRPr>
            </a:lvl2pPr>
            <a:lvl3pPr>
              <a:defRPr sz="1425" b="0">
                <a:solidFill>
                  <a:srgbClr val="152F34"/>
                </a:solidFill>
              </a:defRPr>
            </a:lvl3pPr>
            <a:lvl4pPr>
              <a:defRPr sz="1425" b="0">
                <a:solidFill>
                  <a:srgbClr val="152F34"/>
                </a:solidFill>
              </a:defRPr>
            </a:lvl4pPr>
            <a:lvl5pPr>
              <a:defRPr sz="1425" b="0">
                <a:solidFill>
                  <a:srgbClr val="152F34"/>
                </a:solidFill>
              </a:defRPr>
            </a:lvl5pPr>
            <a:lvl6pPr>
              <a:defRPr sz="1425" b="0">
                <a:solidFill>
                  <a:srgbClr val="152F34"/>
                </a:solidFill>
              </a:defRPr>
            </a:lvl6pPr>
            <a:lvl7pPr>
              <a:defRPr sz="1425" b="0">
                <a:solidFill>
                  <a:srgbClr val="152F34"/>
                </a:solidFill>
              </a:defRPr>
            </a:lvl7pPr>
            <a:lvl8pPr>
              <a:defRPr sz="1425" b="0">
                <a:solidFill>
                  <a:srgbClr val="152F34"/>
                </a:solidFill>
              </a:defRPr>
            </a:lvl8pPr>
            <a:lvl9pPr>
              <a:defRPr sz="1425" b="0">
                <a:solidFill>
                  <a:srgbClr val="152F34"/>
                </a:solidFill>
              </a:defRPr>
            </a:lvl9pPr>
          </a:lstStyle>
          <a:p xmlns:a="http://schemas.openxmlformats.org/drawingml/2006/main">
            <a:pPr>
              <a:defRPr sz="1425" b="0">
                <a:solidFill>
                  <a:srgbClr val="152F34"/>
                </a:solidFill>
              </a:defRPr>
            </a:pPr>
            <a:r>
              <a:rPr sz="1425" b="0">
                <a:solidFill>
                  <a:srgbClr val="152F34"/>
                </a:solidFill>
              </a:rPr>
              <a:t>RouteNet graph learning for networks: arxiv.org/abs/1910.01508</a:t>
            </a:r>
          </a:p>
        </p:txBody>
      </p:sp>
      <p:sp>
        <p:nvSpPr>
          <p:cNvPr id="16" name="">
            <a:extLst xmlns:a="http://schemas.openxmlformats.org/drawingml/2006/main">
              <a:ext uri="{FF2B5EF4-FFF2-40B4-BE49-F238E27FC236}">
                <a16:creationId xmlns:a16="http://schemas.microsoft.com/office/drawing/2014/main" id="{FC70A7B8-BC1D-4CE0-8808-FC0F8F3842BC}"/>
              </a:ext>
            </a:extLst>
          </p:cNvPr>
          <p:cNvSpPr>
            <a:spLocks xmlns:a="http://schemas.openxmlformats.org/drawingml/2006/main" noGrp="1"/>
          </p:cNvSpPr>
          <p:nvPr/>
        </p:nvSpPr>
        <p:spPr>
          <a:xfrm xmlns:a="http://schemas.openxmlformats.org/drawingml/2006/main">
            <a:off x="752475" y="5000625"/>
            <a:ext cx="66675" cy="66675"/>
          </a:xfrm>
          <a:prstGeom xmlns:a="http://schemas.openxmlformats.org/drawingml/2006/main" prst="rect">
            <a:avLst/>
          </a:prstGeom>
          <a:solidFill xmlns:a="http://schemas.openxmlformats.org/drawingml/2006/main">
            <a:srgbClr val="007A7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9327A5C-8819-49C8-97E9-3C8907234E21}"/>
              </a:ext>
            </a:extLst>
          </p:cNvPr>
          <p:cNvSpPr>
            <a:spLocks xmlns:a="http://schemas.openxmlformats.org/drawingml/2006/main" noGrp="1"/>
          </p:cNvSpPr>
          <p:nvPr/>
        </p:nvSpPr>
        <p:spPr>
          <a:xfrm xmlns:a="http://schemas.openxmlformats.org/drawingml/2006/main">
            <a:off x="971550" y="4886325"/>
            <a:ext cx="1009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152F34"/>
                </a:solidFill>
              </a:defRPr>
            </a:defPPr>
            <a:lvl1pPr>
              <a:defRPr sz="1425" b="0">
                <a:solidFill>
                  <a:srgbClr val="152F34"/>
                </a:solidFill>
              </a:defRPr>
            </a:lvl1pPr>
            <a:lvl2pPr>
              <a:defRPr sz="1425" b="0">
                <a:solidFill>
                  <a:srgbClr val="152F34"/>
                </a:solidFill>
              </a:defRPr>
            </a:lvl2pPr>
            <a:lvl3pPr>
              <a:defRPr sz="1425" b="0">
                <a:solidFill>
                  <a:srgbClr val="152F34"/>
                </a:solidFill>
              </a:defRPr>
            </a:lvl3pPr>
            <a:lvl4pPr>
              <a:defRPr sz="1425" b="0">
                <a:solidFill>
                  <a:srgbClr val="152F34"/>
                </a:solidFill>
              </a:defRPr>
            </a:lvl4pPr>
            <a:lvl5pPr>
              <a:defRPr sz="1425" b="0">
                <a:solidFill>
                  <a:srgbClr val="152F34"/>
                </a:solidFill>
              </a:defRPr>
            </a:lvl5pPr>
            <a:lvl6pPr>
              <a:defRPr sz="1425" b="0">
                <a:solidFill>
                  <a:srgbClr val="152F34"/>
                </a:solidFill>
              </a:defRPr>
            </a:lvl6pPr>
            <a:lvl7pPr>
              <a:defRPr sz="1425" b="0">
                <a:solidFill>
                  <a:srgbClr val="152F34"/>
                </a:solidFill>
              </a:defRPr>
            </a:lvl7pPr>
            <a:lvl8pPr>
              <a:defRPr sz="1425" b="0">
                <a:solidFill>
                  <a:srgbClr val="152F34"/>
                </a:solidFill>
              </a:defRPr>
            </a:lvl8pPr>
            <a:lvl9pPr>
              <a:defRPr sz="1425" b="0">
                <a:solidFill>
                  <a:srgbClr val="152F34"/>
                </a:solidFill>
              </a:defRPr>
            </a:lvl9pPr>
          </a:lstStyle>
          <a:p xmlns:a="http://schemas.openxmlformats.org/drawingml/2006/main">
            <a:pPr>
              <a:defRPr sz="1425" b="0">
                <a:solidFill>
                  <a:srgbClr val="152F34"/>
                </a:solidFill>
              </a:defRPr>
            </a:pPr>
            <a:r>
              <a:rPr sz="1425" b="0">
                <a:solidFill>
                  <a:srgbClr val="152F34"/>
                </a:solidFill>
              </a:rPr>
              <a:t>Project evidence: docs/PAPER_DRAFT.md, docs/JOINT_SELECTOR.md, results/multiseed/, results/sensitivity/</a:t>
            </a:r>
          </a:p>
        </p:txBody>
      </p:sp>
    </p:spTree>
    <p:extLst>
      <p:ext uri="{BB962C8B-B14F-4D97-AF65-F5344CB8AC3E}">
        <p14:creationId xmlns:p14="http://schemas.microsoft.com/office/powerpoint/2010/main" val="17436149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2026-10-19T19:21:25.4250000Z</dcterms:created>
  <dcterms:modified xsi:type="dcterms:W3CDTF">2026-10-19T19:21:25.4250000Z</dcterms:modified>
</coreProperties>
</file>