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40ebbe06494db8" /><Relationship Type="http://schemas.openxmlformats.org/officeDocument/2006/relationships/extended-properties" Target="/docProps/app.xml" Id="R9f137424501e4bee" /><Relationship Type="http://schemas.openxmlformats.org/officeDocument/2006/relationships/officeDocument" Target="/ppt/presentation.xml" Id="R6e441588759b49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bd7032ab2b4e59"/>
  </p:sldMasterIdLst>
  <p:notesMasterIdLst>
    <p:notesMasterId xmlns:r="http://schemas.openxmlformats.org/officeDocument/2006/relationships" r:id="Rece52330426a4416"/>
  </p:notesMasterIdLst>
  <p:sldIdLst>
    <p:sldId xmlns:r="http://schemas.openxmlformats.org/officeDocument/2006/relationships" id="256" r:id="Rda3a9ce61b434c2c"/>
    <p:sldId xmlns:r="http://schemas.openxmlformats.org/officeDocument/2006/relationships" id="257" r:id="R5f71ef0700334139"/>
    <p:sldId xmlns:r="http://schemas.openxmlformats.org/officeDocument/2006/relationships" id="258" r:id="R2c12734e09a74de9"/>
    <p:sldId xmlns:r="http://schemas.openxmlformats.org/officeDocument/2006/relationships" id="259" r:id="R8585d39e71b0469b"/>
    <p:sldId xmlns:r="http://schemas.openxmlformats.org/officeDocument/2006/relationships" id="260" r:id="R5425216ca99747fd"/>
    <p:sldId xmlns:r="http://schemas.openxmlformats.org/officeDocument/2006/relationships" id="261" r:id="R897d13f8d7b14a77"/>
    <p:sldId xmlns:r="http://schemas.openxmlformats.org/officeDocument/2006/relationships" id="262" r:id="Rcd571361e9374f26"/>
    <p:sldId xmlns:r="http://schemas.openxmlformats.org/officeDocument/2006/relationships" id="263" r:id="R4d127ec0411c458f"/>
    <p:sldId xmlns:r="http://schemas.openxmlformats.org/officeDocument/2006/relationships" id="264" r:id="Re89bcd6dfa3c4df3"/>
    <p:sldId xmlns:r="http://schemas.openxmlformats.org/officeDocument/2006/relationships" id="265" r:id="R00a61812cca14c0f"/>
    <p:sldId xmlns:r="http://schemas.openxmlformats.org/officeDocument/2006/relationships" id="266" r:id="R18a66ac303d242e6"/>
    <p:sldId xmlns:r="http://schemas.openxmlformats.org/officeDocument/2006/relationships" id="267" r:id="R2fc33add5a8d4b00"/>
    <p:sldId xmlns:r="http://schemas.openxmlformats.org/officeDocument/2006/relationships" id="268" r:id="R7d6a9471eb314e9d"/>
    <p:sldId xmlns:r="http://schemas.openxmlformats.org/officeDocument/2006/relationships" id="269" r:id="R30e32c0c60be407a"/>
    <p:sldId xmlns:r="http://schemas.openxmlformats.org/officeDocument/2006/relationships" id="270" r:id="Re3ea4c1812d34a70"/>
    <p:sldId xmlns:r="http://schemas.openxmlformats.org/officeDocument/2006/relationships" id="271" r:id="R89ad7d4465aa41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fe67a1b81046f8" /><Relationship Type="http://schemas.openxmlformats.org/officeDocument/2006/relationships/slideMaster" Target="/ppt/slideMasters/slideMaster1.xml" Id="Rb5bd7032ab2b4e59" /><Relationship Type="http://schemas.openxmlformats.org/officeDocument/2006/relationships/notesMaster" Target="/ppt/notesMasters/notesMaster1.xml" Id="Rece52330426a4416" /><Relationship Type="http://schemas.openxmlformats.org/officeDocument/2006/relationships/presProps" Target="/ppt/presProps.xml" Id="R69692498af2840a2" /><Relationship Type="http://schemas.openxmlformats.org/officeDocument/2006/relationships/tableStyles" Target="/ppt/tableStyles.xml" Id="R4fb24c3fe67b40b1" /><Relationship Type="http://schemas.openxmlformats.org/officeDocument/2006/relationships/slide" Target="/ppt/slides/slide1.xml" Id="Rda3a9ce61b434c2c" /><Relationship Type="http://schemas.openxmlformats.org/officeDocument/2006/relationships/slide" Target="/ppt/slides/slide2.xml" Id="R5f71ef0700334139" /><Relationship Type="http://schemas.openxmlformats.org/officeDocument/2006/relationships/slide" Target="/ppt/slides/slide3.xml" Id="R2c12734e09a74de9" /><Relationship Type="http://schemas.openxmlformats.org/officeDocument/2006/relationships/slide" Target="/ppt/slides/slide4.xml" Id="R8585d39e71b0469b" /><Relationship Type="http://schemas.openxmlformats.org/officeDocument/2006/relationships/slide" Target="/ppt/slides/slide5.xml" Id="R5425216ca99747fd" /><Relationship Type="http://schemas.openxmlformats.org/officeDocument/2006/relationships/slide" Target="/ppt/slides/slide6.xml" Id="R897d13f8d7b14a77" /><Relationship Type="http://schemas.openxmlformats.org/officeDocument/2006/relationships/slide" Target="/ppt/slides/slide7.xml" Id="Rcd571361e9374f26" /><Relationship Type="http://schemas.openxmlformats.org/officeDocument/2006/relationships/slide" Target="/ppt/slides/slide8.xml" Id="R4d127ec0411c458f" /><Relationship Type="http://schemas.openxmlformats.org/officeDocument/2006/relationships/slide" Target="/ppt/slides/slide9.xml" Id="Re89bcd6dfa3c4df3" /><Relationship Type="http://schemas.openxmlformats.org/officeDocument/2006/relationships/slide" Target="/ppt/slides/slide10.xml" Id="R00a61812cca14c0f" /><Relationship Type="http://schemas.openxmlformats.org/officeDocument/2006/relationships/slide" Target="/ppt/slides/slide11.xml" Id="R18a66ac303d242e6" /><Relationship Type="http://schemas.openxmlformats.org/officeDocument/2006/relationships/slide" Target="/ppt/slides/slide12.xml" Id="R2fc33add5a8d4b00" /><Relationship Type="http://schemas.openxmlformats.org/officeDocument/2006/relationships/slide" Target="/ppt/slides/slide13.xml" Id="R7d6a9471eb314e9d" /><Relationship Type="http://schemas.openxmlformats.org/officeDocument/2006/relationships/slide" Target="/ppt/slides/slide14.xml" Id="R30e32c0c60be407a" /><Relationship Type="http://schemas.openxmlformats.org/officeDocument/2006/relationships/slide" Target="/ppt/slides/slide15.xml" Id="Re3ea4c1812d34a70" /><Relationship Type="http://schemas.openxmlformats.org/officeDocument/2006/relationships/slide" Target="/ppt/slides/slide16.xml" Id="R89ad7d4465aa41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216635cd174c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7dbea77a8e4fa9" /><Relationship Type="http://schemas.openxmlformats.org/officeDocument/2006/relationships/notesMaster" Target="/ppt/notesMasters/notesMaster1.xml" Id="R0e35a0023cd24b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3b5d7395c641c2" /><Relationship Type="http://schemas.openxmlformats.org/officeDocument/2006/relationships/notesMaster" Target="/ppt/notesMasters/notesMaster1.xml" Id="Ra1aff755f9b540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5c9abd5b68480c" /><Relationship Type="http://schemas.openxmlformats.org/officeDocument/2006/relationships/notesMaster" Target="/ppt/notesMasters/notesMaster1.xml" Id="R12d99bc65af34a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f7b748db5c4cd0" /><Relationship Type="http://schemas.openxmlformats.org/officeDocument/2006/relationships/notesMaster" Target="/ppt/notesMasters/notesMaster1.xml" Id="Ref00d132494a45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bcd4e6edde428e" /><Relationship Type="http://schemas.openxmlformats.org/officeDocument/2006/relationships/notesMaster" Target="/ppt/notesMasters/notesMaster1.xml" Id="R80b60f6d528c43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1fb79149454365" /><Relationship Type="http://schemas.openxmlformats.org/officeDocument/2006/relationships/notesMaster" Target="/ppt/notesMasters/notesMaster1.xml" Id="Rc7a66cdbe9314d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268721287b40ac" /><Relationship Type="http://schemas.openxmlformats.org/officeDocument/2006/relationships/notesMaster" Target="/ppt/notesMasters/notesMaster1.xml" Id="R2683c17c13224d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4c1a02d619478b" /><Relationship Type="http://schemas.openxmlformats.org/officeDocument/2006/relationships/notesMaster" Target="/ppt/notesMasters/notesMaster1.xml" Id="Rf274f6451c9f4a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eb845a87084cf5" /><Relationship Type="http://schemas.openxmlformats.org/officeDocument/2006/relationships/notesMaster" Target="/ppt/notesMasters/notesMaster1.xml" Id="R1cf511c246cf4d9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432c8f52c94517" /><Relationship Type="http://schemas.openxmlformats.org/officeDocument/2006/relationships/notesMaster" Target="/ppt/notesMasters/notesMaster1.xml" Id="Rb4ddecfe1deb4d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cf6e63599e4ad1" /><Relationship Type="http://schemas.openxmlformats.org/officeDocument/2006/relationships/notesMaster" Target="/ppt/notesMasters/notesMaster1.xml" Id="Rc66804f630f74b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bdb2babd044b85" /><Relationship Type="http://schemas.openxmlformats.org/officeDocument/2006/relationships/notesMaster" Target="/ppt/notesMasters/notesMaster1.xml" Id="Re90ce76114bd42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59f1c04a5094cc4" /><Relationship Type="http://schemas.openxmlformats.org/officeDocument/2006/relationships/notesMaster" Target="/ppt/notesMasters/notesMaster1.xml" Id="R8fb1219b56034b8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dbabdba98614d05" /><Relationship Type="http://schemas.openxmlformats.org/officeDocument/2006/relationships/notesMaster" Target="/ppt/notesMasters/notesMaster1.xml" Id="R3f4d51803f04465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63f6001d18f404e" /><Relationship Type="http://schemas.openxmlformats.org/officeDocument/2006/relationships/notesMaster" Target="/ppt/notesMasters/notesMaster1.xml" Id="Re5e186a391c64c4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9756fbcbd024c50" /><Relationship Type="http://schemas.openxmlformats.org/officeDocument/2006/relationships/notesMaster" Target="/ppt/notesMasters/notesMaster1.xml" Id="R49ce57cacb9a45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presentation discusses an offline trace-driven routing simulator. It does not claim measured electricity use, packet latency, or deployed SDN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B4: https://research.google.com/pubs/archive/41761.pdf</a:t>
            </a:r>
          </a:p>
          <a:p xmlns:a="http://schemas.openxmlformats.org/drawingml/2006/main">
            <a:r>
              <a:t>CIRo: https://netsec.ethz.ch/publications/papers/green_routing2023.pdf</a:t>
            </a:r>
          </a:p>
          <a:p xmlns:a="http://schemas.openxmlformats.org/drawingml/2006/main">
            <a:r>
              <a:t>RouteNet: https://arxiv.org/abs/1910.01508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SNDlib: https://sndlib.put.poznan.pl/dynamicmatrices.overview.action</a:t>
            </a:r>
          </a:p>
          <a:p xmlns:a="http://schemas.openxmlformats.org/drawingml/2006/main">
            <a:r>
              <a:t>ECON-PowerCI: https://zenodo.org/records/15987717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implementation detail: docs/JOINT_SELECTOR.md and docs/PAPER_DRAFT.md.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Forwarding score is byte-weighted regional grid intensity along selected hops. It is an attribution proxy, not measured CO₂.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docs/reports/joint-validation.html. Values are comparative forwarding score units, not physical CO₂.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results/multiseed/ and docs/PAPER_DRAFT.md. Treat the p value as exploratory due to adjacent, previously inspected days.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docs/PAPER_DRAFT.md and project forecast metrics. This is a negative ML finding and should not be reframed as a GNN forecast win.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results/sensitivity/ and docs/PAPER_DRAFT.md. Exploratory setting sweep, not an independent holdout.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Abilene details: docs/ABILENE_SECONDARY_EXPERIMENT.md. Trace: https://www.cs.utexas.edu/~yzhang/research/AbileneTM/readme.txt. EPA: https://www.epa.gov/egrid/historical-egrid-data. Score is not measured emissions.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references are documented in docs/RESEARCH_PAPERS.md. Design inspiration: FFCS-inator by CodeChef-VIT, https://github.com/CodeChefVIT/ffcs (MIT license). The deck uses its color and typographic language, not its logo or artwork.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054dcf791c4e9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88ff027f3b49b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8279496b57491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17dcfcc9ec455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bcf6b9bbe4404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96ecd07fa847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A1D5E0-8D6D-44A4-AABB-2DCA301571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381C346-A1E4-43BF-B8D0-BD54F396F2C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F5E4AD9-1D1E-444B-854D-E4DFFD4BCD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DBB6EB-1513-44C2-A0D9-3C5BD0A0AC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F39B3E9-EC93-4226-AD1D-76A867EAAA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2E6498-AB6F-4200-8781-050344D050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2C421AB-03A8-4A3F-B53C-99D1C8A5E7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B7C958C-548D-45E5-A3C5-D405D7F4358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024066-05CF-4F5C-9D18-A35E1FF8C2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86DCCAF-5C68-4775-BB8F-C4859F9746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58cb2b8baf4916" /><Relationship Type="http://schemas.openxmlformats.org/officeDocument/2006/relationships/slideLayout" Target="/ppt/slideLayouts/slideLayout1.xml" Id="R1d7810a6feac4319" /><Relationship Type="http://schemas.openxmlformats.org/officeDocument/2006/relationships/slideLayout" Target="/ppt/slideLayouts/slideLayout2.xml" Id="R4c82ad4f3e8c481d" /><Relationship Type="http://schemas.openxmlformats.org/officeDocument/2006/relationships/slideLayout" Target="/ppt/slideLayouts/slideLayout3.xml" Id="Ra9fdcf2c19414589" /><Relationship Type="http://schemas.openxmlformats.org/officeDocument/2006/relationships/slideLayout" Target="/ppt/slideLayouts/slideLayout4.xml" Id="R586bbfb25ece45a4" /><Relationship Type="http://schemas.openxmlformats.org/officeDocument/2006/relationships/slideLayout" Target="/ppt/slideLayouts/slideLayout5.xml" Id="Rb3bda02a4f614a8a" /><Relationship Type="http://schemas.openxmlformats.org/officeDocument/2006/relationships/slideLayout" Target="/ppt/slideLayouts/slideLayout6.xml" Id="R20aad24fccbd40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7810a6feac4319"/>
    <p:sldLayoutId xmlns:r="http://schemas.openxmlformats.org/officeDocument/2006/relationships" id="2147483650" r:id="R4c82ad4f3e8c481d"/>
    <p:sldLayoutId xmlns:r="http://schemas.openxmlformats.org/officeDocument/2006/relationships" id="2147483651" r:id="Ra9fdcf2c19414589"/>
    <p:sldLayoutId xmlns:r="http://schemas.openxmlformats.org/officeDocument/2006/relationships" id="2147483652" r:id="R586bbfb25ece45a4"/>
    <p:sldLayoutId xmlns:r="http://schemas.openxmlformats.org/officeDocument/2006/relationships" id="2147483653" r:id="Rb3bda02a4f614a8a"/>
    <p:sldLayoutId xmlns:r="http://schemas.openxmlformats.org/officeDocument/2006/relationships" id="2147483654" r:id="R20aad24fccbd40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2f06da36734780" /><Relationship Type="http://schemas.openxmlformats.org/officeDocument/2006/relationships/notesSlide" Target="/ppt/notesSlides/notesSlide1.xml" Id="R4bf5630f58e549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5b33e810bb4add" /><Relationship Type="http://schemas.openxmlformats.org/officeDocument/2006/relationships/notesSlide" Target="/ppt/notesSlides/notesSlide2.xml" Id="R03e8ababa66343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c9329ccab74bc4" /><Relationship Type="http://schemas.openxmlformats.org/officeDocument/2006/relationships/notesSlide" Target="/ppt/notesSlides/notesSlide3.xml" Id="R37ae6b0da34540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ecfc8136554fbb" /><Relationship Type="http://schemas.openxmlformats.org/officeDocument/2006/relationships/notesSlide" Target="/ppt/notesSlides/notesSlide4.xml" Id="R30c2f458edb843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de3a9ba466433b" /><Relationship Type="http://schemas.openxmlformats.org/officeDocument/2006/relationships/notesSlide" Target="/ppt/notesSlides/notesSlide5.xml" Id="R4ccc3f70575441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d0c1cf2ebb4bef" /><Relationship Type="http://schemas.openxmlformats.org/officeDocument/2006/relationships/notesSlide" Target="/ppt/notesSlides/notesSlide6.xml" Id="Re6c8f5ad72d54d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9e4dc009784dfb" /><Relationship Type="http://schemas.openxmlformats.org/officeDocument/2006/relationships/notesSlide" Target="/ppt/notesSlides/notesSlide7.xml" Id="Rffcfd57e7ba640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5a548bd138440d" /><Relationship Type="http://schemas.openxmlformats.org/officeDocument/2006/relationships/notesSlide" Target="/ppt/notesSlides/notesSlide8.xml" Id="Re6f26d51c33044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b40b98e5ea4684" /><Relationship Type="http://schemas.openxmlformats.org/officeDocument/2006/relationships/notesSlide" Target="/ppt/notesSlides/notesSlide9.xml" Id="Rceb454b3564b4e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f8a1dd5a5b4488" /><Relationship Type="http://schemas.openxmlformats.org/officeDocument/2006/relationships/notesSlide" Target="/ppt/notesSlides/notesSlide10.xml" Id="R5a6fd6fc2d8740f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20066b8efa49f7" /><Relationship Type="http://schemas.openxmlformats.org/officeDocument/2006/relationships/notesSlide" Target="/ppt/notesSlides/notesSlide11.xml" Id="Rb7efbec86ff444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3c6cfc3efc44bd" /><Relationship Type="http://schemas.openxmlformats.org/officeDocument/2006/relationships/notesSlide" Target="/ppt/notesSlides/notesSlide12.xml" Id="R455149fead6243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2d871c8e8945cc" /><Relationship Type="http://schemas.openxmlformats.org/officeDocument/2006/relationships/notesSlide" Target="/ppt/notesSlides/notesSlide13.xml" Id="Rac57eef50c49476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a470fec1eb4fd9" /><Relationship Type="http://schemas.openxmlformats.org/officeDocument/2006/relationships/notesSlide" Target="/ppt/notesSlides/notesSlide14.xml" Id="R834dd7d82742475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05e560ab4b40f2" /><Relationship Type="http://schemas.openxmlformats.org/officeDocument/2006/relationships/notesSlide" Target="/ppt/notesSlides/notesSlide15.xml" Id="R7f35f64ad45d499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34f86e49714f53" /><Relationship Type="http://schemas.openxmlformats.org/officeDocument/2006/relationships/notesSlide" Target="/ppt/notesSlides/notesSlide16.xml" Id="Rf65013cf09a646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CEE4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BED3D-76D2-4790-AAD7-1DEE78B7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7622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AC851-C873-4244-9EBA-A7F33E91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27622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C1FF83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77B81-AF22-4A33-A73F-89AECD38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1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1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1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1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1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1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1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1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1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12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COMPUTER NETWORKS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B8F2C-CC47-4319-8168-66BF943D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53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53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53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53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53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53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53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53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53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53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53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5325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Predictive carbon-aware</a:t>
            </a:r>
          </a:p>
          <a:p xmlns:a="http://schemas.openxmlformats.org/drawingml/2006/main">
            <a:pPr>
              <a:defRPr sz="53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5325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routing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26F69-1808-4C83-8E5B-C8896C8C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9620250" cy="1133475"/>
          </a:xfrm>
          <a:prstGeom xmlns:a="http://schemas.openxmlformats.org/drawingml/2006/main" prst="roundRect">
            <a:avLst>
              <a:gd name="adj" fmla="val 13445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E60EB-9D42-4D85-8024-41F9A6A7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9620250" cy="1133475"/>
          </a:xfrm>
          <a:prstGeom xmlns:a="http://schemas.openxmlformats.org/drawingml/2006/main" prst="roundRect">
            <a:avLst>
              <a:gd name="adj" fmla="val 134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1555E3-272C-44EE-AE9E-4D7A12C2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904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21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21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21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21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21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21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21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21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21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2175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Graph learning, cautious route selection, and trace-driven evaluation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0B418-5F3C-4B25-B7BA-77D9BAC9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1047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6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6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6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6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6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6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6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6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6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650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Ashutosh Gupta   ·   Tanay Mohta   ·   Avaneesh Chavan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67F1E1-3F7D-4922-B702-8E5EB23F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14975"/>
            <a:ext cx="857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defPPr>
            <a:lvl1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1pPr>
            <a:lvl2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2pPr>
            <a:lvl3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3pPr>
            <a:lvl4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4pPr>
            <a:lvl5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5pPr>
            <a:lvl6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6pPr>
            <a:lvl7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7pPr>
            <a:lvl8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8pPr>
            <a:lvl9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pPr>
            <a:r>
              <a:rPr sz="1350" b="0">
                <a:solidFill>
                  <a:srgbClr val="3F5458"/>
                </a:solidFill>
                <a:latin typeface="Poppins"/>
                <a:ea typeface="Poppins"/>
                <a:cs typeface="Poppins"/>
              </a:rPr>
              <a:t>GÉANT and Abilene experiments  /  October 2026</a:t>
            </a:r>
          </a:p>
        </p:txBody>
      </p:sp>
    </p:spTree>
    <p:extLst>
      <p:ext uri="{BB962C8B-B14F-4D97-AF65-F5344CB8AC3E}">
        <p14:creationId xmlns:p14="http://schemas.microsoft.com/office/powerpoint/2010/main" val="9883320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CEE4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C69C6D-2A5B-4EC1-9E3A-C2F24108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885950" cy="37147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AD93"/>
          </a:solidFill>
          <a:ln xmlns:a="http://schemas.openxmlformats.org/drawingml/2006/main" w="19050">
            <a:solidFill>
              <a:srgbClr val="171B1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DE869-D38F-44AE-B24A-BC7D45F0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E9852-9A06-4381-B21C-B475E60D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95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3300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A greener path can become a congested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8C1BD-727B-44C1-80EA-D72B2E1F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00775"/>
            <a:ext cx="109537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F2D11-BC0D-453D-AD64-77C63E55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defPPr>
            <a:lvl1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1pPr>
            <a:lvl2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2pPr>
            <a:lvl3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3pPr>
            <a:lvl4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4pPr>
            <a:lvl5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5pPr>
            <a:lvl6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6pPr>
            <a:lvl7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7pPr>
            <a:lvl8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8pPr>
            <a:lvl9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3F5458"/>
                </a:solidFill>
                <a:latin typeface="Poppins"/>
                <a:ea typeface="Poppins"/>
                <a:cs typeface="Poppins"/>
              </a:rPr>
              <a:t>CARBONROUTE  /  PROJECT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9B869-3578-408B-BED3-D691CDA8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65163-DDB5-4A6C-B2D6-E33EC9F2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3314700" cy="300990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DC003-B750-4EDF-854C-7077A4AB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314700" cy="300990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25DAF1-7BB2-4571-8394-373494F7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1875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Location matters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33A090-0AC5-4B2E-B396-BC7F2804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2895600" cy="2181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6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6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6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6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6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6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6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6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6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650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Carbon intensity describes the CO₂ associated with producing one unit of electricity in a region.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7C6A71-9A95-4D0C-A756-7D7432FA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81200"/>
            <a:ext cx="3314700" cy="300990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7C4F6F-16DB-4830-93EE-01D0865D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24050"/>
            <a:ext cx="3314700" cy="300990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8D1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FFA98A-159D-4311-8CB3-0C373E51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95500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1875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Traffic changes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4DAF4-1503-47DE-B3FA-1AD0FCE8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09850"/>
            <a:ext cx="2895600" cy="2181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6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6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6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6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6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6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6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6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6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650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At every decision step, a route must have enough capacity for the demand that actually arrives.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ADD6C1-07F3-4CF6-B732-9744BA51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81200"/>
            <a:ext cx="3314700" cy="300990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BF8193-9B2F-4837-B595-017A7323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24050"/>
            <a:ext cx="3314700" cy="300990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4E9FC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34A832-0935-40DF-AB7A-1B5CF30A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1875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Information arrives late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D49F7B-21B2-4106-928A-EAF88B85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09850"/>
            <a:ext cx="2895600" cy="2181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6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6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6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6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6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6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6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6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6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650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With one-bin lag, the controller sees traffic from 15 minutes ago in the GÉANT replay.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B9056D-2B39-4798-ADDE-FAC2FB8C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1068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defPPr>
            <a:lvl1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1pPr>
            <a:lvl2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2pPr>
            <a:lvl3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3pPr>
            <a:lvl4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4pPr>
            <a:lvl5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5pPr>
            <a:lvl6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6pPr>
            <a:lvl7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7pPr>
            <a:lvl8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8pPr>
            <a:lvl9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3F5458"/>
                </a:solidFill>
                <a:latin typeface="Poppins"/>
                <a:ea typeface="Poppins"/>
                <a:cs typeface="Poppins"/>
              </a:rPr>
              <a:t>Question: Can demand forecasts improve the carbon and congestion trade-off?</a:t>
            </a:r>
          </a:p>
        </p:txBody>
      </p:sp>
    </p:spTree>
    <p:extLst>
      <p:ext uri="{BB962C8B-B14F-4D97-AF65-F5344CB8AC3E}">
        <p14:creationId xmlns:p14="http://schemas.microsoft.com/office/powerpoint/2010/main" val="21204852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CEE4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28518C-A52E-4AA4-8F77-E9FD8400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885950" cy="37147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90BDFF"/>
          </a:solidFill>
          <a:ln xmlns:a="http://schemas.openxmlformats.org/drawingml/2006/main" w="19050">
            <a:solidFill>
              <a:srgbClr val="171B1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61D68-831D-403B-978F-681D3D42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EXISTING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2F082-4A9A-41B8-8CF2-4837EA02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95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3300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Three ideas meet in this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04FD2-FAF6-4744-BE99-3EB49781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00775"/>
            <a:ext cx="109537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7B7A6-10F7-4D8C-93B5-D10139BE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defPPr>
            <a:lvl1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1pPr>
            <a:lvl2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2pPr>
            <a:lvl3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3pPr>
            <a:lvl4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4pPr>
            <a:lvl5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5pPr>
            <a:lvl6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6pPr>
            <a:lvl7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7pPr>
            <a:lvl8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8pPr>
            <a:lvl9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3F5458"/>
                </a:solidFill>
                <a:latin typeface="Poppins"/>
                <a:ea typeface="Poppins"/>
                <a:cs typeface="Poppins"/>
              </a:rPr>
              <a:t>CARBONROUTE  /  PROJECT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41A74-A39B-4BBD-9453-6E360783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CDA12-F1CF-4B4A-A989-A4F1F22E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331470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A1B89-420B-48B7-84FD-23BA41B0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31470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2C3E00-5202-4332-B119-69A8CAFD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1875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B4  /  SDN traffic engineering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3AF46A-06B6-43E6-A86B-5C920BF7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28956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575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A central controller allocates wide-area network capacity. Capacity is the central objective.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E2D3E-6E86-43ED-A8A5-7CCDE49F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57400"/>
            <a:ext cx="331470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005C8-C085-4AC1-9D57-81D90161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00250"/>
            <a:ext cx="331470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8D1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A9C8D-E6DA-43FD-9873-799677CD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1875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CIRo  /  carbon-aware routing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4EEDA-2D84-4667-A8B2-8CC8E766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86050"/>
            <a:ext cx="28956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575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Carbon-aware path selection, including predicted grid intensity. Congestion safeguards remain a separate question.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25B3B4-590A-4A60-8A39-26071205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57400"/>
            <a:ext cx="331470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6E538D-073A-4A57-A0D6-83299CD0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00250"/>
            <a:ext cx="331470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4E9FC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C9E72A-B97F-415B-A2F9-971F9465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71700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1875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RouteNet  /  graph learning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9EEF0E-3BE1-4011-8742-0D386D4B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86050"/>
            <a:ext cx="28956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575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Graph neural networks represent network behavior. A forecast still needs a safe routing decision.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A718DA-A6B1-4958-BB36-F43627EB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1068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defPPr>
            <a:lvl1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1pPr>
            <a:lvl2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2pPr>
            <a:lvl3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3pPr>
            <a:lvl4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4pPr>
            <a:lvl5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5pPr>
            <a:lvl6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6pPr>
            <a:lvl7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7pPr>
            <a:lvl8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8pPr>
            <a:lvl9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3F5458"/>
                </a:solidFill>
                <a:latin typeface="Poppins"/>
                <a:ea typeface="Poppins"/>
                <a:cs typeface="Poppins"/>
              </a:rPr>
              <a:t>Our study tests how prediction and routing safeguards interact under controlled traffic replay.</a:t>
            </a:r>
          </a:p>
        </p:txBody>
      </p:sp>
    </p:spTree>
    <p:extLst>
      <p:ext uri="{BB962C8B-B14F-4D97-AF65-F5344CB8AC3E}">
        <p14:creationId xmlns:p14="http://schemas.microsoft.com/office/powerpoint/2010/main" val="6399902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CEE4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280DE2-EEF9-4FBB-8898-022345AB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885950" cy="37147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1FF83"/>
          </a:solidFill>
          <a:ln xmlns:a="http://schemas.openxmlformats.org/drawingml/2006/main" w="19050">
            <a:solidFill>
              <a:srgbClr val="171B1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5351F-B5D3-4997-9847-89FDB31D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TESTBED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693E9-890F-4C89-816F-8E0DF6C4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95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3300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A manageable slice of GÉANT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B67D11-5A6B-4C17-A596-E1E40963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00775"/>
            <a:ext cx="109537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39D95-54A1-40E8-8BC2-150B618F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defPPr>
            <a:lvl1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1pPr>
            <a:lvl2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2pPr>
            <a:lvl3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3pPr>
            <a:lvl4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4pPr>
            <a:lvl5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5pPr>
            <a:lvl6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6pPr>
            <a:lvl7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7pPr>
            <a:lvl8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8pPr>
            <a:lvl9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3F5458"/>
                </a:solidFill>
                <a:latin typeface="Poppins"/>
                <a:ea typeface="Poppins"/>
                <a:cs typeface="Poppins"/>
              </a:rPr>
              <a:t>CARBONROUTE  /  PROJECT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E270A-4D91-4824-AD18-F5F982C1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09713-B103-4EFA-958F-21C809A4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33575"/>
            <a:ext cx="331470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5844F-D651-421F-9867-CBA1F922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331470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0C96B4-ED11-408C-BE98-32079A9F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00250"/>
            <a:ext cx="295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352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F98E4-22E5-4973-B3C9-421C585C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289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350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routers in the European subgraph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F91D07-5643-4CF2-8AF0-32DAE441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33575"/>
            <a:ext cx="331470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D7643-894D-454E-99CD-407DFD10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76425"/>
            <a:ext cx="331470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8D1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881B6-D8E2-4DC9-A01E-1EF250D0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295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352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1FF481-5AF3-44FC-B47B-02392B67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289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350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physical links retained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06D7E1-8D06-4EE5-BCE0-DA3711CD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33575"/>
            <a:ext cx="331470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34D912-39B5-45C8-95DC-AC9328F3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76425"/>
            <a:ext cx="3314700" cy="1504950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E4E9FC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EEAB87-E754-416E-B8CF-3A93C489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000250"/>
            <a:ext cx="295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352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8BD606-BB45-4943-85D5-3BAC73EF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6289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350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active source–destination flows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31CEC2-F6F7-4B21-ABDB-5D1527FA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24275"/>
            <a:ext cx="512445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B6CA87-721F-44A4-BED7-CF09CC59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512445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AF6F6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918091-5BF6-4D77-A5EE-6CBEF79C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38575"/>
            <a:ext cx="470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1875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Traffic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156070-01A7-4222-A8EC-0F68F92F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52925"/>
            <a:ext cx="47053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425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SNDlib GÉANT matrices from 2005, sampled every 15 minutes.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37A7E3-2013-445B-A1B9-324A83F4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24275"/>
            <a:ext cx="512445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2BB3E7-992C-4F76-980E-90332F8E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67125"/>
            <a:ext cx="512445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AF6F6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EBBCBE-551F-423B-88A5-66A49DE2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38575"/>
            <a:ext cx="470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1875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Grid signal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ED5A33-BF78-49FE-B626-C8F192E4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52925"/>
            <a:ext cx="47053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425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ECON-PowerCI country data from 2022–24, one value per day.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09B382-62DE-428B-B6D0-15BD5F01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14975"/>
            <a:ext cx="1068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defPPr>
            <a:lvl1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1pPr>
            <a:lvl2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2pPr>
            <a:lvl3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3pPr>
            <a:lvl4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4pPr>
            <a:lvl5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5pPr>
            <a:lvl6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6pPr>
            <a:lvl7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7pPr>
            <a:lvl8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8pPr>
            <a:lvl9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3F5458"/>
                </a:solidFill>
                <a:latin typeface="Poppins"/>
                <a:ea typeface="Poppins"/>
                <a:cs typeface="Poppins"/>
              </a:rPr>
              <a:t>Season and weekday pairing creates a hypothetical replay; the two sources were not simultaneous.</a:t>
            </a:r>
          </a:p>
        </p:txBody>
      </p:sp>
    </p:spTree>
    <p:extLst>
      <p:ext uri="{BB962C8B-B14F-4D97-AF65-F5344CB8AC3E}">
        <p14:creationId xmlns:p14="http://schemas.microsoft.com/office/powerpoint/2010/main" val="16108176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CEE4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6EB849-9539-42AC-A918-D15BBCCE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885950" cy="37147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EA79"/>
          </a:solidFill>
          <a:ln xmlns:a="http://schemas.openxmlformats.org/drawingml/2006/main" w="19050">
            <a:solidFill>
              <a:srgbClr val="171B1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22E5E-BF88-4CDC-84B2-012E7690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6A6E0-76FB-4F65-8F2E-45CE7946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95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3300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One routing decision every 15 minutes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66021-C4A8-4BA4-9056-11989616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00775"/>
            <a:ext cx="109537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E0D85-38D2-4C70-AFBD-D2E20A87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defPPr>
            <a:lvl1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1pPr>
            <a:lvl2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2pPr>
            <a:lvl3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3pPr>
            <a:lvl4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4pPr>
            <a:lvl5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5pPr>
            <a:lvl6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6pPr>
            <a:lvl7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7pPr>
            <a:lvl8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8pPr>
            <a:lvl9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3F5458"/>
                </a:solidFill>
                <a:latin typeface="Poppins"/>
                <a:ea typeface="Poppins"/>
                <a:cs typeface="Poppins"/>
              </a:rPr>
              <a:t>CARBONROUTE  /  PROJECT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F8FDB-3C81-4DED-BD8C-106FA8B9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4C8DC-F704-4A39-9EE5-2FF0FF3F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66925"/>
            <a:ext cx="2514600" cy="30099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7B2DA-EEB5-42EC-8E25-C9145C35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2514600" cy="30099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12205-76D4-44C6-B868-F1937D68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62175"/>
            <a:ext cx="20859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292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33A513-5907-4E59-B923-96D3C991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71775"/>
            <a:ext cx="2143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2025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9E915-6C41-4A2E-A641-70DE8A48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43275"/>
            <a:ext cx="21336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425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Past traffic and the current daily country carbon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6D98E9-4CF3-4559-A3CF-68929A12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66925"/>
            <a:ext cx="2514600" cy="30099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A1F45D-724B-4964-985C-18EA9E32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09775"/>
            <a:ext cx="2514600" cy="30099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4E9FC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21D135-8694-4268-85BB-8BDFF72E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162175"/>
            <a:ext cx="20859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292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B68874-BBF7-4537-9F95-432BFF2F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771775"/>
            <a:ext cx="2143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2025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Forecast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1266C-D5AA-4921-947C-481FAEC3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343275"/>
            <a:ext cx="21336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425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Estimate demand 15, 30, and 45 minutes ahead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AF085D-CE37-43EC-A49A-3E023CD4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66925"/>
            <a:ext cx="2514600" cy="30099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ECB3B9-2A36-4AC2-B029-4F13BDE8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2514600" cy="30099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8D1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E18A77-5511-4CC0-B9B8-7CBD1C25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62175"/>
            <a:ext cx="20859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292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065BF3-4920-4FC7-AA8B-18DC9367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771775"/>
            <a:ext cx="2143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2025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Plan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BD9A5F-DAD6-42F4-B785-32F64D64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343275"/>
            <a:ext cx="21336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425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Reserve link capacity, then choose each flow’s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D19942-BBD9-4D4F-8AB3-F32EDE81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66925"/>
            <a:ext cx="2514600" cy="30099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9F56F7-EFA1-4C00-9256-C59DE7C7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09775"/>
            <a:ext cx="2514600" cy="30099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C1FF83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351841-5EBB-459F-AAB2-443F19A4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162175"/>
            <a:ext cx="20859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292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9A49ED-9546-48ED-A4C2-A4C7B596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771775"/>
            <a:ext cx="2143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2025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Replay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D52329-ECDC-45E8-8C41-6676E565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343275"/>
            <a:ext cx="21336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425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Reveal actual demand and record service, overload, and score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DF29DC-E7CE-44AB-AF50-1C33005A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68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defPPr>
            <a:lvl1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1pPr>
            <a:lvl2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2pPr>
            <a:lvl3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3pPr>
            <a:lvl4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4pPr>
            <a:lvl5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5pPr>
            <a:lvl6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6pPr>
            <a:lvl7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7pPr>
            <a:lvl8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8pPr>
            <a:lvl9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3F5458"/>
                </a:solidFill>
                <a:latin typeface="Poppins"/>
                <a:ea typeface="Poppins"/>
                <a:cs typeface="Poppins"/>
              </a:rPr>
              <a:t>SDN means one routing application computes paths from a network-wide view.</a:t>
            </a:r>
          </a:p>
        </p:txBody>
      </p:sp>
    </p:spTree>
    <p:extLst>
      <p:ext uri="{BB962C8B-B14F-4D97-AF65-F5344CB8AC3E}">
        <p14:creationId xmlns:p14="http://schemas.microsoft.com/office/powerpoint/2010/main" val="11978503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CEE4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067BF8-BC24-4F4F-A7C5-D42FBF71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885950" cy="37147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90BDFF"/>
          </a:solidFill>
          <a:ln xmlns:a="http://schemas.openxmlformats.org/drawingml/2006/main" w="19050">
            <a:solidFill>
              <a:srgbClr val="171B1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08651-79CC-464A-B0F9-8B52DF8E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MACHINE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2B256-292E-443C-BE42-DEAFD718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95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3300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The model predicts demand; safeguards handle its errors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71319-EB54-4675-AE64-41D6B11B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00775"/>
            <a:ext cx="109537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9BDE4-1981-41EC-8E8C-1A0F35DF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defPPr>
            <a:lvl1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1pPr>
            <a:lvl2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2pPr>
            <a:lvl3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3pPr>
            <a:lvl4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4pPr>
            <a:lvl5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5pPr>
            <a:lvl6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6pPr>
            <a:lvl7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7pPr>
            <a:lvl8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8pPr>
            <a:lvl9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3F5458"/>
                </a:solidFill>
                <a:latin typeface="Poppins"/>
                <a:ea typeface="Poppins"/>
                <a:cs typeface="Poppins"/>
              </a:rPr>
              <a:t>CARBONROUTE  /  PROJECT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6D14C5-E26E-4D31-BD41-61DFF245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CB214-0902-4CA7-8993-40631693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9775"/>
            <a:ext cx="3248025" cy="2352675"/>
          </a:xfrm>
          <a:prstGeom xmlns:a="http://schemas.openxmlformats.org/drawingml/2006/main" prst="roundRect">
            <a:avLst>
              <a:gd name="adj" fmla="val 6478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FB252-2E10-4FC4-B66D-00B9CEB8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248025" cy="2352675"/>
          </a:xfrm>
          <a:prstGeom xmlns:a="http://schemas.openxmlformats.org/drawingml/2006/main" prst="roundRect">
            <a:avLst>
              <a:gd name="adj" fmla="val 6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7F28D-37B4-4958-9BC8-42B5D588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24075"/>
            <a:ext cx="2828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1875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GCN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4B663-0184-4485-A317-F9C67BFB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28289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575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Shares information across connected routers so the model sees network structure.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D8608-A7F1-4E64-84FB-3E218284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009775"/>
            <a:ext cx="3248025" cy="2352675"/>
          </a:xfrm>
          <a:prstGeom xmlns:a="http://schemas.openxmlformats.org/drawingml/2006/main" prst="roundRect">
            <a:avLst>
              <a:gd name="adj" fmla="val 6478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068897-7F6E-42F8-B859-3EECF8D2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952625"/>
            <a:ext cx="3248025" cy="2352675"/>
          </a:xfrm>
          <a:prstGeom xmlns:a="http://schemas.openxmlformats.org/drawingml/2006/main" prst="roundRect">
            <a:avLst>
              <a:gd name="adj" fmla="val 6478"/>
            </a:avLst>
          </a:prstGeom>
          <a:solidFill xmlns:a="http://schemas.openxmlformats.org/drawingml/2006/main">
            <a:srgbClr val="E4E9FC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22A132-7EE6-4946-9EF3-39AE180B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124075"/>
            <a:ext cx="2828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1875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GRU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2DCCB4-DFE0-4023-BAE4-EE683E0A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638425"/>
            <a:ext cx="28289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575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Learns traffic patterns across successive observations in time.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2F5934-B18B-4FDA-B433-A0A6DE50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09775"/>
            <a:ext cx="3714750" cy="3400425"/>
          </a:xfrm>
          <a:prstGeom xmlns:a="http://schemas.openxmlformats.org/drawingml/2006/main" prst="roundRect">
            <a:avLst>
              <a:gd name="adj" fmla="val 4482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942FDD-4F38-4107-B1F2-7DCD1F92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952625"/>
            <a:ext cx="3714750" cy="3400425"/>
          </a:xfrm>
          <a:prstGeom xmlns:a="http://schemas.openxmlformats.org/drawingml/2006/main" prst="roundRect">
            <a:avLst>
              <a:gd name="adj" fmla="val 4482"/>
            </a:avLst>
          </a:prstGeom>
          <a:solidFill xmlns:a="http://schemas.openxmlformats.org/drawingml/2006/main">
            <a:srgbClr val="FFF8D1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24993A-D84B-49E7-83F5-8B1F9B38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12407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2025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Routing safeguards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F0484B-2912-4ECB-9281-453DD493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14625"/>
            <a:ext cx="3171825" cy="2447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425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• Forecast-error margin from validation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425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• Capacity reserved across three horizons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425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• Route-change threshold and hold 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3FA679-4389-486C-9A29-7C1A5254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91175"/>
            <a:ext cx="1068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defPPr>
            <a:lvl1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1pPr>
            <a:lvl2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2pPr>
            <a:lvl3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3pPr>
            <a:lvl4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4pPr>
            <a:lvl5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5pPr>
            <a:lvl6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6pPr>
            <a:lvl7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7pPr>
            <a:lvl8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8pPr>
            <a:lvl9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3F5458"/>
                </a:solidFill>
                <a:latin typeface="Poppins"/>
                <a:ea typeface="Poppins"/>
                <a:cs typeface="Poppins"/>
              </a:rPr>
              <a:t>The GCN–GRU is trained on earlier data; test days stay out of model selection.</a:t>
            </a:r>
          </a:p>
        </p:txBody>
      </p:sp>
    </p:spTree>
    <p:extLst>
      <p:ext uri="{BB962C8B-B14F-4D97-AF65-F5344CB8AC3E}">
        <p14:creationId xmlns:p14="http://schemas.microsoft.com/office/powerpoint/2010/main" val="803364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CEE4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FDE23A-D969-4609-AB4D-51762BFF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885950" cy="37147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1FF83"/>
          </a:solidFill>
          <a:ln xmlns:a="http://schemas.openxmlformats.org/drawingml/2006/main" w="19050">
            <a:solidFill>
              <a:srgbClr val="171B1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AA033-BAB8-4D1E-B07D-4364D1DB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ROUTING METHODS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585B8-EA8B-423E-8B0C-F8E322C8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95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3300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Two ways to turn forecasts into paths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31BD6-0289-4494-917C-C406B6AA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00775"/>
            <a:ext cx="109537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37864-CEC5-4ACF-8162-E104D274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defPPr>
            <a:lvl1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1pPr>
            <a:lvl2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2pPr>
            <a:lvl3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3pPr>
            <a:lvl4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4pPr>
            <a:lvl5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5pPr>
            <a:lvl6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6pPr>
            <a:lvl7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7pPr>
            <a:lvl8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8pPr>
            <a:lvl9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3F5458"/>
                </a:solidFill>
                <a:latin typeface="Poppins"/>
                <a:ea typeface="Poppins"/>
                <a:cs typeface="Poppins"/>
              </a:rPr>
              <a:t>CARBONROUTE  /  PROJECT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29968-0BFB-49A4-B51A-2CB87DDE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2BD13-EEDE-4BE9-A4FF-D97F2B9F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9775"/>
            <a:ext cx="5124450" cy="31242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5C4B3-91BE-49B9-B204-3EB259AE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124450" cy="31242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9027F9-A380-464C-9E65-0B6361F0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24075"/>
            <a:ext cx="470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1875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Guarded greedy planner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FB5C1-F069-44F3-BBA6-388C17F3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4705350" cy="2295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575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Processes flows one by one. Each chosen path reserves capacity before the next flow is routed. It prioritizes predicted overload relief.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8F7C3-EA14-493F-8731-914E79B2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9775"/>
            <a:ext cx="5124450" cy="31242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D09C8B-87C5-46B0-8478-55D122DA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52625"/>
            <a:ext cx="5124450" cy="31242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4E9FC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2D02EC-994A-45C2-B43A-D455D146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24075"/>
            <a:ext cx="470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1875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Joint carbon-budget planner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2F460-61CC-4EFE-982E-B468D46D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38425"/>
            <a:ext cx="4705350" cy="2295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500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Evaluates all 64 combinations of two paths for six flows. It chooses the assignment with the lowest worst predicted link load under a reactive-carbon score budget.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53F5BC-7D89-4ED7-969F-E680E170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14975"/>
            <a:ext cx="1068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defPPr>
            <a:lvl1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1pPr>
            <a:lvl2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2pPr>
            <a:lvl3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3pPr>
            <a:lvl4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4pPr>
            <a:lvl5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5pPr>
            <a:lvl6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6pPr>
            <a:lvl7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7pPr>
            <a:lvl8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8pPr>
            <a:lvl9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3F5458"/>
                </a:solidFill>
                <a:latin typeface="Poppins"/>
                <a:ea typeface="Poppins"/>
                <a:cs typeface="Poppins"/>
              </a:rPr>
              <a:t>Both methods use a capacity guard; their objectives produce different trade-offs.</a:t>
            </a:r>
          </a:p>
        </p:txBody>
      </p:sp>
    </p:spTree>
    <p:extLst>
      <p:ext uri="{BB962C8B-B14F-4D97-AF65-F5344CB8AC3E}">
        <p14:creationId xmlns:p14="http://schemas.microsoft.com/office/powerpoint/2010/main" val="5794636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CEE4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CB2A5E-469B-4890-A7A0-F6768E1C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885950" cy="37147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EA79"/>
          </a:solidFill>
          <a:ln xmlns:a="http://schemas.openxmlformats.org/drawingml/2006/main" w="19050">
            <a:solidFill>
              <a:srgbClr val="171B1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AE7F2-C9E9-445C-B129-3BF6544B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DF1AA-1A83-42B1-9628-AF3ED8AA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95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3300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The same inputs, different route choices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0A5B6-DB76-4CD3-9436-CE08C849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00775"/>
            <a:ext cx="109537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09806-D3DA-4752-BB0F-D5B71CBD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defPPr>
            <a:lvl1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1pPr>
            <a:lvl2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2pPr>
            <a:lvl3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3pPr>
            <a:lvl4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4pPr>
            <a:lvl5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5pPr>
            <a:lvl6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6pPr>
            <a:lvl7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7pPr>
            <a:lvl8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8pPr>
            <a:lvl9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3F5458"/>
                </a:solidFill>
                <a:latin typeface="Poppins"/>
                <a:ea typeface="Poppins"/>
                <a:cs typeface="Poppins"/>
              </a:rPr>
              <a:t>CARBONROUTE  /  PROJECT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FCD35-AC8C-469E-A6C8-449318C7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3041A-0D4D-42E7-906B-E995E1DE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10782300" cy="695325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3EDB68-54CA-4449-92B4-06134803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782300" cy="695325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B1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BD87EB-8253-41FB-9B87-0765A36A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1725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Shortest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AEF544-B949-4DB7-877C-BE12B79D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76450"/>
            <a:ext cx="674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500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Least-delay route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B71B0-478D-453F-A383-2AE7D059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47975"/>
            <a:ext cx="10782300" cy="695325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3A2167-8F45-431D-8496-A2B5FE26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10782300" cy="695325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FFF8D1"/>
          </a:solidFill>
          <a:ln xmlns:a="http://schemas.openxmlformats.org/drawingml/2006/main" w="19050">
            <a:solidFill>
              <a:srgbClr val="171B1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955FFE-E592-4C06-B81A-D95E7226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24175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1725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Reactive carbon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804541-0B4D-43CA-BDA4-9CF46733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43225"/>
            <a:ext cx="674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500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Current carbon value and observed traffic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2BD4F9-4191-4FC3-A321-1DFE5553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0782300" cy="695325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47A03A-E88A-4D1C-9670-80B790BB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782300" cy="695325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E4E9FC"/>
          </a:solidFill>
          <a:ln xmlns:a="http://schemas.openxmlformats.org/drawingml/2006/main" w="19050">
            <a:solidFill>
              <a:srgbClr val="171B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0CA391-25A0-42B5-AF82-590C2943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1725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Predictive 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2E6216-EBF8-48AF-8714-5475E0CF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674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500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Forecast demand without favoring lower-carbon paths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64C394-4C58-43A1-8EC5-057E6F52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81525"/>
            <a:ext cx="10782300" cy="695325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D34FE4-B721-4309-8C0B-43CC10EA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782300" cy="695325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C1FF83"/>
          </a:solidFill>
          <a:ln xmlns:a="http://schemas.openxmlformats.org/drawingml/2006/main" w="19050">
            <a:solidFill>
              <a:srgbClr val="171B1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969D15-99BD-4AA6-8B20-2BB7CAB5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57725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1725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Persistence + safeguards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8679B9-F868-44E3-99E3-5BC1E213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76775"/>
            <a:ext cx="674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500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Assume traffic stays at its last observed value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9040C8-87CF-47B3-B893-242A3ACC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91175"/>
            <a:ext cx="1068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defPPr>
            <a:lvl1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1pPr>
            <a:lvl2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2pPr>
            <a:lvl3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3pPr>
            <a:lvl4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4pPr>
            <a:lvl5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5pPr>
            <a:lvl6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6pPr>
            <a:lvl7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7pPr>
            <a:lvl8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8pPr>
            <a:lvl9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3F5458"/>
                </a:solidFill>
                <a:latin typeface="Poppins"/>
                <a:ea typeface="Poppins"/>
                <a:cs typeface="Poppins"/>
              </a:rPr>
              <a:t>Measures: forwarding carbon score, overload minutes, served fraction, route changes.</a:t>
            </a:r>
          </a:p>
        </p:txBody>
      </p:sp>
    </p:spTree>
    <p:extLst>
      <p:ext uri="{BB962C8B-B14F-4D97-AF65-F5344CB8AC3E}">
        <p14:creationId xmlns:p14="http://schemas.microsoft.com/office/powerpoint/2010/main" val="9927560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CEE4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CF9B90-4724-4456-9811-95AA3C11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885950" cy="37147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1FF83"/>
          </a:solidFill>
          <a:ln xmlns:a="http://schemas.openxmlformats.org/drawingml/2006/main" w="19050">
            <a:solidFill>
              <a:srgbClr val="171B1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67C0E-2561-4835-A1AA-643A1CDF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GÉANT FINDING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ADF5B-4842-4140-B0A4-33B91FB6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95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3300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Joint routing lowers the score in this replay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7BA74-67C4-4532-8AB1-9CBDC169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00775"/>
            <a:ext cx="109537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C90A1-6C6F-4DFC-B797-E9CE5DF8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defPPr>
            <a:lvl1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1pPr>
            <a:lvl2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2pPr>
            <a:lvl3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3pPr>
            <a:lvl4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4pPr>
            <a:lvl5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5pPr>
            <a:lvl6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6pPr>
            <a:lvl7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7pPr>
            <a:lvl8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8pPr>
            <a:lvl9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3F5458"/>
                </a:solidFill>
                <a:latin typeface="Poppins"/>
                <a:ea typeface="Poppins"/>
                <a:cs typeface="Poppins"/>
              </a:rPr>
              <a:t>CARBONROUTE  /  PROJECT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77D6D-8EF9-4BE1-AFBD-7EF494B4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7DE73-E32B-402C-B578-8B3DA64C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defPPr>
            <a:lvl1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1pPr>
            <a:lvl2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2pPr>
            <a:lvl3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3pPr>
            <a:lvl4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4pPr>
            <a:lvl5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5pPr>
            <a:lvl6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6pPr>
            <a:lvl7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7pPr>
            <a:lvl8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8pPr>
            <a:lvl9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pPr>
            <a:r>
              <a:rPr sz="1350" b="0">
                <a:solidFill>
                  <a:srgbClr val="3F5458"/>
                </a:solidFill>
                <a:latin typeface="Poppins"/>
                <a:ea typeface="Poppins"/>
                <a:cs typeface="Poppins"/>
              </a:rPr>
              <a:t>Congested demand  ·  15-minute telemetry lag  ·  five inspected test days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55279-64C2-4E6E-A9ED-56E25A5E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390900" cy="27051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70E49-30D7-4D2E-A532-348F00F7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3390900" cy="27051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8040A-1D3B-45F0-8F8D-26233850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66975"/>
            <a:ext cx="2971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2025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Reactive carbon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814473-996C-49A4-BAE1-E81DFE9A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295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Forwarding score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695CCF-F9ED-4BC9-9896-B422EA41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31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31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31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31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31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31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31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31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31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3150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323.83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D84879-799D-41B9-840E-4B9E1AAA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295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500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Overload  126 min/day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D9A828-6C8E-4F2F-9338-467AE84B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33625"/>
            <a:ext cx="3390900" cy="27051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70DBB-C711-47C4-B805-548D68DF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76475"/>
            <a:ext cx="3390900" cy="27051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8D1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FF0BFE-EAA4-43F9-96D7-05F53416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66975"/>
            <a:ext cx="2971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2025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Greedy GNN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E01991-1E94-4483-8E16-2641D936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24200"/>
            <a:ext cx="295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Forwarding score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D6C16F-0541-49D8-A691-BB0FD737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099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31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31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31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31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31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31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31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31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31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3150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333.18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CFC952-C1F0-4208-80EB-D9DBD3DC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67200"/>
            <a:ext cx="295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500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Overload  114 min/day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23BC6F-9363-4068-9CAB-AAAB1C75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33625"/>
            <a:ext cx="3390900" cy="27051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7BA0BC-21B7-4308-9E04-37E8AC23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76475"/>
            <a:ext cx="3390900" cy="27051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C1FF83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22A877-780E-4F2C-BDD7-EF94A372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66975"/>
            <a:ext cx="2971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2025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Joint GNN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951A08-FC25-4FBF-B46A-D9333EC1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24200"/>
            <a:ext cx="295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Forwarding score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F48EE0-50A8-45F8-B241-A0B85C5F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099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31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31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31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31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31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31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31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31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31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3150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303.45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C105E2-BD24-4873-89D8-918E6B15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67200"/>
            <a:ext cx="295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500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Overload  126 min/day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5D6F14-6FA9-4C84-A8E2-F7FAC6B5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1068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defPPr>
            <a:lvl1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1pPr>
            <a:lvl2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2pPr>
            <a:lvl3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3pPr>
            <a:lvl4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4pPr>
            <a:lvl5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5pPr>
            <a:lvl6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6pPr>
            <a:lvl7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7pPr>
            <a:lvl8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8pPr>
            <a:lvl9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3F5458"/>
                </a:solidFill>
                <a:latin typeface="Poppins"/>
                <a:ea typeface="Poppins"/>
                <a:cs typeface="Poppins"/>
              </a:rPr>
              <a:t>Joint beats reactive on the score by 20.38, without reducing overload. Greedy lowers overload but raises the score.</a:t>
            </a:r>
          </a:p>
        </p:txBody>
      </p:sp>
    </p:spTree>
    <p:extLst>
      <p:ext uri="{BB962C8B-B14F-4D97-AF65-F5344CB8AC3E}">
        <p14:creationId xmlns:p14="http://schemas.microsoft.com/office/powerpoint/2010/main" val="17931084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CEE4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FE4007-CFCE-4E51-948E-F7451850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885950" cy="37147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90BDFF"/>
          </a:solidFill>
          <a:ln xmlns:a="http://schemas.openxmlformats.org/drawingml/2006/main" w="19050">
            <a:solidFill>
              <a:srgbClr val="171B1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5C500-E333-4BB2-A7D4-D2FEDD19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REPLICATION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45EEF-D26C-44A7-BFF0-529A60F6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95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3300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A five-seed run supports a narrow overload finding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A1B8C-6652-442C-A519-08D44C3B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00775"/>
            <a:ext cx="109537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6E255-0FA7-4625-A269-0B855D6F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defPPr>
            <a:lvl1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1pPr>
            <a:lvl2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2pPr>
            <a:lvl3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3pPr>
            <a:lvl4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4pPr>
            <a:lvl5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5pPr>
            <a:lvl6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6pPr>
            <a:lvl7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7pPr>
            <a:lvl8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8pPr>
            <a:lvl9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3F5458"/>
                </a:solidFill>
                <a:latin typeface="Poppins"/>
                <a:ea typeface="Poppins"/>
                <a:cs typeface="Poppins"/>
              </a:rPr>
              <a:t>CARBONROUTE  /  PROJECT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6FD16-3FA5-4B9E-A997-E42B2525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00212-2930-444E-A178-04C6DD96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3305175" cy="217170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8786BD-3FB3-4EC1-AAA0-50F341B0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305175" cy="217170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42014-81E5-41E0-956F-6A3AC5DF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81225"/>
            <a:ext cx="29432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352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126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901EAA-7237-4F39-9BD8-6785D2AF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09875"/>
            <a:ext cx="29432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350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reactive overload minutes per day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1228E1-3899-417D-9D24-85D220E8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114550"/>
            <a:ext cx="3305175" cy="217170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7DD85-0A7B-4377-9313-00E68E61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57400"/>
            <a:ext cx="3305175" cy="217170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C1FF83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CBF90D-95C9-4845-8BEA-55B09351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81225"/>
            <a:ext cx="29432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352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114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37049-4D14-444A-A605-5AD6C090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09875"/>
            <a:ext cx="29432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350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greedy GNN overload minutes per day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0A9562-AC7A-48B6-B287-46E52F41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14550"/>
            <a:ext cx="3305175" cy="217170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7F2922-907E-4672-B43C-DB668469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57400"/>
            <a:ext cx="3305175" cy="217170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E4E9FC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A91075-3D03-4D07-8A99-06E51298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181225"/>
            <a:ext cx="29432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352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114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1868D0-71FF-4D0D-AA6A-1DE9C1E3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809875"/>
            <a:ext cx="29432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350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persistence with the same safeguards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BF8724-7173-428D-A4E9-CF68C789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1079182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D62488-EF54-4324-BD49-10611EC6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79182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FF8D1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9D0082-A2FE-45B6-9DEE-047599FA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810125"/>
            <a:ext cx="10363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5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5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5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5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5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5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5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5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5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Mean improvement: 12 minutes/day. Day-level paired p = 0.099 across five adjacent days.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D8D521-CE35-4DD2-A01D-FB90B1DD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95950"/>
            <a:ext cx="1068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defPPr>
            <a:lvl1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1pPr>
            <a:lvl2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2pPr>
            <a:lvl3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3pPr>
            <a:lvl4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4pPr>
            <a:lvl5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5pPr>
            <a:lvl6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6pPr>
            <a:lvl7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7pPr>
            <a:lvl8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8pPr>
            <a:lvl9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3F5458"/>
                </a:solidFill>
                <a:latin typeface="Poppins"/>
                <a:ea typeface="Poppins"/>
                <a:cs typeface="Poppins"/>
              </a:rPr>
              <a:t>The 2,475 replay runs do not represent 2,475 independent traffic days.</a:t>
            </a:r>
          </a:p>
        </p:txBody>
      </p:sp>
    </p:spTree>
    <p:extLst>
      <p:ext uri="{BB962C8B-B14F-4D97-AF65-F5344CB8AC3E}">
        <p14:creationId xmlns:p14="http://schemas.microsoft.com/office/powerpoint/2010/main" val="16778929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CEE4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1A613B-5EC8-4808-B97B-C2B93D9D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885950" cy="37147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AD93"/>
          </a:solidFill>
          <a:ln xmlns:a="http://schemas.openxmlformats.org/drawingml/2006/main" w="19050">
            <a:solidFill>
              <a:srgbClr val="171B1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BA8D5-A1E1-457E-B22F-63251FEF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MODEL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D425EA-AA2D-43B3-AE68-71F6B115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95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3300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The graph model is not the forecast winner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A6CD8E-273F-4FC6-9610-6DE4D953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00775"/>
            <a:ext cx="109537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71321-39EF-4674-9E7C-190E1897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defPPr>
            <a:lvl1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1pPr>
            <a:lvl2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2pPr>
            <a:lvl3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3pPr>
            <a:lvl4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4pPr>
            <a:lvl5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5pPr>
            <a:lvl6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6pPr>
            <a:lvl7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7pPr>
            <a:lvl8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8pPr>
            <a:lvl9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3F5458"/>
                </a:solidFill>
                <a:latin typeface="Poppins"/>
                <a:ea typeface="Poppins"/>
                <a:cs typeface="Poppins"/>
              </a:rPr>
              <a:t>CARBONROUTE  /  PROJECT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AE7A6-6DCA-49D0-9420-1D3D4B31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55A1DF-D748-448D-987B-C9A2B007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049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defPPr>
            <a:lvl1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1pPr>
            <a:lvl2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2pPr>
            <a:lvl3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3pPr>
            <a:lvl4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4pPr>
            <a:lvl5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5pPr>
            <a:lvl6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6pPr>
            <a:lvl7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7pPr>
            <a:lvl8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8pPr>
            <a:lvl9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pPr>
            <a:r>
              <a:rPr sz="1350" b="0">
                <a:solidFill>
                  <a:srgbClr val="3F5458"/>
                </a:solidFill>
                <a:latin typeface="Poppins"/>
                <a:ea typeface="Poppins"/>
                <a:cs typeface="Poppins"/>
              </a:rPr>
              <a:t>Mean absolute traffic prediction error across three horizons  ·  Mbps  ·  lower is better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BBFC9-649A-4D9E-B0C0-60A9CFE2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3314700" cy="2371725"/>
          </a:xfrm>
          <a:prstGeom xmlns:a="http://schemas.openxmlformats.org/drawingml/2006/main" prst="roundRect">
            <a:avLst>
              <a:gd name="adj" fmla="val 6426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49C7F-06E3-468E-B351-4F158C0D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3314700" cy="2371725"/>
          </a:xfrm>
          <a:prstGeom xmlns:a="http://schemas.openxmlformats.org/drawingml/2006/main" prst="roundRect">
            <a:avLst>
              <a:gd name="adj" fmla="val 64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E53D3-BA62-40E8-BAB2-355FBB2F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52675"/>
            <a:ext cx="295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352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0.4816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E6B650-7F59-4359-B0AB-23BDDC7E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81325"/>
            <a:ext cx="29527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350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GRU without graph layers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E2FE6-C03E-4700-B93B-EE830719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86000"/>
            <a:ext cx="3314700" cy="2371725"/>
          </a:xfrm>
          <a:prstGeom xmlns:a="http://schemas.openxmlformats.org/drawingml/2006/main" prst="roundRect">
            <a:avLst>
              <a:gd name="adj" fmla="val 6426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F3F847-783E-43C9-8F12-430946EE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28850"/>
            <a:ext cx="3314700" cy="2371725"/>
          </a:xfrm>
          <a:prstGeom xmlns:a="http://schemas.openxmlformats.org/drawingml/2006/main" prst="roundRect">
            <a:avLst>
              <a:gd name="adj" fmla="val 6426"/>
            </a:avLst>
          </a:prstGeom>
          <a:solidFill xmlns:a="http://schemas.openxmlformats.org/drawingml/2006/main">
            <a:srgbClr val="FFF8D1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CC6A00-0652-471F-9E71-5FF9BB2C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52675"/>
            <a:ext cx="295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352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0.4858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BBF637-A3C1-491F-A84D-E110FC89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81325"/>
            <a:ext cx="29527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350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Persistence 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A4A4EF-CC21-4D65-8653-0A8A4F04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86000"/>
            <a:ext cx="3314700" cy="2371725"/>
          </a:xfrm>
          <a:prstGeom xmlns:a="http://schemas.openxmlformats.org/drawingml/2006/main" prst="roundRect">
            <a:avLst>
              <a:gd name="adj" fmla="val 6426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5739F3-516D-4927-9D35-6C6EB33F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28850"/>
            <a:ext cx="3314700" cy="2371725"/>
          </a:xfrm>
          <a:prstGeom xmlns:a="http://schemas.openxmlformats.org/drawingml/2006/main" prst="roundRect">
            <a:avLst>
              <a:gd name="adj" fmla="val 6426"/>
            </a:avLst>
          </a:prstGeom>
          <a:solidFill xmlns:a="http://schemas.openxmlformats.org/drawingml/2006/main">
            <a:srgbClr val="E4E9FC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488DF6-987F-4ED9-A25D-11194033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352675"/>
            <a:ext cx="295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352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0.4948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405E14-E599-4F36-9D0F-15B190AF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981325"/>
            <a:ext cx="29527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350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GCN–GRU graph 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BFBFB3-CFED-4C62-9831-D9C45F26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05425"/>
            <a:ext cx="1068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defPPr>
            <a:lvl1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1pPr>
            <a:lvl2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2pPr>
            <a:lvl3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3pPr>
            <a:lvl4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4pPr>
            <a:lvl5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5pPr>
            <a:lvl6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6pPr>
            <a:lvl7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7pPr>
            <a:lvl8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8pPr>
            <a:lvl9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3F5458"/>
                </a:solidFill>
                <a:latin typeface="Poppins"/>
                <a:ea typeface="Poppins"/>
                <a:cs typeface="Poppins"/>
              </a:rPr>
              <a:t>Simple time-series methods remain strong here. Safeguards explain much of the routing result.</a:t>
            </a:r>
          </a:p>
        </p:txBody>
      </p:sp>
    </p:spTree>
    <p:extLst>
      <p:ext uri="{BB962C8B-B14F-4D97-AF65-F5344CB8AC3E}">
        <p14:creationId xmlns:p14="http://schemas.microsoft.com/office/powerpoint/2010/main" val="13365354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CEE4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F190A4-1E02-4CDB-9D58-D9F98486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885950" cy="37147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EA79"/>
          </a:solidFill>
          <a:ln xmlns:a="http://schemas.openxmlformats.org/drawingml/2006/main" w="19050">
            <a:solidFill>
              <a:srgbClr val="171B1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09A77-C310-42D9-8172-A9F40717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SENSITIVITY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20638-438E-4F76-8069-7246A526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95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3300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Route stability changes with planner settings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1C6A6-A2A1-4BA6-A1EA-FE100445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00775"/>
            <a:ext cx="109537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2C92A-7C69-4949-981A-4B621672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defPPr>
            <a:lvl1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1pPr>
            <a:lvl2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2pPr>
            <a:lvl3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3pPr>
            <a:lvl4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4pPr>
            <a:lvl5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5pPr>
            <a:lvl6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6pPr>
            <a:lvl7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7pPr>
            <a:lvl8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8pPr>
            <a:lvl9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3F5458"/>
                </a:solidFill>
                <a:latin typeface="Poppins"/>
                <a:ea typeface="Poppins"/>
                <a:cs typeface="Poppins"/>
              </a:rPr>
              <a:t>CARBONROUTE  /  PROJECT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EBEBC4-07D2-4234-98E3-9BEEA6E3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1955D-2378-439A-A055-61844403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0497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defPPr>
            <a:lvl1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1pPr>
            <a:lvl2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2pPr>
            <a:lvl3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3pPr>
            <a:lvl4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4pPr>
            <a:lvl5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5pPr>
            <a:lvl6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6pPr>
            <a:lvl7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7pPr>
            <a:lvl8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8pPr>
            <a:lvl9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pPr>
            <a:r>
              <a:rPr sz="1350" b="0">
                <a:solidFill>
                  <a:srgbClr val="3F5458"/>
                </a:solidFill>
                <a:latin typeface="Poppins"/>
                <a:ea typeface="Poppins"/>
                <a:cs typeface="Poppins"/>
              </a:rPr>
              <a:t>Exploratory sweep on one already-inspected test 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7AD5D-B285-4693-B108-78E23AD1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SAFETY MARGIN 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B357A8-C9B8-4D74-AF4F-37491E76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47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HYSTERESIS 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EE287-1352-40E7-A231-C1F11FCE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479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ROUTE CHANGES / DAY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4F09D2-8AA9-4FAC-B9F3-9781E3DE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76525"/>
            <a:ext cx="10763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D2B96-7320-4D7A-AD0D-DE1868C1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9375"/>
            <a:ext cx="10763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B1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4CCB63-D3E2-40DD-A0CC-5CE389EC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0.80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F86D5-F507-41E2-B92E-DEB64198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7432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0.00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903847-44D4-4DD1-BE88-8F9C68D2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432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19A24C-EDAB-4108-8FD6-DBE71ED7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76625"/>
            <a:ext cx="10763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B7F465-D99D-4817-B583-13034B9A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19475"/>
            <a:ext cx="10763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8D1"/>
          </a:solidFill>
          <a:ln xmlns:a="http://schemas.openxmlformats.org/drawingml/2006/main" w="19050">
            <a:solidFill>
              <a:srgbClr val="171B1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1F275E-FC7E-43A8-ADBB-D191484A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0.80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6CED85-BE8B-43F5-B0B8-22567765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5433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0.20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0C6581-5C77-4889-B81D-6C90B00D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433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D6C9EB-BC56-4FA3-8856-A652659E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276725"/>
            <a:ext cx="10763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209D16-5432-46B5-BC4E-791BA5DF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19575"/>
            <a:ext cx="10763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C1FF83"/>
          </a:solidFill>
          <a:ln xmlns:a="http://schemas.openxmlformats.org/drawingml/2006/main" w="19050">
            <a:solidFill>
              <a:srgbClr val="171B1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D143B5-D254-4CD7-8B6C-878BD074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0.99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2BB6E3-396D-438B-A185-487518F4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3434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0.20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8FA30B-EABB-4BC2-95BE-4D68328A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434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202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155BE6-9E94-4831-B6E3-0692073E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68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defPPr>
            <a:lvl1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1pPr>
            <a:lvl2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2pPr>
            <a:lvl3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3pPr>
            <a:lvl4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4pPr>
            <a:lvl5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5pPr>
            <a:lvl6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6pPr>
            <a:lvl7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7pPr>
            <a:lvl8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8pPr>
            <a:lvl9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3F5458"/>
                </a:solidFill>
                <a:latin typeface="Poppins"/>
                <a:ea typeface="Poppins"/>
                <a:cs typeface="Poppins"/>
              </a:rPr>
              <a:t>All three settings show 60 overload minutes/day in this one-day slice; stronger dampening raises the score.</a:t>
            </a:r>
          </a:p>
        </p:txBody>
      </p:sp>
    </p:spTree>
    <p:extLst>
      <p:ext uri="{BB962C8B-B14F-4D97-AF65-F5344CB8AC3E}">
        <p14:creationId xmlns:p14="http://schemas.microsoft.com/office/powerpoint/2010/main" val="14817405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CEE4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00FE97-C741-4A2D-80DB-AC0559A0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885950" cy="37147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90BDFF"/>
          </a:solidFill>
          <a:ln xmlns:a="http://schemas.openxmlformats.org/drawingml/2006/main" w="19050">
            <a:solidFill>
              <a:srgbClr val="171B1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2FF3B-6256-454D-9AD0-78B97157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US COMPANION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3C4E5-8B6D-4601-AE3D-0B129134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95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3300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Abilene adds a same-year, intra-country 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02C89-F714-4C3A-AAEE-364E2C32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00775"/>
            <a:ext cx="109537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E283F-B4A4-444D-844E-AF3F7671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defPPr>
            <a:lvl1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1pPr>
            <a:lvl2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2pPr>
            <a:lvl3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3pPr>
            <a:lvl4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4pPr>
            <a:lvl5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5pPr>
            <a:lvl6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6pPr>
            <a:lvl7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7pPr>
            <a:lvl8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8pPr>
            <a:lvl9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3F5458"/>
                </a:solidFill>
                <a:latin typeface="Poppins"/>
                <a:ea typeface="Poppins"/>
                <a:cs typeface="Poppins"/>
              </a:rPr>
              <a:t>CARBONROUTE  /  PROJECT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A6926-8D03-46B1-9764-31BF0D27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71199-4B2F-474E-8EEF-16316CDA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3314700" cy="1438275"/>
          </a:xfrm>
          <a:prstGeom xmlns:a="http://schemas.openxmlformats.org/drawingml/2006/main" prst="roundRect">
            <a:avLst>
              <a:gd name="adj" fmla="val 10596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27096-3698-4386-B17D-D2097BD0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3314700" cy="1438275"/>
          </a:xfrm>
          <a:prstGeom xmlns:a="http://schemas.openxmlformats.org/drawingml/2006/main" prst="roundRect">
            <a:avLst>
              <a:gd name="adj" fmla="val 105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73C80-E92F-457A-AA44-2764103C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52625"/>
            <a:ext cx="295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352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49EED-DA6E-4F34-9350-AF290281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81275"/>
            <a:ext cx="295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350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trace routers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B69ABB-AAF0-4661-83EF-9F0F116F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85950"/>
            <a:ext cx="3314700" cy="1438275"/>
          </a:xfrm>
          <a:prstGeom xmlns:a="http://schemas.openxmlformats.org/drawingml/2006/main" prst="roundRect">
            <a:avLst>
              <a:gd name="adj" fmla="val 10596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EAE57E-562A-4FA7-A141-CF059654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28800"/>
            <a:ext cx="3314700" cy="1438275"/>
          </a:xfrm>
          <a:prstGeom xmlns:a="http://schemas.openxmlformats.org/drawingml/2006/main" prst="roundRect">
            <a:avLst>
              <a:gd name="adj" fmla="val 10596"/>
            </a:avLst>
          </a:prstGeom>
          <a:solidFill xmlns:a="http://schemas.openxmlformats.org/drawingml/2006/main">
            <a:srgbClr val="FFF8D1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2364C-2E7B-4379-A35F-0033B8E2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52625"/>
            <a:ext cx="295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352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422E29-4E23-4C16-8933-BFB331D6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81275"/>
            <a:ext cx="295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350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physical links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C1B8E5-ACA9-438B-A690-32D38294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85950"/>
            <a:ext cx="3314700" cy="1438275"/>
          </a:xfrm>
          <a:prstGeom xmlns:a="http://schemas.openxmlformats.org/drawingml/2006/main" prst="roundRect">
            <a:avLst>
              <a:gd name="adj" fmla="val 10596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1F69E2-01AA-414F-8A81-29D1C9D8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28800"/>
            <a:ext cx="3314700" cy="1438275"/>
          </a:xfrm>
          <a:prstGeom xmlns:a="http://schemas.openxmlformats.org/drawingml/2006/main" prst="roundRect">
            <a:avLst>
              <a:gd name="adj" fmla="val 10596"/>
            </a:avLst>
          </a:prstGeom>
          <a:solidFill xmlns:a="http://schemas.openxmlformats.org/drawingml/2006/main">
            <a:srgbClr val="E4E9FC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2B0613-553B-4E42-B315-FC52B157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952625"/>
            <a:ext cx="295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352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2004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8E9621-CB05-405E-AF8C-82BDB77C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581275"/>
            <a:ext cx="295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350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traffic and EPA carbon year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F56143-E536-46BC-83B6-F47FC84C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51244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B343BF-9C55-4826-A0F2-F02DB396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51244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6F6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2BBF4F-AE9A-4B93-8F26-A8D141C6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24275"/>
            <a:ext cx="470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1875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Reactive carbon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516150-19B3-43A1-ACC2-F00B38E2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38625"/>
            <a:ext cx="47053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500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Mean forwarding score: 1566.07 across two held-out days and three workloads.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2BE74F-3F30-4D50-9B90-02F81F52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09975"/>
            <a:ext cx="51244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EA78E5-6C29-4F65-B483-85A0D487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52825"/>
            <a:ext cx="51244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C1FF83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6DF2A4-E47C-403E-9424-BBA7ED95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24275"/>
            <a:ext cx="470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1875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GNN + safeguards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949534-5474-484F-A7E5-F70481C9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47053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500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Mean forwarding score: 1567.68. The GNN does not beat reactive carbon in this pilot.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45AD4E-9ACA-4582-9F5B-5697284F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53075"/>
            <a:ext cx="1068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defPPr>
            <a:lvl1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1pPr>
            <a:lvl2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2pPr>
            <a:lvl3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3pPr>
            <a:lvl4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4pPr>
            <a:lvl5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5pPr>
            <a:lvl6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6pPr>
            <a:lvl7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7pPr>
            <a:lvl8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8pPr>
            <a:lvl9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3F5458"/>
                </a:solidFill>
                <a:latin typeface="Poppins"/>
                <a:ea typeface="Poppins"/>
                <a:cs typeface="Poppins"/>
              </a:rPr>
              <a:t>EPA rates vary by region but are annual averages; they do not change during the replay.</a:t>
            </a:r>
          </a:p>
        </p:txBody>
      </p:sp>
    </p:spTree>
    <p:extLst>
      <p:ext uri="{BB962C8B-B14F-4D97-AF65-F5344CB8AC3E}">
        <p14:creationId xmlns:p14="http://schemas.microsoft.com/office/powerpoint/2010/main" val="16158660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CEE4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19CF6B-9A1F-4AA9-9FD6-00FB822B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885950" cy="37147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1FF83"/>
          </a:solidFill>
          <a:ln xmlns:a="http://schemas.openxmlformats.org/drawingml/2006/main" w="19050">
            <a:solidFill>
              <a:srgbClr val="171B1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01D25-05A6-4F1E-B1F4-9488674E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INTERPRETATION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3532F-F97F-4A6A-8956-E3AE10E4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95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3300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What the evidence supports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8995A-2A54-42A0-830D-D7FBDAB4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00775"/>
            <a:ext cx="109537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CCC88-7423-4D8D-95CD-4583D7AC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defPPr>
            <a:lvl1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1pPr>
            <a:lvl2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2pPr>
            <a:lvl3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3pPr>
            <a:lvl4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4pPr>
            <a:lvl5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5pPr>
            <a:lvl6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6pPr>
            <a:lvl7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7pPr>
            <a:lvl8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8pPr>
            <a:lvl9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3F5458"/>
                </a:solidFill>
                <a:latin typeface="Poppins"/>
                <a:ea typeface="Poppins"/>
                <a:cs typeface="Poppins"/>
              </a:rPr>
              <a:t>CARBONROUTE  /  PROJECT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740C4-DBD0-46E5-B9DC-C5424975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767A8-36C8-4100-991E-B83DABE2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3314700" cy="3152775"/>
          </a:xfrm>
          <a:prstGeom xmlns:a="http://schemas.openxmlformats.org/drawingml/2006/main" prst="roundRect">
            <a:avLst>
              <a:gd name="adj" fmla="val 4834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15119E-7689-444D-A40E-1A9C553C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314700" cy="3152775"/>
          </a:xfrm>
          <a:prstGeom xmlns:a="http://schemas.openxmlformats.org/drawingml/2006/main" prst="roundRect">
            <a:avLst>
              <a:gd name="adj" fmla="val 48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CC6F7-49F6-47F6-ACED-6F01106A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1875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Routing trade-off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F048D5-61EA-489F-87FC-30FA9E14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28956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575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Joint selection improves the GÉANT comparative score. Guarded greedy selection reduces overload in the lagged congested replay.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972454-4612-4713-AAD5-829A9C68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57400"/>
            <a:ext cx="3314700" cy="3152775"/>
          </a:xfrm>
          <a:prstGeom xmlns:a="http://schemas.openxmlformats.org/drawingml/2006/main" prst="roundRect">
            <a:avLst>
              <a:gd name="adj" fmla="val 4834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5A5AED-5963-442D-9A6E-4062019D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00250"/>
            <a:ext cx="3314700" cy="3152775"/>
          </a:xfrm>
          <a:prstGeom xmlns:a="http://schemas.openxmlformats.org/drawingml/2006/main" prst="roundRect">
            <a:avLst>
              <a:gd name="adj" fmla="val 4834"/>
            </a:avLst>
          </a:prstGeom>
          <a:solidFill xmlns:a="http://schemas.openxmlformats.org/drawingml/2006/main">
            <a:srgbClr val="FFF8D1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441D8A-F824-42FD-834B-ACCAE3C6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1875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ML finding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7720C-3C40-4B04-83A6-9534DAA6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86050"/>
            <a:ext cx="28956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575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The GCN–GRU does not beat GRU or persistence in mean forecast error on this small topology.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B0E7DC-B31E-43F8-921C-26A8850F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57400"/>
            <a:ext cx="3314700" cy="3152775"/>
          </a:xfrm>
          <a:prstGeom xmlns:a="http://schemas.openxmlformats.org/drawingml/2006/main" prst="roundRect">
            <a:avLst>
              <a:gd name="adj" fmla="val 4834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46551C-8B67-407B-9CF1-5F66377D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00250"/>
            <a:ext cx="3314700" cy="3152775"/>
          </a:xfrm>
          <a:prstGeom xmlns:a="http://schemas.openxmlformats.org/drawingml/2006/main" prst="roundRect">
            <a:avLst>
              <a:gd name="adj" fmla="val 4834"/>
            </a:avLst>
          </a:prstGeom>
          <a:solidFill xmlns:a="http://schemas.openxmlformats.org/drawingml/2006/main">
            <a:srgbClr val="E4E9FC"/>
          </a:solidFill>
          <a:ln xmlns:a="http://schemas.openxmlformats.org/drawingml/2006/main" w="28575">
            <a:solidFill>
              <a:srgbClr val="171B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220BE5-DC62-48B4-99C5-FFF25E18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71700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1875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Limits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7ECB2E-E339-4F20-A49F-A2CDACAC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86050"/>
            <a:ext cx="28956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575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Few test days; GÉANT traffic and carbon dates differ; the simulator measures neither packet latency nor physical CO₂.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A605DA-CDA1-4FCF-A76A-71E7D604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68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defPPr>
            <a:lvl1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1pPr>
            <a:lvl2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2pPr>
            <a:lvl3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3pPr>
            <a:lvl4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4pPr>
            <a:lvl5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5pPr>
            <a:lvl6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6pPr>
            <a:lvl7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7pPr>
            <a:lvl8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8pPr>
            <a:lvl9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3F5458"/>
                </a:solidFill>
                <a:latin typeface="Poppins"/>
                <a:ea typeface="Poppins"/>
                <a:cs typeface="Poppins"/>
              </a:rPr>
              <a:t>Abilene tests geographic carbon differences with same-year data, but its EPA values are annual.</a:t>
            </a:r>
          </a:p>
        </p:txBody>
      </p:sp>
    </p:spTree>
    <p:extLst>
      <p:ext uri="{BB962C8B-B14F-4D97-AF65-F5344CB8AC3E}">
        <p14:creationId xmlns:p14="http://schemas.microsoft.com/office/powerpoint/2010/main" val="17271559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CEE4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AAC9F0-9BA9-445E-95D1-61CFEABC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885950" cy="37147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EA79"/>
          </a:solidFill>
          <a:ln xmlns:a="http://schemas.openxmlformats.org/drawingml/2006/main" w="19050">
            <a:solidFill>
              <a:srgbClr val="171B1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81699-6B14-4665-A40B-6807A89D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LIVE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AABEC-F5E4-4AB9-BE76-CAA2DF6A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95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3300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One dashboard, two network tabs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50704-3C31-41E3-8CD7-84DA340F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00775"/>
            <a:ext cx="109537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A8E41-15AE-4D7D-AB83-4BBA9FDA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defPPr>
            <a:lvl1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1pPr>
            <a:lvl2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2pPr>
            <a:lvl3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3pPr>
            <a:lvl4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4pPr>
            <a:lvl5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5pPr>
            <a:lvl6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6pPr>
            <a:lvl7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7pPr>
            <a:lvl8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8pPr>
            <a:lvl9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3F5458"/>
                </a:solidFill>
                <a:latin typeface="Poppins"/>
                <a:ea typeface="Poppins"/>
                <a:cs typeface="Poppins"/>
              </a:rPr>
              <a:t>CARBONROUTE  /  PROJECT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5DA37-7843-4AF7-86ED-AF694593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1C3590-0710-44C6-B77C-4A73F2A6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10772775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DA8B1-FF5B-4655-AB2D-8E9427DC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772775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B1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E02646-6516-4C02-9F95-1D21C24D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85975"/>
            <a:ext cx="542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292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733FE-8261-4E76-BB47-1AB3CEC4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7645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195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195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195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195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195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195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195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195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195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1950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GÉANT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5F935-42EE-4D56-9859-C91DA7AC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38350"/>
            <a:ext cx="7620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350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Select congested traffic and one-bin observation lag. Compare reactive, greedy, and joint results.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80B33A-A059-448F-B8EC-2E7E0817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0772775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4ECAF5-8901-4FB3-9E17-76B85404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772775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4E9FC"/>
          </a:solidFill>
          <a:ln xmlns:a="http://schemas.openxmlformats.org/drawingml/2006/main" w="19050">
            <a:solidFill>
              <a:srgbClr val="171B1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C49AE6-614A-4CC0-8C52-E58CAE1E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86125"/>
            <a:ext cx="542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292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43ECF7-2408-4485-9DA5-37C2DB60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7660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195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195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195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195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195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195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195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195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195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1950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Replay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828E28-4841-4DE4-ABBB-D68D4B99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38500"/>
            <a:ext cx="7620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350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Scrub the day to inspect paths, link load, served traffic, and the reason for a route.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3482F2-3324-4289-81D1-2FC67E4C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10772775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A8F19B-DD9D-4CA8-86E2-3CD5E8C6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772775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C1FF83"/>
          </a:solidFill>
          <a:ln xmlns:a="http://schemas.openxmlformats.org/drawingml/2006/main" w="19050">
            <a:solidFill>
              <a:srgbClr val="171B1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7AC16B-5533-4398-82D3-36BC5423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86275"/>
            <a:ext cx="5429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292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B34225-7F9B-4A6F-BA64-196832CC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76750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195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195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195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195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195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195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195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195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195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1950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Abilene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7D2B75-95F3-4BD5-A2FB-01E33B35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38650"/>
            <a:ext cx="7620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350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Switch tabs. Show same-year US data and explain why annual EPA rates do not vary by hour.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6DC634-C7E1-4F72-882C-90C6245B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68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defPPr>
            <a:lvl1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1pPr>
            <a:lvl2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2pPr>
            <a:lvl3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3pPr>
            <a:lvl4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4pPr>
            <a:lvl5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5pPr>
            <a:lvl6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6pPr>
            <a:lvl7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7pPr>
            <a:lvl8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8pPr>
            <a:lvl9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pPr>
            <a:r>
              <a:rPr sz="1200" b="0">
                <a:solidFill>
                  <a:srgbClr val="3F5458"/>
                </a:solidFill>
                <a:latin typeface="Poppins"/>
                <a:ea typeface="Poppins"/>
                <a:cs typeface="Poppins"/>
              </a:rPr>
              <a:t>Open results/demo/index.html. Both tabs use the same self-contained offline file.</a:t>
            </a:r>
          </a:p>
        </p:txBody>
      </p:sp>
    </p:spTree>
    <p:extLst>
      <p:ext uri="{BB962C8B-B14F-4D97-AF65-F5344CB8AC3E}">
        <p14:creationId xmlns:p14="http://schemas.microsoft.com/office/powerpoint/2010/main" val="10991028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CEE4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9A5612-9AC6-4F7B-973A-03E20BED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885950" cy="37147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90BDFF"/>
          </a:solidFill>
          <a:ln xmlns:a="http://schemas.openxmlformats.org/drawingml/2006/main" w="19050">
            <a:solidFill>
              <a:srgbClr val="171B1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6A678-19BB-420B-9CBC-7E53095E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975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86FB7-B58A-45BD-BF2A-3BBE602F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1095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defPPr>
            <a:lvl1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1pPr>
            <a:lvl2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2pPr>
            <a:lvl3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3pPr>
            <a:lvl4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4pPr>
            <a:lvl5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5pPr>
            <a:lvl6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6pPr>
            <a:lvl7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7pPr>
            <a:lvl8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8pPr>
            <a:lvl9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1B1C"/>
                </a:solidFill>
                <a:latin typeface="Pangolin"/>
                <a:ea typeface="Pangolin"/>
                <a:cs typeface="Pangolin"/>
              </a:defRPr>
            </a:pPr>
            <a:r>
              <a:rPr sz="3300" b="0">
                <a:solidFill>
                  <a:srgbClr val="171B1C"/>
                </a:solidFill>
                <a:latin typeface="Pangolin"/>
                <a:ea typeface="Pangolin"/>
                <a:cs typeface="Pangolin"/>
              </a:rPr>
              <a:t>Data, methods, and project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3208C-19A5-48E0-BA03-7F301367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00775"/>
            <a:ext cx="109537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B1C"/>
          </a:solidFill>
          <a:ln xmlns:a="http://schemas.openxmlformats.org/drawingml/2006/main" w="0">
            <a:solidFill>
              <a:srgbClr val="171B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1BD1E-30AA-4B59-97A5-668D360F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defPPr>
            <a:lvl1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1pPr>
            <a:lvl2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2pPr>
            <a:lvl3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3pPr>
            <a:lvl4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4pPr>
            <a:lvl5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5pPr>
            <a:lvl6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6pPr>
            <a:lvl7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7pPr>
            <a:lvl8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8pPr>
            <a:lvl9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3F5458"/>
                </a:solidFill>
                <a:latin typeface="Poppins"/>
                <a:ea typeface="Poppins"/>
                <a:cs typeface="Poppins"/>
              </a:defRPr>
            </a:pPr>
            <a:r>
              <a:rPr sz="900" b="1">
                <a:solidFill>
                  <a:srgbClr val="3F5458"/>
                </a:solidFill>
                <a:latin typeface="Poppins"/>
                <a:ea typeface="Poppins"/>
                <a:cs typeface="Poppins"/>
              </a:rPr>
              <a:t>CARBONROUTE  /  PROJECT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5573B-8EC0-4D67-B1C4-A97CB885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305550"/>
            <a:ext cx="447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200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D1CAD-8F46-4FEF-ABA5-27424162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7823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B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4B9A9-0BC0-4244-AD5C-BFB992D8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19275"/>
            <a:ext cx="3771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GÉANT topology and traffic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1CA02-9187-4665-8C9C-6DC30654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19275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275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sndlib.put.poznan.pl/dynamicmatrices.overview.action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B6653-B90E-410C-8F18-A5620004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7823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6F6"/>
          </a:solidFill>
          <a:ln xmlns:a="http://schemas.openxmlformats.org/drawingml/2006/main" w="19050">
            <a:solidFill>
              <a:srgbClr val="171B1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310B5-183B-47CC-960F-0CA76F4C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47925"/>
            <a:ext cx="3771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European grid intensity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B7157-3401-4379-A6B2-ACFB397F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47925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275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zenodo.org/records/15987717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28DA2-787C-4946-9AED-2E8363F6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107823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B1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E01567-6EE6-4927-B42D-BE0E0B72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76575"/>
            <a:ext cx="3771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Abilene OD traffic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6E9F89-7E63-4738-AC26-EBE8F731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76575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275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cs.utexas.edu/~yzhang/research/AbileneTM/readme.txt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3ED40-4C14-497B-86B5-2A24803C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107823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6F6"/>
          </a:solidFill>
          <a:ln xmlns:a="http://schemas.openxmlformats.org/drawingml/2006/main" w="19050">
            <a:solidFill>
              <a:srgbClr val="171B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B4638A-4799-4BF9-905B-4A3F276A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05225"/>
            <a:ext cx="3771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US annual regional rates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DF13E5-4E0A-4033-B724-E341DDE5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05225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275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epa.gov/egrid/historical-egrid-data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D85020-AEEB-4A01-AA51-52C82003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7823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B1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DBA9BA-3251-48B1-8D7F-791527C3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33875"/>
            <a:ext cx="3771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Related methods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742216-ED82-47AD-BBC1-43837222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33875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275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B4, CIRo, and RouteNet; links in project research notes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A3D102-D7E7-431D-8F62-EBB7284A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7823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6F6"/>
          </a:solidFill>
          <a:ln xmlns:a="http://schemas.openxmlformats.org/drawingml/2006/main" w="19050">
            <a:solidFill>
              <a:srgbClr val="171B1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FE5358-BE91-400F-AD5E-C547FE63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62525"/>
            <a:ext cx="3771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350" b="1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Project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AE4CF2-64E9-4792-804B-07441213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62525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defPPr>
            <a:lvl1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1pPr>
            <a:lvl2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2pPr>
            <a:lvl3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3pPr>
            <a:lvl4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4pPr>
            <a:lvl5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5pPr>
            <a:lvl6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6pPr>
            <a:lvl7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7pPr>
            <a:lvl8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8pPr>
            <a:lvl9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1B1C"/>
                </a:solidFill>
                <a:latin typeface="Poppins"/>
                <a:ea typeface="Poppins"/>
                <a:cs typeface="Poppins"/>
              </a:defRPr>
            </a:pPr>
            <a:r>
              <a:rPr sz="1275" b="0">
                <a:solidFill>
                  <a:srgbClr val="171B1C"/>
                </a:solidFill>
                <a:latin typeface="Poppins"/>
                <a:ea typeface="Poppins"/>
                <a:cs typeface="Poppins"/>
              </a:rPr>
              <a:t>docs/PAPER_DRAFT.md and docs/ABILENE_SECONDARY_EXPERIMENT.md</a:t>
            </a:r>
          </a:p>
        </p:txBody>
      </p:sp>
    </p:spTree>
    <p:extLst>
      <p:ext uri="{BB962C8B-B14F-4D97-AF65-F5344CB8AC3E}">
        <p14:creationId xmlns:p14="http://schemas.microsoft.com/office/powerpoint/2010/main" val="739453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2026-10-26T18:39:20.6340000Z</dcterms:created>
  <dcterms:modified xsi:type="dcterms:W3CDTF">2026-10-26T18:39:20.6340000Z</dcterms:modified>
</coreProperties>
</file>